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305" r:id="rId5"/>
    <p:sldId id="2140753673" r:id="rId6"/>
    <p:sldId id="2140753671" r:id="rId7"/>
    <p:sldId id="2140753872" r:id="rId8"/>
    <p:sldId id="2140753884" r:id="rId9"/>
    <p:sldId id="2140753886" r:id="rId10"/>
    <p:sldId id="2140753881" r:id="rId11"/>
    <p:sldId id="2140753880" r:id="rId12"/>
    <p:sldId id="2140753887" r:id="rId13"/>
    <p:sldId id="2140753888" r:id="rId14"/>
    <p:sldId id="2140753889" r:id="rId15"/>
    <p:sldId id="2140753882" r:id="rId16"/>
    <p:sldId id="2140753883" r:id="rId17"/>
    <p:sldId id="2140753877" r:id="rId18"/>
    <p:sldId id="2140753885" r:id="rId19"/>
    <p:sldId id="2140753890" r:id="rId20"/>
    <p:sldId id="2140753891" r:id="rId21"/>
    <p:sldId id="2140753892" r:id="rId22"/>
    <p:sldId id="28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BC12F91-C5C4-5145-8FDB-611B9A0854BE}">
          <p14:sldIdLst>
            <p14:sldId id="305"/>
            <p14:sldId id="2140753673"/>
            <p14:sldId id="2140753671"/>
            <p14:sldId id="2140753872"/>
            <p14:sldId id="2140753884"/>
            <p14:sldId id="2140753886"/>
            <p14:sldId id="2140753881"/>
            <p14:sldId id="2140753880"/>
            <p14:sldId id="2140753887"/>
            <p14:sldId id="2140753888"/>
            <p14:sldId id="2140753889"/>
            <p14:sldId id="2140753882"/>
            <p14:sldId id="2140753883"/>
            <p14:sldId id="2140753877"/>
            <p14:sldId id="2140753885"/>
            <p14:sldId id="2140753890"/>
            <p14:sldId id="2140753891"/>
            <p14:sldId id="2140753892"/>
            <p14:sldId id="28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7121"/>
    <a:srgbClr val="B5B5B5"/>
    <a:srgbClr val="19226D"/>
    <a:srgbClr val="33B2C1"/>
    <a:srgbClr val="50B848"/>
    <a:srgbClr val="034EA2"/>
    <a:srgbClr val="F2F2F2"/>
    <a:srgbClr val="3EA9C1"/>
    <a:srgbClr val="33B2C0"/>
    <a:srgbClr val="E4E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F1B1D-4A29-9AEB-DC45-661C343E1BD3}" v="1" dt="2026-09-09T02:59:40.244"/>
    <p1510:client id="{2DE4A3C8-2F27-4693-45BF-AA9F1958000E}" v="2" dt="2026-09-11T01:34:06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en Ho Gia" userId="S::kienhg@fpt.com::5c095885-f972-41df-96f3-2c4737d58d9e" providerId="AD" clId="Web-{3A9C7935-336A-3710-C599-4C8737734AC9}"/>
    <pc:docChg chg="sldOrd">
      <pc:chgData name="Kien Ho Gia" userId="S::kienhg@fpt.com::5c095885-f972-41df-96f3-2c4737d58d9e" providerId="AD" clId="Web-{3A9C7935-336A-3710-C599-4C8737734AC9}" dt="2026-08-26T05:30:38.038" v="0"/>
      <pc:docMkLst>
        <pc:docMk/>
      </pc:docMkLst>
      <pc:sldChg chg="ord">
        <pc:chgData name="Kien Ho Gia" userId="S::kienhg@fpt.com::5c095885-f972-41df-96f3-2c4737d58d9e" providerId="AD" clId="Web-{3A9C7935-336A-3710-C599-4C8737734AC9}" dt="2026-08-26T05:30:38.038" v="0"/>
        <pc:sldMkLst>
          <pc:docMk/>
          <pc:sldMk cId="4085529854" sldId="2140753891"/>
        </pc:sldMkLst>
      </pc:sldChg>
    </pc:docChg>
  </pc:docChgLst>
  <pc:docChgLst>
    <pc:chgData name="Trieu Ho Tu Minh" userId="S::trieuhtm@fpt.com::a6ae1ad2-64ab-42cb-9763-0b8bbbb14017" providerId="AD" clId="Web-{646672F2-5E03-AA37-6173-24C30C42E3DE}"/>
    <pc:docChg chg="sldOrd">
      <pc:chgData name="Trieu Ho Tu Minh" userId="S::trieuhtm@fpt.com::a6ae1ad2-64ab-42cb-9763-0b8bbbb14017" providerId="AD" clId="Web-{646672F2-5E03-AA37-6173-24C30C42E3DE}" dt="2026-08-26T08:59:35.335" v="0"/>
      <pc:docMkLst>
        <pc:docMk/>
      </pc:docMkLst>
      <pc:sldChg chg="ord">
        <pc:chgData name="Trieu Ho Tu Minh" userId="S::trieuhtm@fpt.com::a6ae1ad2-64ab-42cb-9763-0b8bbbb14017" providerId="AD" clId="Web-{646672F2-5E03-AA37-6173-24C30C42E3DE}" dt="2026-08-26T08:59:35.335" v="0"/>
        <pc:sldMkLst>
          <pc:docMk/>
          <pc:sldMk cId="2921619629" sldId="2140753880"/>
        </pc:sldMkLst>
      </pc:sldChg>
    </pc:docChg>
  </pc:docChgLst>
  <pc:docChgLst>
    <pc:chgData name="Kien Ho Gia" userId="S::kienhg@fpt.com::5c095885-f972-41df-96f3-2c4737d58d9e" providerId="AD" clId="Web-{2DE4A3C8-2F27-4693-45BF-AA9F1958000E}"/>
    <pc:docChg chg="sldOrd">
      <pc:chgData name="Kien Ho Gia" userId="S::kienhg@fpt.com::5c095885-f972-41df-96f3-2c4737d58d9e" providerId="AD" clId="Web-{2DE4A3C8-2F27-4693-45BF-AA9F1958000E}" dt="2026-09-11T01:34:06.471" v="1"/>
      <pc:docMkLst>
        <pc:docMk/>
      </pc:docMkLst>
      <pc:sldChg chg="ord">
        <pc:chgData name="Kien Ho Gia" userId="S::kienhg@fpt.com::5c095885-f972-41df-96f3-2c4737d58d9e" providerId="AD" clId="Web-{2DE4A3C8-2F27-4693-45BF-AA9F1958000E}" dt="2026-09-11T01:21:05.888" v="0"/>
        <pc:sldMkLst>
          <pc:docMk/>
          <pc:sldMk cId="1654061427" sldId="2140753673"/>
        </pc:sldMkLst>
      </pc:sldChg>
      <pc:sldChg chg="ord">
        <pc:chgData name="Kien Ho Gia" userId="S::kienhg@fpt.com::5c095885-f972-41df-96f3-2c4737d58d9e" providerId="AD" clId="Web-{2DE4A3C8-2F27-4693-45BF-AA9F1958000E}" dt="2026-09-11T01:34:06.471" v="1"/>
        <pc:sldMkLst>
          <pc:docMk/>
          <pc:sldMk cId="491353272" sldId="2140753883"/>
        </pc:sldMkLst>
      </pc:sldChg>
    </pc:docChg>
  </pc:docChgLst>
  <pc:docChgLst>
    <pc:chgData name="Tai Huynh Anh" userId="S::taiha2@fpt.com::ee5c8cd8-c18a-4da0-b2b4-629d3651a22f" providerId="AD" clId="Web-{056F1B1D-4A29-9AEB-DC45-661C343E1BD3}"/>
    <pc:docChg chg="sldOrd">
      <pc:chgData name="Tai Huynh Anh" userId="S::taiha2@fpt.com::ee5c8cd8-c18a-4da0-b2b4-629d3651a22f" providerId="AD" clId="Web-{056F1B1D-4A29-9AEB-DC45-661C343E1BD3}" dt="2026-09-09T02:59:40.244" v="0"/>
      <pc:docMkLst>
        <pc:docMk/>
      </pc:docMkLst>
      <pc:sldChg chg="ord">
        <pc:chgData name="Tai Huynh Anh" userId="S::taiha2@fpt.com::ee5c8cd8-c18a-4da0-b2b4-629d3651a22f" providerId="AD" clId="Web-{056F1B1D-4A29-9AEB-DC45-661C343E1BD3}" dt="2026-09-09T02:59:40.244" v="0"/>
        <pc:sldMkLst>
          <pc:docMk/>
          <pc:sldMk cId="491353272" sldId="2140753883"/>
        </pc:sldMkLst>
      </pc:sldChg>
    </pc:docChg>
  </pc:docChgLst>
  <pc:docChgLst>
    <pc:chgData name="Bao Lo Hoang" userId="S::baolh19@fpt.com::1ec2dcb1-0780-4ea4-afc0-d4420660501d" providerId="AD" clId="Web-{4EDD37FE-E699-92DD-319A-AEA6DD46E7B0}"/>
    <pc:docChg chg="sldOrd">
      <pc:chgData name="Bao Lo Hoang" userId="S::baolh19@fpt.com::1ec2dcb1-0780-4ea4-afc0-d4420660501d" providerId="AD" clId="Web-{4EDD37FE-E699-92DD-319A-AEA6DD46E7B0}" dt="2026-08-29T10:25:01.980" v="0"/>
      <pc:docMkLst>
        <pc:docMk/>
      </pc:docMkLst>
      <pc:sldChg chg="ord">
        <pc:chgData name="Bao Lo Hoang" userId="S::baolh19@fpt.com::1ec2dcb1-0780-4ea4-afc0-d4420660501d" providerId="AD" clId="Web-{4EDD37FE-E699-92DD-319A-AEA6DD46E7B0}" dt="2026-08-29T10:25:01.980" v="0"/>
        <pc:sldMkLst>
          <pc:docMk/>
          <pc:sldMk cId="2812061011" sldId="21407538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5524A-D9F4-7545-AB95-5226F9D348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F79B1-55A0-5A4C-8442-40DC6CEBD8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05CAF-285F-1248-96A4-68300F7F9840}" type="datetimeFigureOut">
              <a:rPr lang="en-VN" smtClean="0"/>
              <a:t>09/10/2026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336C1-B440-0443-8FF8-F82E4A5B0D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F16BD-3B62-C946-A536-E43A745C7A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45307-BBFD-0045-B4A6-B73E368179D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571309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12EB2-7195-4DCC-A544-62F8933C21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B53C0-79AE-4DBD-9505-8B7D1F13E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991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B53C0-79AE-4DBD-9505-8B7D1F13E0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6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922DA9-E8C1-7A40-9EE6-89A4AED337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A68080BE-7587-6144-8ECC-8515B3AB1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C19840-32F7-DE46-B2BC-767228E15B3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C24A74-A217-A244-8E5E-725CBA69F673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B2B6BA-9839-4346-8C17-5FEBDC196FD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560BE9-4881-E640-B746-48E2960FB1D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DA3FBC9-F771-A94D-8F55-34A40C7DFEB7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4304818-7278-3045-AD37-3EACA5B19337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15681373-A4D2-854A-A772-7DF263D2A29C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B5CC1C9-B1AF-DE46-B64D-05E162F783E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35CBA73-2EF9-6C43-93B2-AD209F35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5033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612335-2155-F144-ACF9-10F9E55DD2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2958987-FE12-6A45-AB06-D3F0A4B0B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rgbClr val="19226D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7324A7-459A-EC4A-96C9-632E9AB197B2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8ECB69-26E2-0242-8339-71783BE7D84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9BDF857-1D12-854A-9A20-B19E33C36FE5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F6517F5-CBA0-D641-9E92-7FDFE839EFEB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1F79581-5D79-4E47-A23D-2897202FF386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CA70723-60A1-8B4C-8C3F-FC53EA379972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9D44BE42-DB45-BD41-9A16-5FF7BB95D082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A50D04F-B7A3-A543-B2F0-FF35C1B16E1F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EB6FA0AC-3B13-B046-940B-897CAC42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1061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29EB11F-D043-7441-AA75-519D965E19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63B9A03-E856-134D-8A06-24CFAC6C851F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CD68F0-B45C-5941-AA2B-577A84F0796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ABAFDF-0A8B-6944-8936-304BE90EA2CB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797118-B6B6-1F4E-BEDC-5AA4E1DA679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3ADEE7-0AA6-0944-A43F-34C0D4923E1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7FD1791-6CF5-4542-A218-017F64FBA02C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81DFE14-2BAA-3742-A711-56BE5934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559F2F4-37E4-7A45-8ECB-451B5E4152D9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493B48-3DA7-E947-AEEC-81EB55D64B80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4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bg>
      <p:bgPr>
        <a:gradFill>
          <a:gsLst>
            <a:gs pos="0">
              <a:srgbClr val="50B848"/>
            </a:gs>
            <a:gs pos="37000">
              <a:srgbClr val="356D5B"/>
            </a:gs>
            <a:gs pos="100000">
              <a:srgbClr val="19226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52D304-8DB3-CF44-A52F-E79EA93F6731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2A6B6E-39E3-4E41-9202-479D05FB06B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86C675-CEB7-C441-A3D7-3279FFE56275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7E4B97-6890-E146-927A-8C5BF4E79AA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A7DB3E0-73EE-714B-9C0E-76E2C9A411F4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C1F5A4-D68F-AC43-B7E3-3C475A72C661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D5CD0C2-5822-1944-BC57-FD19E766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95442A-32A5-D34D-84ED-EB9840F371BF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3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ED8A6C4-8D48-A741-8E70-35BC8A7DF24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7E00B9-D6C8-2C45-B19B-C85C8186A241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E58C11-7699-7D48-BC93-F583C9E5E40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AA8190-FCEC-DF44-9F5A-10095FB162E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68B8A4F-3496-5B43-8E20-569DE91627CB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307A14-4347-714F-9635-2188B14053F6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7F839E2-1874-E14B-B9AE-C8EDD580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4521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bg>
      <p:bgPr>
        <a:gradFill>
          <a:gsLst>
            <a:gs pos="0">
              <a:srgbClr val="3EA9C1"/>
            </a:gs>
            <a:gs pos="100000">
              <a:srgbClr val="034EA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D3AAA28-FEA8-F249-8C46-A1D9B8007B1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337708-4B47-6A4D-A778-1A9A1C2998A5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4CFB43-A9C1-9E4A-99E5-F2E03F72620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D9DA35-3C5D-C940-ACA0-E14928613982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A8F42C-1C2B-DC4D-8DCE-BE6E4CCFEFC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7876C1-57B3-8949-B0D9-E5AD7654E256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B36B756-1EFD-8542-A4AC-B957DB00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F021668-ABFC-DF4D-AD1B-E4EBE1BE3048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E955BCA-127F-1747-9BB8-7DB78C582DF5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2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bg>
      <p:bgPr>
        <a:solidFill>
          <a:srgbClr val="F37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05DAED6-FABE-0348-A0EC-10445981CC05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02DDD32-343F-244B-AE10-ECD5984E08C5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58CDBB3-514A-EA4D-A65A-923A5265428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C3288D-3C42-C444-A377-A39683C4DFC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15EF48-46AB-EB40-AEC8-384AB0AB635D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F8D4DE-5470-E547-BDF8-909AF456C06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B423D82-B217-F24D-9A4B-51E3223C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9B4AE42-994A-3445-A045-ECB259BE3B96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470A95-B716-5F46-9278-41BECDD385DC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5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32EEAE7-A53A-8540-823B-1A5B586202B8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9E292F-D15B-3440-BFF3-EED8802880F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A3519CF-8166-9E42-8146-B6397D55AFAA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A8C4D0A-95C4-5E49-A977-8A1BC8922F1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968C13-89E8-4D45-9D89-7098A62AE4AC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1EF8AC-6BF2-5543-8AA6-186E6A78121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7005A36C-3143-D84B-84B4-F891BB15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AAF25899-1F00-A841-8F4B-2A9601DD1325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51E643-497F-0546-B045-5080C05B28C4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2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831E717-6F65-B14B-A854-F3079D6FA43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BFF991D-922B-BD4C-822C-9BF7D5E9CA2F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288FF5-FB11-2D4C-9263-0722A01A70F3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E27A1BA-8FA6-5042-AF5E-3DC09C5DBC3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0E9A48A-826B-DD48-B0AC-5902E8C234F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065AE7-E2E1-4247-A38D-6FD592E308B4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50E99BC-F599-F045-9C5F-F182A291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187FFA-5693-384A-B7D7-421716AFCC1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1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gradFill>
          <a:gsLst>
            <a:gs pos="0">
              <a:srgbClr val="F37121"/>
            </a:gs>
            <a:gs pos="100000">
              <a:srgbClr val="F37121">
                <a:lumMod val="78000"/>
              </a:srgb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01194" y="0"/>
            <a:ext cx="11316023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ABBE93A-BCEF-DC40-9E10-EF9437C573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6EA27E-8CE7-7946-BA7D-2A5B7CD3DD6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BD2B0A-DA75-6E46-ADD4-01709DEDDC3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CB5EF6-A2BE-874C-81F7-B7C0975210A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7E0664-2B84-BB41-8518-00B11B020BF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A0B64C-94BF-3047-96A4-214219A5E29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0EDB5F8-0B01-B14A-B747-9970DE970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031423"/>
            <a:ext cx="4590229" cy="2983912"/>
          </a:xfrm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D706DA2-622A-694F-9E32-399A0341F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F276C8-BAF3-6D41-BC38-159A0A3363B1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33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gradFill>
          <a:gsLst>
            <a:gs pos="0">
              <a:srgbClr val="19226D"/>
            </a:gs>
            <a:gs pos="100000">
              <a:srgbClr val="034EA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1573" y="188969"/>
            <a:ext cx="10692406" cy="6480061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D5A0CA-896F-5040-8DAF-88D8CB5F47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5307F0D-20CE-2C43-9111-680FF872B31E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752C12-EA75-1D42-8090-9CAAABA2BE1B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481A09-20D9-0344-BC0D-5862ED52879F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019DD4-7619-5A43-909F-46685D0828B6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EE4AE0-435F-A246-BC97-254FF6FD2FC8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267313A-9ABD-E743-8449-A133A5994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460" y="1904022"/>
            <a:ext cx="4590229" cy="2983912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CE7A170-D609-0442-B622-507B0955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7BA9CE5-C61D-5146-AE5D-E98FF770E4C1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91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bg>
      <p:bgPr>
        <a:gradFill>
          <a:gsLst>
            <a:gs pos="0">
              <a:srgbClr val="034EA2"/>
            </a:gs>
            <a:gs pos="100000">
              <a:srgbClr val="19226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0496" y="0"/>
            <a:ext cx="5741504" cy="691124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35559F-6A4D-3D46-A124-8E92E72916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546CB8-8956-FB42-8301-C979C61BC70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BB3BF3F-B4C0-DB48-BEAB-AE030ED5561C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6F7DEE-ADF4-014B-BB30-738AF781602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DB4BA4-4144-DB47-B55F-5E26F8713151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F5A60B6-D16E-414C-B473-98F4A577397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40785EB-CF37-DC42-BD82-99A0EF8D0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5771" y="1904022"/>
            <a:ext cx="4590229" cy="2983912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C18A648-65E2-694F-B913-185E31E5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513BF2B-FCE2-CD4F-AF32-06ABF067538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74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304BD9A-B871-1444-AF72-D9F26AA0F3F4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5D4035C-5E60-4744-9AD4-D74676CB465F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2C916E2-A7AD-AF49-9466-F4FAECDFD73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0AD99B-A276-D948-B3DF-84B40E7E8737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341C1B2-9D59-054F-B23A-DA8D36145C81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D489F30-14C2-B04B-B0FB-D1722710AF0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A53FB58-8D65-2B4C-8037-E43514F04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263" y="2014074"/>
            <a:ext cx="4590229" cy="2983912"/>
          </a:xfrm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D2DF389-EA04-DA47-B7AC-DF1D0EE6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A25BB1-4BFF-7848-B386-C9BDC3C39487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9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BDD32B8-E926-4C49-B42B-C549BB93DC7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1F3743-0878-5146-BB9E-B85F244ACC2C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B3B3AAB-8D9A-A24B-8B0B-555B2C69C9A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D0A365-3B17-584B-BCE1-2FC31F56CCF3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686EC9-4414-7C4A-99D5-16E7A9E088F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A106ED-CBBE-7F4F-AA8D-4B863E6EC6A2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E12862F-7974-D540-9F98-6540B214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26D76CD-2C74-1A43-A528-6A27E584E90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83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05BD56-A8E0-E444-BE9C-22203E4DCF3E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B9A621C-3FEA-F44A-9FB8-4BFCEB40498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588913-168E-054F-8189-51B637B7757E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E238BA-B121-984B-ACE5-3CC621D43F3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49F2E8-A40E-7245-A2A9-037C4416B88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07555D-F79C-E344-874C-925FC8A7E3EF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D752961-38D0-8244-BF6A-A7591FA4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83E1E6-DB8F-8F46-B7A2-A20D6BC8F3F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37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268F06-6D8C-A942-978A-EBE9B5D7AB2A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2B717D-08C7-2744-8CC5-2D559DBD2EE8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913A8CF-7152-2446-A66F-E48E95479DDA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AD5876-3601-7D4A-BDA6-59B2077E8C39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37CB65-F8A1-5740-9AB3-6E953026B9C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966305-24F7-5C41-91AB-9BCD192C42F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C1B114B-679E-1447-80FB-878BAB86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951DA9-663C-6944-AE1B-BB407FF15AE8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251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B57E445-7F46-3543-BAB1-C913D79DDE0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9EF23F-BFCA-B147-B2F2-0A9C687DEB0A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B66F4A-3476-8C49-9F5A-C4B16631D55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043553-159C-6742-861C-15FF86F2922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9051973-9FBF-4248-B549-ED04EC20C11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DF2C659-F3B4-A140-8E46-CF309A825938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40A1F0A9-C1BC-0846-9F7F-9E4C5F9B712C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4C3B871-8E80-D147-AC5A-CA278654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B9C7E04-5600-C04F-BCF0-677B4EA95FAC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75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88BD8ED-C1DC-034B-B158-4BE8F9B0D94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05ACCF9-E8B6-454A-8880-A457C84DBC2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1AE5EC-1955-4647-9D1B-3D5929493AFC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BF357B-0703-BE4E-BEB2-AC1116A4205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70F2C9-B61D-CA4F-B3E0-B4C6EA86933F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50435E5-74F1-AD49-91CE-B5DDAF93F835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FC3BC43-DD90-C240-B379-14C16F453717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1F68626-6D9B-3B4D-919B-1757045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A3B17A-5D0F-3D41-94A2-21C3023AA40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97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7928F62-9533-614D-A666-9C368BE226A0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BB1EB6C-932C-2545-A0C5-6146B631E221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C05784-72DA-684A-A79B-6FC3CA9A3246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8295BF-3345-EC4A-87A5-C9346CAD738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86D31D-77A7-3B42-83A0-B4960390D88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268FF6-5451-D940-A9E3-A11A5F7E7487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A0F73E1-56D3-5A45-8C32-3246C3CBE991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D54FD55-DFC2-954C-A607-134D7A55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F9A92B-FCF3-EC44-A6E3-BA6C1880C422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28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A23207F-7F2B-6847-B1E2-6F312566FA50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863A1F-56A7-4D4F-B1F1-56A6D63FE85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5EFEFDF-1FED-D24B-89C1-F137C46A7294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58113C5-FBC8-2C4C-9C32-170C7AF3F218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D20727-BEC2-CA46-B768-7270590A7D3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D33F4F9-294B-9741-AEBE-A56B07736D0D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CF7DA214-0924-C644-B46E-C091356CB1E0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BD65B28E-882F-5049-8082-3AE8D7E89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1D17853-9707-8E4D-B4BC-8AEEE936309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73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1E8B7C2-3D08-FF46-B7DA-29A7DBF99B4B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2A039A0-752F-7941-8751-951E4D70FAA7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696A51-B607-EE4C-8EAC-CE410EB96DC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463106-A149-F344-846F-5D3C8F895CC1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84646FD-4AD2-8041-BDCD-4F15C1700F66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72A27DA-A29D-3041-82EB-6DFEAECC6047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53EC4D3-CFE3-514B-8366-113FF44C7EA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1E85CD-0F2F-214E-AAC3-0B54746A33E7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49B45AF-3F2C-4441-95F0-A57FE30F372F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787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C1829F5-E813-014A-91B6-5905122BF5F5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4F47E8-0B22-164A-AB89-8F5F3D94E8B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9B48888-9927-9A4F-84EF-F90B8506DA0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148A6B1-2B11-6C45-B698-942094BEF1E0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7BD98C-B630-7449-80C8-AC2BE47A0D5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84635BA-1B80-6D46-B414-05762970E34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C80CBD7-5AB0-704E-BD0C-E2E30F8D2D55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75AF1C-0978-B844-AD06-43F283D92D7B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086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3FACD85-5ABA-6F4C-AA07-79596C5F2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8D8A48-E873-274D-857F-CFACA1912FF0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BD30A3-D37D-6D43-ACC6-8A47514F77A8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0413027-E9CE-0C45-9072-EAB54161DC44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C31FD4-5BAA-5B4E-822A-2DE44572797F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0FF8BE-D6A2-4A44-A4E9-177DD4D6D843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7587291-AFEE-3741-81A4-DF55898929D5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8B5558-D069-9145-9A74-C141791432BC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03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241DDB1-5601-BE4B-9512-CBC8913FF5DC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399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3927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FPT SOFTWARE – SLIDE MASTER</a:t>
            </a:r>
          </a:p>
        </p:txBody>
      </p:sp>
    </p:spTree>
    <p:extLst>
      <p:ext uri="{BB962C8B-B14F-4D97-AF65-F5344CB8AC3E}">
        <p14:creationId xmlns:p14="http://schemas.microsoft.com/office/powerpoint/2010/main" val="245549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63" r:id="rId3"/>
    <p:sldLayoutId id="2147483662" r:id="rId4"/>
    <p:sldLayoutId id="2147483667" r:id="rId5"/>
    <p:sldLayoutId id="2147483659" r:id="rId6"/>
    <p:sldLayoutId id="2147483660" r:id="rId7"/>
    <p:sldLayoutId id="2147483652" r:id="rId8"/>
    <p:sldLayoutId id="2147483665" r:id="rId9"/>
    <p:sldLayoutId id="2147483658" r:id="rId10"/>
    <p:sldLayoutId id="2147483657" r:id="rId11"/>
    <p:sldLayoutId id="2147483664" r:id="rId12"/>
    <p:sldLayoutId id="2147483666" r:id="rId13"/>
    <p:sldLayoutId id="2147483661" r:id="rId14"/>
    <p:sldLayoutId id="2147483656" r:id="rId15"/>
    <p:sldLayoutId id="2147483651" r:id="rId16"/>
    <p:sldLayoutId id="2147483655" r:id="rId17"/>
    <p:sldLayoutId id="2147483649" r:id="rId18"/>
    <p:sldLayoutId id="2147483668" r:id="rId19"/>
    <p:sldLayoutId id="2147483669" r:id="rId20"/>
    <p:sldLayoutId id="2147483671" r:id="rId21"/>
    <p:sldLayoutId id="2147483688" r:id="rId22"/>
    <p:sldLayoutId id="2147483687" r:id="rId23"/>
    <p:sldLayoutId id="2147483689" r:id="rId24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BR Omega V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hyperlink" Target="mailto:NghiaNV16@fpt.com" TargetMode="External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36371D-70FE-6D4E-A499-682B6D9752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BC0877-AE0C-CD49-8CC8-08B15A284ECF}"/>
              </a:ext>
            </a:extLst>
          </p:cNvPr>
          <p:cNvSpPr txBox="1"/>
          <p:nvPr/>
        </p:nvSpPr>
        <p:spPr>
          <a:xfrm>
            <a:off x="652402" y="2591876"/>
            <a:ext cx="11077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-10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Embedded Software</a:t>
            </a:r>
            <a:r>
              <a:rPr kumimoji="0" lang="en-US" sz="7200" b="1" i="0" u="none" strike="noStrike" kern="1200" cap="none" spc="-100" normalizeH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 Process</a:t>
            </a:r>
            <a:endParaRPr kumimoji="0" lang="en-US" sz="7200" b="1" i="0" u="none" strike="noStrike" kern="1200" cap="none" spc="-100" normalizeH="0" baseline="0" noProof="0">
              <a:ln>
                <a:noFill/>
              </a:ln>
              <a:solidFill>
                <a:srgbClr val="33B2C1"/>
              </a:solidFill>
              <a:effectLst/>
              <a:uLnTx/>
              <a:uFillTx/>
              <a:latin typeface="BR Omega VN" pitchFamily="2" charset="77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E3798F-1801-8D47-AFE4-268C325D2879}"/>
              </a:ext>
            </a:extLst>
          </p:cNvPr>
          <p:cNvSpPr txBox="1"/>
          <p:nvPr/>
        </p:nvSpPr>
        <p:spPr>
          <a:xfrm>
            <a:off x="714046" y="3677007"/>
            <a:ext cx="6022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Author. NghiaNV16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698B22-C46F-4B4C-9C9C-8A895C284951}"/>
              </a:ext>
            </a:extLst>
          </p:cNvPr>
          <p:cNvGrpSpPr/>
          <p:nvPr/>
        </p:nvGrpSpPr>
        <p:grpSpPr>
          <a:xfrm>
            <a:off x="652402" y="5861752"/>
            <a:ext cx="2609076" cy="482600"/>
            <a:chOff x="5181600" y="3683000"/>
            <a:chExt cx="2609076" cy="48260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4F2C8F40-082F-2A4A-ABAE-A6ECF09B9FD7}"/>
                </a:ext>
              </a:extLst>
            </p:cNvPr>
            <p:cNvSpPr/>
            <p:nvPr/>
          </p:nvSpPr>
          <p:spPr>
            <a:xfrm>
              <a:off x="5181600" y="3683000"/>
              <a:ext cx="2169900" cy="482600"/>
            </a:xfrm>
            <a:prstGeom prst="roundRect">
              <a:avLst>
                <a:gd name="adj" fmla="val 50000"/>
              </a:avLst>
            </a:prstGeom>
            <a:solidFill>
              <a:srgbClr val="01DDEC">
                <a:alpha val="20000"/>
              </a:srgbClr>
            </a:solidFill>
            <a:ln>
              <a:solidFill>
                <a:srgbClr val="01DD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A60010-1FC5-0E4C-8CDE-2BFFCABD6DCE}"/>
                </a:ext>
              </a:extLst>
            </p:cNvPr>
            <p:cNvSpPr txBox="1"/>
            <p:nvPr/>
          </p:nvSpPr>
          <p:spPr>
            <a:xfrm>
              <a:off x="5337747" y="3764985"/>
              <a:ext cx="2452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Aug 31 2023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834EA63-D92C-1C4B-894A-274F3D4C097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580483" y="1705577"/>
            <a:ext cx="2160712" cy="824238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6A50D4-1895-CD4F-A67E-1B600BC6B833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609FAA3-2415-6144-862D-EAE8FFAEBD1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6421286-04AC-FC48-9D67-F26A7DE941EE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3F38E44-5D3E-994F-B8BC-F94A02DB877D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4B51C6E-16E1-D04E-B309-0EFDBB75B632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D4680-8F6B-5A41-841B-AAEA6AA43669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B7B4C5-9A08-4E48-AEDA-791A0BE3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4122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6276 1.11022E-16 L 1.04167E-6 1.11022E-1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463386-0B75-CC46-AAFD-693470F2816B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C95BAD-1051-D14A-A2ED-67EE951937C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DA5FEF-EAF7-7645-B0BE-475CDFB8EFB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7C41C3-37CF-D048-AE7D-FFF9DCC8F0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F4A51A-9780-A043-9191-080CE4D0878B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3E1FE3-E4C8-2241-9200-CEC360C515C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D1BAEC-2F35-9E4E-822B-46FF5EB8B540}"/>
              </a:ext>
            </a:extLst>
          </p:cNvPr>
          <p:cNvSpPr/>
          <p:nvPr/>
        </p:nvSpPr>
        <p:spPr>
          <a:xfrm>
            <a:off x="0" y="0"/>
            <a:ext cx="5211271" cy="6873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B0FE60-B900-8743-81EA-8590FF02BE15}"/>
              </a:ext>
            </a:extLst>
          </p:cNvPr>
          <p:cNvSpPr txBox="1"/>
          <p:nvPr/>
        </p:nvSpPr>
        <p:spPr>
          <a:xfrm>
            <a:off x="504604" y="2834910"/>
            <a:ext cx="3680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u="none" strike="noStrike" kern="1200" cap="none" spc="0" normalizeH="0" baseline="0" noProof="0">
                <a:ln>
                  <a:noFill/>
                </a:ln>
                <a:solidFill>
                  <a:srgbClr val="19226D"/>
                </a:solidFill>
                <a:effectLst/>
                <a:uLnTx/>
                <a:uFillTx/>
                <a:latin typeface="BR Omega VN" pitchFamily="2" charset="77"/>
              </a:rPr>
              <a:t>CONTENT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0700B9-396B-F94A-B785-85220A672262}"/>
              </a:ext>
            </a:extLst>
          </p:cNvPr>
          <p:cNvGrpSpPr/>
          <p:nvPr/>
        </p:nvGrpSpPr>
        <p:grpSpPr>
          <a:xfrm>
            <a:off x="4819141" y="2834910"/>
            <a:ext cx="6106924" cy="773713"/>
            <a:chOff x="5829424" y="1893693"/>
            <a:chExt cx="7956148" cy="1008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E5A0757-B179-2346-B244-C95262501B00}"/>
                </a:ext>
              </a:extLst>
            </p:cNvPr>
            <p:cNvGrpSpPr/>
            <p:nvPr/>
          </p:nvGrpSpPr>
          <p:grpSpPr>
            <a:xfrm>
              <a:off x="5829424" y="1893693"/>
              <a:ext cx="1008000" cy="1008000"/>
              <a:chOff x="5829424" y="1893693"/>
              <a:chExt cx="1008000" cy="100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B77D34-59AC-564E-A016-CE9A807742A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189369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76B1E6D-3CEF-F74B-8F34-20975835D89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196531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srgbClr val="19226D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A3045B-ABCF-A74A-8F1D-28DE093DD565}"/>
                  </a:ext>
                </a:extLst>
              </p:cNvPr>
              <p:cNvSpPr txBox="1"/>
              <p:nvPr/>
            </p:nvSpPr>
            <p:spPr>
              <a:xfrm>
                <a:off x="6191447" y="2083863"/>
                <a:ext cx="283954" cy="681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2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A13FCF-3514-E041-B741-76142C83DFE8}"/>
                </a:ext>
              </a:extLst>
            </p:cNvPr>
            <p:cNvSpPr txBox="1"/>
            <p:nvPr/>
          </p:nvSpPr>
          <p:spPr>
            <a:xfrm>
              <a:off x="7164405" y="2191583"/>
              <a:ext cx="6621167" cy="521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>
                  <a:solidFill>
                    <a:prstClr val="white"/>
                  </a:solidFill>
                  <a:latin typeface="BR Omega VN" pitchFamily="2" charset="77"/>
                </a:rPr>
                <a:t>Embedded software development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7DBD324-A163-B74F-BB58-97AA6EB6043A}"/>
              </a:ext>
            </a:extLst>
          </p:cNvPr>
          <p:cNvGrpSpPr/>
          <p:nvPr/>
        </p:nvGrpSpPr>
        <p:grpSpPr>
          <a:xfrm>
            <a:off x="4819141" y="1747255"/>
            <a:ext cx="6117171" cy="773713"/>
            <a:chOff x="5807760" y="1383135"/>
            <a:chExt cx="7969499" cy="10080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17A860F-6F27-6A40-9312-4CA83B52FACB}"/>
                </a:ext>
              </a:extLst>
            </p:cNvPr>
            <p:cNvGrpSpPr/>
            <p:nvPr/>
          </p:nvGrpSpPr>
          <p:grpSpPr>
            <a:xfrm>
              <a:off x="5807760" y="1383135"/>
              <a:ext cx="7969499" cy="1008000"/>
              <a:chOff x="5829424" y="806038"/>
              <a:chExt cx="7969499" cy="1008000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C00C3D81-B155-1F4C-9F57-9C3137E8DFF0}"/>
                  </a:ext>
                </a:extLst>
              </p:cNvPr>
              <p:cNvGrpSpPr/>
              <p:nvPr/>
            </p:nvGrpSpPr>
            <p:grpSpPr>
              <a:xfrm>
                <a:off x="5829424" y="806038"/>
                <a:ext cx="1008000" cy="1008000"/>
                <a:chOff x="5829424" y="806038"/>
                <a:chExt cx="1008000" cy="1008000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36EBEB63-E6F2-4844-A53F-5519696E6B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829424" y="806038"/>
                  <a:ext cx="1008000" cy="10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endParaRPr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ABF585F2-A81A-D047-87D6-A253AC2C40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901424" y="878038"/>
                  <a:ext cx="864000" cy="864000"/>
                </a:xfrm>
                <a:prstGeom prst="ellipse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8DC90B5-EABF-D44D-9BEE-9288DC367A89}"/>
                    </a:ext>
                  </a:extLst>
                </p:cNvPr>
                <p:cNvSpPr txBox="1"/>
                <p:nvPr/>
              </p:nvSpPr>
              <p:spPr>
                <a:xfrm>
                  <a:off x="6191447" y="986583"/>
                  <a:ext cx="283954" cy="681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BR Omega VN" pitchFamily="2" charset="77"/>
                    </a:rPr>
                    <a:t>1</a:t>
                  </a:r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FBCB3D-4734-2147-855F-1B385859FBD1}"/>
                  </a:ext>
                </a:extLst>
              </p:cNvPr>
              <p:cNvSpPr txBox="1"/>
              <p:nvPr/>
            </p:nvSpPr>
            <p:spPr>
              <a:xfrm>
                <a:off x="7164405" y="1063526"/>
                <a:ext cx="6634518" cy="521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en-US" sz="2000" b="1">
                    <a:solidFill>
                      <a:prstClr val="white"/>
                    </a:solidFill>
                    <a:latin typeface="BR Omega VN" pitchFamily="2" charset="77"/>
                  </a:rPr>
                  <a:t>Embedded software overview</a:t>
                </a:r>
                <a:endParaRPr kumimoji="0" lang="en-US" sz="20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C0BE3AF-872D-B846-B36F-818286404C2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79760" y="1453572"/>
              <a:ext cx="864000" cy="864000"/>
            </a:xfrm>
            <a:prstGeom prst="ellipse">
              <a:avLst/>
            </a:prstGeom>
            <a:solidFill>
              <a:srgbClr val="33B2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267FCB2-FAB3-784B-A12C-6930CB633274}"/>
                </a:ext>
              </a:extLst>
            </p:cNvPr>
            <p:cNvSpPr txBox="1"/>
            <p:nvPr/>
          </p:nvSpPr>
          <p:spPr>
            <a:xfrm>
              <a:off x="6169784" y="1565892"/>
              <a:ext cx="283955" cy="681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rPr>
                <a:t>1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BAF98C4-3876-0B40-9D08-E42F59EC706E}"/>
              </a:ext>
            </a:extLst>
          </p:cNvPr>
          <p:cNvGrpSpPr/>
          <p:nvPr/>
        </p:nvGrpSpPr>
        <p:grpSpPr>
          <a:xfrm>
            <a:off x="4819140" y="3922565"/>
            <a:ext cx="6117172" cy="773714"/>
            <a:chOff x="4709565" y="3508655"/>
            <a:chExt cx="7969500" cy="100800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C894835-20E9-BB4B-BB2D-D58D4FC94FE0}"/>
                </a:ext>
              </a:extLst>
            </p:cNvPr>
            <p:cNvGrpSpPr/>
            <p:nvPr/>
          </p:nvGrpSpPr>
          <p:grpSpPr>
            <a:xfrm>
              <a:off x="4709565" y="3508655"/>
              <a:ext cx="1008000" cy="1008000"/>
              <a:chOff x="5829424" y="2981348"/>
              <a:chExt cx="1008000" cy="10080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7CB4F0D-2D01-0F4D-8C16-60C65D81A1E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2981348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C2B5E1C-A285-1E41-AB0E-472954AA6D5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305259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230267-6C75-384A-9301-F0545AE360A3}"/>
                  </a:ext>
                </a:extLst>
              </p:cNvPr>
              <p:cNvSpPr txBox="1"/>
              <p:nvPr/>
            </p:nvSpPr>
            <p:spPr>
              <a:xfrm>
                <a:off x="6191447" y="3181144"/>
                <a:ext cx="283955" cy="68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3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E2B472A-996E-8443-9D1A-FC9B3BA7A101}"/>
                </a:ext>
              </a:extLst>
            </p:cNvPr>
            <p:cNvSpPr txBox="1"/>
            <p:nvPr/>
          </p:nvSpPr>
          <p:spPr>
            <a:xfrm>
              <a:off x="6083065" y="3846349"/>
              <a:ext cx="6596000" cy="52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>
                  <a:solidFill>
                    <a:prstClr val="white"/>
                  </a:solidFill>
                  <a:latin typeface="BR Omega VN" pitchFamily="2" charset="77"/>
                </a:rPr>
                <a:t>Embedded software process</a:t>
              </a:r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599A4222-0553-F846-B653-EB8CF4BFDE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10143700" y="308144"/>
            <a:ext cx="1822517" cy="695228"/>
          </a:xfrm>
          <a:prstGeom prst="rect">
            <a:avLst/>
          </a:prstGeom>
        </p:spPr>
      </p:pic>
      <p:sp>
        <p:nvSpPr>
          <p:cNvPr id="49" name="Footer Placeholder 2">
            <a:extLst>
              <a:ext uri="{FF2B5EF4-FFF2-40B4-BE49-F238E27FC236}">
                <a16:creationId xmlns:a16="http://schemas.microsoft.com/office/drawing/2014/main" id="{EE37BB88-21D1-EF4A-ADFD-7B9A3DB67557}"/>
              </a:ext>
            </a:extLst>
          </p:cNvPr>
          <p:cNvSpPr txBox="1">
            <a:spLocks/>
          </p:cNvSpPr>
          <p:nvPr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134327-492D-7D4C-926E-EC498D59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4061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985586-0B32-6E41-8B9A-4AB9C15135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BC0877-AE0C-CD49-8CC8-08B15A284ECF}"/>
              </a:ext>
            </a:extLst>
          </p:cNvPr>
          <p:cNvSpPr txBox="1"/>
          <p:nvPr/>
        </p:nvSpPr>
        <p:spPr>
          <a:xfrm>
            <a:off x="755990" y="5015709"/>
            <a:ext cx="11077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4800" b="1" u="none" strike="noStrike" kern="1200" cap="none" spc="-10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01. </a:t>
            </a:r>
            <a:r>
              <a:rPr lang="en-US" sz="4800" b="1" spc="-100">
                <a:solidFill>
                  <a:srgbClr val="FFFFFF"/>
                </a:solidFill>
                <a:latin typeface="BR Omega VN" pitchFamily="2" charset="77"/>
                <a:cs typeface="Arial" panose="020B0604020202020204" pitchFamily="34" charset="0"/>
              </a:rPr>
              <a:t>Embedded software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9E349-25C3-1A46-AE4F-E0A4386410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621580" y="4004415"/>
            <a:ext cx="2160712" cy="82423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F436C3-2D7E-3041-8D47-B0532422070A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4407E3-3E6B-5A47-B389-511C74BB1A06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78CDE7-05D8-8744-8038-80AF282A4A77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B7FD58-2046-E544-8F06-EB3780AD0E39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5B6CAA-AB44-C24F-81BA-CF8CFFB6AC6F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93BB38-F63D-754F-88AF-1C953B612D17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5EFAD-6583-8342-9ACE-C70DCD1F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610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3 1.85185E-6 L 3.95833E-6 1.85185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9BE6-30D5-4C38-859D-227237E5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Embedded Software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1789A-4E05-4237-BA03-C9305693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</a:t>
            </a:fld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33C6A-8BE4-4C55-BEF9-5543593B17EA}"/>
              </a:ext>
            </a:extLst>
          </p:cNvPr>
          <p:cNvSpPr txBox="1"/>
          <p:nvPr/>
        </p:nvSpPr>
        <p:spPr>
          <a:xfrm>
            <a:off x="525780" y="1259633"/>
            <a:ext cx="1138229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Embedded software is </a:t>
            </a:r>
            <a:r>
              <a:rPr lang="en-US" sz="2200" b="1"/>
              <a:t>computer software</a:t>
            </a:r>
            <a:r>
              <a:rPr lang="en-US" sz="2200"/>
              <a:t>, written to control machines or devices that are not typically thought of as computers.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It is typically specialized for the particular hardware that it runs on and has </a:t>
            </a:r>
            <a:r>
              <a:rPr lang="en-US" sz="2200" b="1"/>
              <a:t>time and memory constraints</a:t>
            </a:r>
            <a:r>
              <a:rPr lang="en-US" sz="22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This term is sometimes used interchangeably with </a:t>
            </a:r>
            <a:r>
              <a:rPr lang="en-US" sz="2200" b="1"/>
              <a:t>firmware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63C355-B97A-43F9-B950-6FCD82F14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43" y="3400439"/>
            <a:ext cx="5355983" cy="3012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5E19E9-5D5D-4792-B385-E3B2C4769D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191" y="3400439"/>
            <a:ext cx="3010419" cy="301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2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9BE6-30D5-4C38-859D-227237E5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needed to start?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1789A-4E05-4237-BA03-C9305693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5</a:t>
            </a:fld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33C6A-8BE4-4C55-BEF9-5543593B17EA}"/>
              </a:ext>
            </a:extLst>
          </p:cNvPr>
          <p:cNvSpPr txBox="1"/>
          <p:nvPr/>
        </p:nvSpPr>
        <p:spPr>
          <a:xfrm>
            <a:off x="525780" y="1643896"/>
            <a:ext cx="113822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Development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Debug Adapter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IDE and Software packet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Documents</a:t>
            </a:r>
            <a:endParaRPr lang="en-US" sz="22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3747B3-E180-4B9C-A992-C071DC9236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" t="3352" r="1505" b="3954"/>
          <a:stretch/>
        </p:blipFill>
        <p:spPr>
          <a:xfrm rot="16200000">
            <a:off x="7334135" y="2614737"/>
            <a:ext cx="5880111" cy="26064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DC0186-61F9-4FC9-B7A2-6D1AF907CB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782" y="5025107"/>
            <a:ext cx="691387" cy="849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68CAEC-8BCB-4754-B8BB-7EF3E04493CB}"/>
              </a:ext>
            </a:extLst>
          </p:cNvPr>
          <p:cNvSpPr txBox="1"/>
          <p:nvPr/>
        </p:nvSpPr>
        <p:spPr>
          <a:xfrm>
            <a:off x="2791576" y="5874193"/>
            <a:ext cx="2487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2"/>
                </a:solidFill>
              </a:rPr>
              <a:t>S32K144 Reference Manual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6A4A96-6B88-400D-B589-D261B7CF56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44" y="4236098"/>
            <a:ext cx="691387" cy="8490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724C4F-4720-4652-B187-0BD201F06B82}"/>
              </a:ext>
            </a:extLst>
          </p:cNvPr>
          <p:cNvSpPr txBox="1"/>
          <p:nvPr/>
        </p:nvSpPr>
        <p:spPr>
          <a:xfrm>
            <a:off x="516736" y="5085184"/>
            <a:ext cx="1802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2"/>
                </a:solidFill>
              </a:rPr>
              <a:t>Cortex M4 Device </a:t>
            </a:r>
            <a:br>
              <a:rPr lang="en-US" sz="1400" b="1">
                <a:solidFill>
                  <a:schemeClr val="bg2"/>
                </a:solidFill>
              </a:rPr>
            </a:br>
            <a:r>
              <a:rPr lang="en-US" sz="1400" b="1">
                <a:solidFill>
                  <a:schemeClr val="bg2"/>
                </a:solidFill>
              </a:rPr>
              <a:t>Generic User Guide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D9328C-D8F1-428C-8260-FA88931D30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888" y="3648622"/>
            <a:ext cx="691387" cy="8490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54AC75-58A1-47AA-B033-9BBF8AF920F7}"/>
              </a:ext>
            </a:extLst>
          </p:cNvPr>
          <p:cNvSpPr txBox="1"/>
          <p:nvPr/>
        </p:nvSpPr>
        <p:spPr>
          <a:xfrm>
            <a:off x="3125922" y="4497708"/>
            <a:ext cx="1813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2"/>
                </a:solidFill>
              </a:rPr>
              <a:t>S32K144 Datasheet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ECDA23-1FC5-4FE1-8780-18EAB4DF64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053" y="5025107"/>
            <a:ext cx="691387" cy="8490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2ECB3C-00A1-4ADE-8D5E-D38DF20C84B9}"/>
              </a:ext>
            </a:extLst>
          </p:cNvPr>
          <p:cNvSpPr txBox="1"/>
          <p:nvPr/>
        </p:nvSpPr>
        <p:spPr>
          <a:xfrm>
            <a:off x="5783257" y="5874193"/>
            <a:ext cx="2222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2"/>
                </a:solidFill>
              </a:rPr>
              <a:t>S32K144EVB User Guide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CF566F-49E4-4A29-BD41-F9E44DD5BC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558" y="3648622"/>
            <a:ext cx="691387" cy="8490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CBECB6F-F842-4269-982F-1BE5DD6B61F0}"/>
              </a:ext>
            </a:extLst>
          </p:cNvPr>
          <p:cNvSpPr txBox="1"/>
          <p:nvPr/>
        </p:nvSpPr>
        <p:spPr>
          <a:xfrm>
            <a:off x="5741762" y="4497708"/>
            <a:ext cx="2160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2"/>
                </a:solidFill>
              </a:rPr>
              <a:t>S32K144EVB Schematic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BAD73BD-6342-4AA4-A96F-46BF9DB0E2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5"/>
          <a:stretch/>
        </p:blipFill>
        <p:spPr>
          <a:xfrm>
            <a:off x="5239404" y="1511559"/>
            <a:ext cx="3227694" cy="191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2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83F9-0C32-4B0F-BEBA-DCBB22073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needed to start?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BB1EA2-865C-4CC4-B74C-A8D6187C8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6</a:t>
            </a:fld>
            <a:endParaRPr lang="x-none"/>
          </a:p>
        </p:txBody>
      </p:sp>
      <p:pic>
        <p:nvPicPr>
          <p:cNvPr id="4" name="Google Shape;356;p36">
            <a:extLst>
              <a:ext uri="{FF2B5EF4-FFF2-40B4-BE49-F238E27FC236}">
                <a16:creationId xmlns:a16="http://schemas.microsoft.com/office/drawing/2014/main" id="{528BCFA7-DB79-47E1-ACB0-E2FD0DFB9D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2914"/>
          <a:stretch/>
        </p:blipFill>
        <p:spPr>
          <a:xfrm>
            <a:off x="747529" y="1100109"/>
            <a:ext cx="10696942" cy="46577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1659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9BE6-30D5-4C38-859D-227237E5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Embedded Software Features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1789A-4E05-4237-BA03-C9305693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7</a:t>
            </a:fld>
            <a:endParaRPr lang="x-none"/>
          </a:p>
        </p:txBody>
      </p:sp>
      <p:pic>
        <p:nvPicPr>
          <p:cNvPr id="2050" name="Picture 2" descr="https://blogger.googleusercontent.com/img/a/AVvXsEjABQj36Ar06C2LGK44A6jWNVznyIW0xkcQcNTSCyCMqJrdZGJIUm_olsIbVc3O1E5UkcyukI7_hkuUSvG9Iuuetv0RHIv6SXaMbyjm80A9Zk7oD81ZpLlQZE0LRw7BrfNi4vsD7osynth9KMKZHvTZmLzxqBV2Ue6n9wKmDHWCsMkEvyd1PBmgI8p6=s1328">
            <a:extLst>
              <a:ext uri="{FF2B5EF4-FFF2-40B4-BE49-F238E27FC236}">
                <a16:creationId xmlns:a16="http://schemas.microsoft.com/office/drawing/2014/main" id="{341E3C62-BDF5-48AB-A17B-36FB6D90B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275" y="2473617"/>
            <a:ext cx="9509449" cy="349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D972F9BF-C30E-4D67-ADCC-06C15AE0FF24}"/>
              </a:ext>
            </a:extLst>
          </p:cNvPr>
          <p:cNvSpPr/>
          <p:nvPr/>
        </p:nvSpPr>
        <p:spPr>
          <a:xfrm>
            <a:off x="7810204" y="2016101"/>
            <a:ext cx="4219648" cy="736115"/>
          </a:xfrm>
          <a:prstGeom prst="wedgeEllipseCallou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Quite limited resources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75F7DE-EE4D-463B-8867-CC05CB11B7F7}"/>
              </a:ext>
            </a:extLst>
          </p:cNvPr>
          <p:cNvSpPr/>
          <p:nvPr/>
        </p:nvSpPr>
        <p:spPr>
          <a:xfrm>
            <a:off x="5732381" y="2883159"/>
            <a:ext cx="3369751" cy="977382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0829E078-B115-413C-8EA0-C9E5453B2AD0}"/>
              </a:ext>
            </a:extLst>
          </p:cNvPr>
          <p:cNvSpPr/>
          <p:nvPr/>
        </p:nvSpPr>
        <p:spPr>
          <a:xfrm>
            <a:off x="3899814" y="1118590"/>
            <a:ext cx="3767532" cy="897511"/>
          </a:xfrm>
          <a:prstGeom prst="wedgeRoundRectCallou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Acts directly with and on the hardware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71A9F5-5D07-4487-9702-F578E0EB3AA3}"/>
              </a:ext>
            </a:extLst>
          </p:cNvPr>
          <p:cNvSpPr/>
          <p:nvPr/>
        </p:nvSpPr>
        <p:spPr>
          <a:xfrm>
            <a:off x="933062" y="3429000"/>
            <a:ext cx="3050728" cy="863082"/>
          </a:xfrm>
          <a:prstGeom prst="ellipse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3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985586-0B32-6E41-8B9A-4AB9C15135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BC0877-AE0C-CD49-8CC8-08B15A284ECF}"/>
              </a:ext>
            </a:extLst>
          </p:cNvPr>
          <p:cNvSpPr txBox="1"/>
          <p:nvPr/>
        </p:nvSpPr>
        <p:spPr>
          <a:xfrm>
            <a:off x="755990" y="5015709"/>
            <a:ext cx="11077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4800" b="1" u="none" strike="noStrike" kern="1200" cap="none" spc="-10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02. </a:t>
            </a:r>
            <a:r>
              <a:rPr lang="en-US" sz="4800" b="1" spc="-100">
                <a:solidFill>
                  <a:schemeClr val="bg1"/>
                </a:solidFill>
                <a:latin typeface="BR Omega VN" pitchFamily="2" charset="77"/>
                <a:cs typeface="Arial" panose="020B0604020202020204" pitchFamily="34" charset="0"/>
              </a:rPr>
              <a:t>Embedded software development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9E349-25C3-1A46-AE4F-E0A4386410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621580" y="4004415"/>
            <a:ext cx="2160712" cy="82423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F436C3-2D7E-3041-8D47-B0532422070A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4407E3-3E6B-5A47-B389-511C74BB1A06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78CDE7-05D8-8744-8038-80AF282A4A77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B7FD58-2046-E544-8F06-EB3780AD0E39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5B6CAA-AB44-C24F-81BA-CF8CFFB6AC6F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93BB38-F63D-754F-88AF-1C953B612D17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5EFAD-6583-8342-9ACE-C70DCD1F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2161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9D590-9935-4AC9-8F25-6B5CD678A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Embedded Software Build Process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B3B6C7-15AA-4922-8425-CA8FCCFC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9</a:t>
            </a:fld>
            <a:endParaRPr lang="x-non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6FE3B-1693-4AE9-ADE0-7C3C4D740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371502"/>
            <a:ext cx="10058400" cy="504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768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9D590-9935-4AC9-8F25-6B5CD678A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Embedded Software Build Process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B3B6C7-15AA-4922-8425-CA8FCCFC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10</a:t>
            </a:fld>
            <a:endParaRPr lang="x-non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C95736-A2AC-4996-ACAC-9337ED135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28" y="1651246"/>
            <a:ext cx="10711543" cy="476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68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CA56-0D0D-477B-96E3-7BC8D3424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Reset Sequence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693F60-F0AE-4918-A241-28D11F9D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11</a:t>
            </a:fld>
            <a:endParaRPr lang="x-non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B61F8E-B207-4A7E-BBB4-E29E72748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" y="1036040"/>
            <a:ext cx="11363325" cy="87630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A23541-E8C5-4D4B-B6E7-975FE56D2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781285"/>
              </p:ext>
            </p:extLst>
          </p:nvPr>
        </p:nvGraphicFramePr>
        <p:xfrm>
          <a:off x="2320886" y="4855989"/>
          <a:ext cx="6925387" cy="1559514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1013989">
                  <a:extLst>
                    <a:ext uri="{9D8B030D-6E8A-4147-A177-3AD203B41FA5}">
                      <a16:colId xmlns:a16="http://schemas.microsoft.com/office/drawing/2014/main" val="1443408214"/>
                    </a:ext>
                  </a:extLst>
                </a:gridCol>
                <a:gridCol w="1776035">
                  <a:extLst>
                    <a:ext uri="{9D8B030D-6E8A-4147-A177-3AD203B41FA5}">
                      <a16:colId xmlns:a16="http://schemas.microsoft.com/office/drawing/2014/main" val="535906016"/>
                    </a:ext>
                  </a:extLst>
                </a:gridCol>
                <a:gridCol w="4135363">
                  <a:extLst>
                    <a:ext uri="{9D8B030D-6E8A-4147-A177-3AD203B41FA5}">
                      <a16:colId xmlns:a16="http://schemas.microsoft.com/office/drawing/2014/main" val="3590039043"/>
                    </a:ext>
                  </a:extLst>
                </a:gridCol>
              </a:tblGrid>
              <a:tr h="519838">
                <a:tc rowSpan="3"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endParaRPr lang="en-US" b="1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b="1">
                          <a:solidFill>
                            <a:srgbClr val="00B050"/>
                          </a:solidFill>
                        </a:rPr>
                        <a:t>Vector Table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624835"/>
                  </a:ext>
                </a:extLst>
              </a:tr>
              <a:tr h="519838">
                <a:tc vMerge="1"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0x0000.0004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&amp;</a:t>
                      </a:r>
                      <a:r>
                        <a:rPr lang="en-US" b="1" err="1"/>
                        <a:t>Reset_Handler</a:t>
                      </a:r>
                      <a:r>
                        <a:rPr lang="en-US" b="1"/>
                        <a:t>() – ex. 0x500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655769"/>
                  </a:ext>
                </a:extLst>
              </a:tr>
              <a:tr h="519838">
                <a:tc vMerge="1"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0x0000.0000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Reset Value of Stack Pointer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0620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F81748-0E05-425B-B559-FC2B3D1E0AA0}"/>
              </a:ext>
            </a:extLst>
          </p:cNvPr>
          <p:cNvCxnSpPr/>
          <p:nvPr/>
        </p:nvCxnSpPr>
        <p:spPr>
          <a:xfrm flipH="1">
            <a:off x="9246273" y="6111551"/>
            <a:ext cx="1399956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DE9ED4-23C3-4466-8453-9CD8ABDD4DE1}"/>
              </a:ext>
            </a:extLst>
          </p:cNvPr>
          <p:cNvSpPr txBox="1"/>
          <p:nvPr/>
        </p:nvSpPr>
        <p:spPr>
          <a:xfrm>
            <a:off x="9486146" y="5757608"/>
            <a:ext cx="19100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Processor will </a:t>
            </a:r>
            <a:br>
              <a:rPr lang="en-US" sz="2000" b="1"/>
            </a:br>
            <a:r>
              <a:rPr lang="en-US" sz="2000" b="1"/>
              <a:t>start here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4BF19F3-B6ED-4BA3-B687-FE77A2361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916685"/>
              </p:ext>
            </p:extLst>
          </p:nvPr>
        </p:nvGraphicFramePr>
        <p:xfrm>
          <a:off x="2320884" y="2046772"/>
          <a:ext cx="6925389" cy="26670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019473">
                  <a:extLst>
                    <a:ext uri="{9D8B030D-6E8A-4147-A177-3AD203B41FA5}">
                      <a16:colId xmlns:a16="http://schemas.microsoft.com/office/drawing/2014/main" val="1733885830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1334293078"/>
                    </a:ext>
                  </a:extLst>
                </a:gridCol>
                <a:gridCol w="4142430">
                  <a:extLst>
                    <a:ext uri="{9D8B030D-6E8A-4147-A177-3AD203B41FA5}">
                      <a16:colId xmlns:a16="http://schemas.microsoft.com/office/drawing/2014/main" val="3802906620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algn="ctr"/>
                      <a:endParaRPr lang="en-US" b="1"/>
                    </a:p>
                    <a:p>
                      <a:pPr algn="ctr"/>
                      <a:r>
                        <a:rPr lang="en-US" b="1"/>
                        <a:t>Text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7390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0x1000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void main()</a:t>
                      </a:r>
                      <a:br>
                        <a:rPr lang="en-US" b="1"/>
                      </a:br>
                      <a:r>
                        <a:rPr lang="en-US" b="1"/>
                        <a:t>{      main code     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4227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0x500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void </a:t>
                      </a:r>
                      <a:r>
                        <a:rPr lang="en-US" b="1" err="1"/>
                        <a:t>Reset_handler</a:t>
                      </a:r>
                      <a:r>
                        <a:rPr lang="en-US" b="1"/>
                        <a:t>(void)</a:t>
                      </a:r>
                      <a:br>
                        <a:rPr lang="en-US" b="1"/>
                      </a:br>
                      <a:r>
                        <a:rPr lang="en-US" b="1"/>
                        <a:t>{    Startup Code</a:t>
                      </a:r>
                      <a:br>
                        <a:rPr lang="en-US" b="1"/>
                      </a:br>
                      <a:r>
                        <a:rPr lang="en-US" b="1"/>
                        <a:t>main()    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38978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6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228370"/>
                  </a:ext>
                </a:extLst>
              </a:tr>
            </a:tbl>
          </a:graphicData>
        </a:graphic>
      </p:graphicFrame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6E6F95D-A92B-460F-8F4B-8C5C1D5BE8F5}"/>
              </a:ext>
            </a:extLst>
          </p:cNvPr>
          <p:cNvCxnSpPr>
            <a:cxnSpLocks/>
            <a:stCxn id="12" idx="3"/>
            <a:endCxn id="16" idx="3"/>
          </p:cNvCxnSpPr>
          <p:nvPr/>
        </p:nvCxnSpPr>
        <p:spPr>
          <a:xfrm flipV="1">
            <a:off x="9246273" y="3380272"/>
            <a:ext cx="12700" cy="2255474"/>
          </a:xfrm>
          <a:prstGeom prst="bent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C7590B6-7ECE-4780-949D-03D5BD995E19}"/>
              </a:ext>
            </a:extLst>
          </p:cNvPr>
          <p:cNvSpPr txBox="1"/>
          <p:nvPr/>
        </p:nvSpPr>
        <p:spPr>
          <a:xfrm>
            <a:off x="9486146" y="4149740"/>
            <a:ext cx="1555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PC = 0x500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76710A4-33B7-453E-A4DB-AC1F038DBB34}"/>
              </a:ext>
            </a:extLst>
          </p:cNvPr>
          <p:cNvCxnSpPr/>
          <p:nvPr/>
        </p:nvCxnSpPr>
        <p:spPr>
          <a:xfrm flipV="1">
            <a:off x="7763069" y="2677886"/>
            <a:ext cx="1495904" cy="1129004"/>
          </a:xfrm>
          <a:prstGeom prst="bentConnector3">
            <a:avLst>
              <a:gd name="adj1" fmla="val 174125"/>
            </a:avLst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328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9BE6-30D5-4C38-859D-227237E5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Embedded Software Components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1789A-4E05-4237-BA03-C9305693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12</a:t>
            </a:fld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33C6A-8BE4-4C55-BEF9-5543593B17EA}"/>
              </a:ext>
            </a:extLst>
          </p:cNvPr>
          <p:cNvSpPr txBox="1"/>
          <p:nvPr/>
        </p:nvSpPr>
        <p:spPr>
          <a:xfrm>
            <a:off x="525780" y="1287624"/>
            <a:ext cx="1138229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Startup File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Vector 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Startup Code/</a:t>
            </a:r>
            <a:r>
              <a:rPr lang="en-US" sz="2400" err="1"/>
              <a:t>Reset_Handler</a:t>
            </a:r>
            <a:r>
              <a:rPr lang="en-US" sz="240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Linker Script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Application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Main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Library Code</a:t>
            </a:r>
            <a:br>
              <a:rPr lang="en-US" sz="2400"/>
            </a:br>
            <a:endParaRPr lang="en-US" sz="2200" b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426C14-AFC1-430B-84D2-0D57DEA35AD3}"/>
              </a:ext>
            </a:extLst>
          </p:cNvPr>
          <p:cNvSpPr/>
          <p:nvPr/>
        </p:nvSpPr>
        <p:spPr>
          <a:xfrm>
            <a:off x="7464490" y="4400112"/>
            <a:ext cx="3576890" cy="162819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Startup Code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Setup Stack Pointer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Init .</a:t>
            </a:r>
            <a:r>
              <a:rPr lang="en-US" err="1"/>
              <a:t>bss</a:t>
            </a:r>
            <a:r>
              <a:rPr lang="en-US"/>
              <a:t> section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Copy data Flash to RAM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Call main() function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80EEC7-A429-4EC2-A0D9-D9E9A8755F29}"/>
              </a:ext>
            </a:extLst>
          </p:cNvPr>
          <p:cNvSpPr/>
          <p:nvPr/>
        </p:nvSpPr>
        <p:spPr>
          <a:xfrm>
            <a:off x="7464490" y="6028303"/>
            <a:ext cx="3576890" cy="51318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Vector Table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8198BF-35BC-48DD-A3E3-9D9FC58DB933}"/>
              </a:ext>
            </a:extLst>
          </p:cNvPr>
          <p:cNvSpPr/>
          <p:nvPr/>
        </p:nvSpPr>
        <p:spPr>
          <a:xfrm>
            <a:off x="7464490" y="3886928"/>
            <a:ext cx="3576890" cy="51318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main() and application 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D72656-9EBD-4CFB-9BB0-34144AADC7CB}"/>
              </a:ext>
            </a:extLst>
          </p:cNvPr>
          <p:cNvSpPr/>
          <p:nvPr/>
        </p:nvSpPr>
        <p:spPr>
          <a:xfrm>
            <a:off x="7464490" y="3373744"/>
            <a:ext cx="3576890" cy="51318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Initialized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D6CED4-F7DD-44E3-AEE9-A953528A81C5}"/>
              </a:ext>
            </a:extLst>
          </p:cNvPr>
          <p:cNvSpPr/>
          <p:nvPr/>
        </p:nvSpPr>
        <p:spPr>
          <a:xfrm>
            <a:off x="7464490" y="2667552"/>
            <a:ext cx="3576890" cy="513184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Initialized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4BFD6F-9EA8-4CC5-9884-10E76A0BAE27}"/>
              </a:ext>
            </a:extLst>
          </p:cNvPr>
          <p:cNvSpPr/>
          <p:nvPr/>
        </p:nvSpPr>
        <p:spPr>
          <a:xfrm>
            <a:off x="7464490" y="2162459"/>
            <a:ext cx="3576890" cy="513184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Un-Initialized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C4E52-1823-4C32-8AC9-E04BD92E9DEF}"/>
              </a:ext>
            </a:extLst>
          </p:cNvPr>
          <p:cNvSpPr/>
          <p:nvPr/>
        </p:nvSpPr>
        <p:spPr>
          <a:xfrm>
            <a:off x="7464490" y="1668873"/>
            <a:ext cx="3576890" cy="513184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Heap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BD5DC6-0A67-41FE-A277-F132420EEA62}"/>
              </a:ext>
            </a:extLst>
          </p:cNvPr>
          <p:cNvSpPr/>
          <p:nvPr/>
        </p:nvSpPr>
        <p:spPr>
          <a:xfrm>
            <a:off x="7464490" y="1167442"/>
            <a:ext cx="3576890" cy="513184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Stack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4D263755-F8A7-47DE-9FC4-BC660AA94061}"/>
              </a:ext>
            </a:extLst>
          </p:cNvPr>
          <p:cNvSpPr/>
          <p:nvPr/>
        </p:nvSpPr>
        <p:spPr>
          <a:xfrm>
            <a:off x="6923314" y="1167442"/>
            <a:ext cx="382555" cy="2013294"/>
          </a:xfrm>
          <a:prstGeom prst="leftBrace">
            <a:avLst/>
          </a:prstGeom>
          <a:ln w="28575">
            <a:solidFill>
              <a:srgbClr val="F371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E2A07-B500-456F-B3EE-5340C9533B59}"/>
              </a:ext>
            </a:extLst>
          </p:cNvPr>
          <p:cNvSpPr txBox="1"/>
          <p:nvPr/>
        </p:nvSpPr>
        <p:spPr>
          <a:xfrm>
            <a:off x="5868294" y="1925465"/>
            <a:ext cx="896399" cy="461665"/>
          </a:xfrm>
          <a:prstGeom prst="rect">
            <a:avLst/>
          </a:prstGeom>
          <a:noFill/>
          <a:ln>
            <a:solidFill>
              <a:srgbClr val="F3712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>
                <a:solidFill>
                  <a:schemeClr val="bg2">
                    <a:lumMod val="75000"/>
                  </a:schemeClr>
                </a:solidFill>
              </a:rPr>
              <a:t>RAM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B30BC5A7-DADA-434A-910A-2A6F62054038}"/>
              </a:ext>
            </a:extLst>
          </p:cNvPr>
          <p:cNvSpPr/>
          <p:nvPr/>
        </p:nvSpPr>
        <p:spPr>
          <a:xfrm>
            <a:off x="6923314" y="3429000"/>
            <a:ext cx="382555" cy="3112487"/>
          </a:xfrm>
          <a:prstGeom prst="leftBrac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A77A46-9E69-4E12-A612-92077DD74B58}"/>
              </a:ext>
            </a:extLst>
          </p:cNvPr>
          <p:cNvSpPr txBox="1"/>
          <p:nvPr/>
        </p:nvSpPr>
        <p:spPr>
          <a:xfrm>
            <a:off x="5630728" y="4752542"/>
            <a:ext cx="1133965" cy="46166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>
                <a:solidFill>
                  <a:schemeClr val="accent2">
                    <a:lumMod val="50000"/>
                  </a:schemeClr>
                </a:solidFill>
              </a:rPr>
              <a:t>FLASH</a:t>
            </a:r>
          </a:p>
        </p:txBody>
      </p:sp>
    </p:spTree>
    <p:extLst>
      <p:ext uri="{BB962C8B-B14F-4D97-AF65-F5344CB8AC3E}">
        <p14:creationId xmlns:p14="http://schemas.microsoft.com/office/powerpoint/2010/main" val="1161140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9BE6-30D5-4C38-859D-227237E5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Startup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1789A-4E05-4237-BA03-C9305693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13</a:t>
            </a:fld>
            <a:endParaRPr lang="x-none"/>
          </a:p>
        </p:txBody>
      </p:sp>
      <p:pic>
        <p:nvPicPr>
          <p:cNvPr id="1026" name="Picture 2" descr="https://lh3.googleusercontent.com/-rXuUIdnVFEc/YStgXa8BmiI/AAAAAAAAAwA/796WaPp68YY0mVcFLmKUL0TVRYCbznWGACLcBGAsYHQ/w400-h342/image.png">
            <a:extLst>
              <a:ext uri="{FF2B5EF4-FFF2-40B4-BE49-F238E27FC236}">
                <a16:creationId xmlns:a16="http://schemas.microsoft.com/office/drawing/2014/main" id="{F93D3FA5-B41A-4CF9-A9A6-FC9FC80BA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210" y="1490442"/>
            <a:ext cx="5251580" cy="447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353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985586-0B32-6E41-8B9A-4AB9C15135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BC0877-AE0C-CD49-8CC8-08B15A284ECF}"/>
              </a:ext>
            </a:extLst>
          </p:cNvPr>
          <p:cNvSpPr txBox="1"/>
          <p:nvPr/>
        </p:nvSpPr>
        <p:spPr>
          <a:xfrm>
            <a:off x="755990" y="5015709"/>
            <a:ext cx="11077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4800" b="1" u="none" strike="noStrike" kern="1200" cap="none" spc="-10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03. </a:t>
            </a:r>
            <a:r>
              <a:rPr lang="en-US" sz="4800" b="1" spc="-100">
                <a:solidFill>
                  <a:schemeClr val="bg1"/>
                </a:solidFill>
                <a:latin typeface="BR Omega VN" pitchFamily="2" charset="77"/>
                <a:cs typeface="Arial" panose="020B0604020202020204" pitchFamily="34" charset="0"/>
              </a:rPr>
              <a:t>Embedded software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9E349-25C3-1A46-AE4F-E0A4386410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621580" y="4004415"/>
            <a:ext cx="2160712" cy="82423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F436C3-2D7E-3041-8D47-B0532422070A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4407E3-3E6B-5A47-B389-511C74BB1A06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78CDE7-05D8-8744-8038-80AF282A4A77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B7FD58-2046-E544-8F06-EB3780AD0E39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5B6CAA-AB44-C24F-81BA-CF8CFFB6AC6F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93BB38-F63D-754F-88AF-1C953B612D17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5EFAD-6583-8342-9ACE-C70DCD1F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687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9BE6-30D5-4C38-859D-227237E5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1789A-4E05-4237-BA03-C9305693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15</a:t>
            </a:fld>
            <a:endParaRPr lang="x-none"/>
          </a:p>
        </p:txBody>
      </p:sp>
      <p:pic>
        <p:nvPicPr>
          <p:cNvPr id="2050" name="Picture 2" descr="ADC">
            <a:extLst>
              <a:ext uri="{FF2B5EF4-FFF2-40B4-BE49-F238E27FC236}">
                <a16:creationId xmlns:a16="http://schemas.microsoft.com/office/drawing/2014/main" id="{DD1B8573-1DA4-45F8-AF13-8E5C10F49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19" y="4077815"/>
            <a:ext cx="11023755" cy="1395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466CC9-7792-43E1-8C55-D227DC78B8A6}"/>
              </a:ext>
            </a:extLst>
          </p:cNvPr>
          <p:cNvSpPr txBox="1"/>
          <p:nvPr/>
        </p:nvSpPr>
        <p:spPr>
          <a:xfrm>
            <a:off x="525780" y="1688771"/>
            <a:ext cx="1138229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Design a Micro-Controller Project for </a:t>
            </a:r>
            <a:r>
              <a:rPr lang="en-US" sz="2200" err="1"/>
              <a:t>DataLogger</a:t>
            </a:r>
            <a:endParaRPr lang="en-US" sz="22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Read Sensor by ADC Peripheral (Ex. Temperature)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Calculate Data – Convert to Physical Value – Temperature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Display Data to LCD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Save 10 </a:t>
            </a:r>
            <a:r>
              <a:rPr lang="en-US" sz="2200" err="1"/>
              <a:t>lastest</a:t>
            </a:r>
            <a:r>
              <a:rPr lang="en-US" sz="2200"/>
              <a:t> values</a:t>
            </a:r>
          </a:p>
        </p:txBody>
      </p:sp>
    </p:spTree>
    <p:extLst>
      <p:ext uri="{BB962C8B-B14F-4D97-AF65-F5344CB8AC3E}">
        <p14:creationId xmlns:p14="http://schemas.microsoft.com/office/powerpoint/2010/main" val="166995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3B4F3-A335-49B2-A016-A8456480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1 - Polling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FC3209-F1AE-4B8C-8CFF-A22795EAC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16</a:t>
            </a:fld>
            <a:endParaRPr lang="x-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695EE6-4737-418B-9952-4C1B1CD9F7FC}"/>
              </a:ext>
            </a:extLst>
          </p:cNvPr>
          <p:cNvSpPr/>
          <p:nvPr/>
        </p:nvSpPr>
        <p:spPr>
          <a:xfrm>
            <a:off x="7366165" y="2660272"/>
            <a:ext cx="454190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/>
              <a:t>Advantage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Simple to implement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/>
              <a:t>Dis-Advantage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Low performance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Waste energy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Can't do other things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54F30-67F2-4784-B2E2-958380198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27" y="1130723"/>
            <a:ext cx="6581276" cy="518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47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6E4CC6-62C0-4983-B833-8CC3CBFF1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" y="1287047"/>
            <a:ext cx="8741994" cy="50266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83B4F3-A335-49B2-A016-A8456480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2 - Interrupt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FC3209-F1AE-4B8C-8CFF-A22795EAC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17</a:t>
            </a:fld>
            <a:endParaRPr lang="x-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695EE6-4737-418B-9952-4C1B1CD9F7FC}"/>
              </a:ext>
            </a:extLst>
          </p:cNvPr>
          <p:cNvSpPr/>
          <p:nvPr/>
        </p:nvSpPr>
        <p:spPr>
          <a:xfrm>
            <a:off x="7068066" y="1287047"/>
            <a:ext cx="454190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/>
              <a:t>Advantage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Can do other things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Save energy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Prioritize important events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/>
              <a:t>Dis-Advantage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More complex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Difficulty in debugging</a:t>
            </a:r>
          </a:p>
        </p:txBody>
      </p:sp>
    </p:spTree>
    <p:extLst>
      <p:ext uri="{BB962C8B-B14F-4D97-AF65-F5344CB8AC3E}">
        <p14:creationId xmlns:p14="http://schemas.microsoft.com/office/powerpoint/2010/main" val="408552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23FB066-BF44-441C-A628-9AD3B3C48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" y="1210006"/>
            <a:ext cx="9102508" cy="52054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83B4F3-A335-49B2-A016-A8456480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3 – DMA – Direct Memory Access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FC3209-F1AE-4B8C-8CFF-A22795EAC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18</a:t>
            </a:fld>
            <a:endParaRPr lang="x-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695EE6-4737-418B-9952-4C1B1CD9F7FC}"/>
              </a:ext>
            </a:extLst>
          </p:cNvPr>
          <p:cNvSpPr/>
          <p:nvPr/>
        </p:nvSpPr>
        <p:spPr>
          <a:xfrm>
            <a:off x="7068066" y="1287047"/>
            <a:ext cx="4541908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/>
              <a:t>Advantage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Can do other things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Save energy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Save CPU 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/>
              <a:t>Dis-Advantage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/>
              <a:t>More complex</a:t>
            </a:r>
          </a:p>
        </p:txBody>
      </p:sp>
    </p:spTree>
    <p:extLst>
      <p:ext uri="{BB962C8B-B14F-4D97-AF65-F5344CB8AC3E}">
        <p14:creationId xmlns:p14="http://schemas.microsoft.com/office/powerpoint/2010/main" val="2812061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145F29D-A42F-4744-89EF-9F22ADBE3257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4D0CAF-E251-1B45-90EE-516770F19E93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B60DC3-1B5C-514F-8555-4B7AEC2F08DD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57C38C0-D163-3D4F-9A2B-CC3726613ED8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51304F1-7CD1-9942-94FE-F5EBEA7B5A28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C89E39-F92F-4C48-9326-E0A54168FFC1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A17C81-171E-6A4F-AC6A-269DCA9636E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954656" y="1047268"/>
            <a:ext cx="1822517" cy="6952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F5E8C1-8DE8-0841-A4C2-E2F21DE55801}"/>
              </a:ext>
            </a:extLst>
          </p:cNvPr>
          <p:cNvSpPr txBox="1"/>
          <p:nvPr/>
        </p:nvSpPr>
        <p:spPr>
          <a:xfrm>
            <a:off x="1066799" y="2155031"/>
            <a:ext cx="3720861" cy="1438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37121"/>
                </a:solidFill>
              </a:rPr>
              <a:t>CONTACT US </a:t>
            </a:r>
            <a:endParaRPr lang="en-US" sz="1200">
              <a:solidFill>
                <a:srgbClr val="F37121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200">
                <a:solidFill>
                  <a:schemeClr val="bg1"/>
                </a:solidFill>
              </a:rPr>
              <a:t>FPT </a:t>
            </a:r>
            <a:r>
              <a:rPr lang="en-US" sz="1200" err="1">
                <a:solidFill>
                  <a:schemeClr val="bg1"/>
                </a:solidFill>
              </a:rPr>
              <a:t>Cau</a:t>
            </a:r>
            <a:r>
              <a:rPr lang="en-US" sz="120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Giay</a:t>
            </a:r>
            <a:r>
              <a:rPr lang="en-US" sz="1200">
                <a:solidFill>
                  <a:schemeClr val="bg1"/>
                </a:solidFill>
              </a:rPr>
              <a:t> Building, Duy Tan Street, Dich </a:t>
            </a:r>
            <a:r>
              <a:rPr lang="en-US" sz="1200" err="1">
                <a:solidFill>
                  <a:schemeClr val="bg1"/>
                </a:solidFill>
              </a:rPr>
              <a:t>Vong</a:t>
            </a:r>
            <a:r>
              <a:rPr lang="en-US" sz="120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Hau</a:t>
            </a:r>
            <a:r>
              <a:rPr lang="en-US" sz="1200">
                <a:solidFill>
                  <a:schemeClr val="bg1"/>
                </a:solidFill>
              </a:rPr>
              <a:t> Ward, </a:t>
            </a:r>
            <a:r>
              <a:rPr lang="en-US" sz="1200" err="1">
                <a:solidFill>
                  <a:schemeClr val="bg1"/>
                </a:solidFill>
              </a:rPr>
              <a:t>Cau</a:t>
            </a:r>
            <a:r>
              <a:rPr lang="en-US" sz="120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Giay</a:t>
            </a:r>
            <a:r>
              <a:rPr lang="en-US" sz="1200">
                <a:solidFill>
                  <a:schemeClr val="bg1"/>
                </a:solidFill>
              </a:rPr>
              <a:t> District, Hanoi City, Vietnam</a:t>
            </a:r>
          </a:p>
          <a:p>
            <a:pPr>
              <a:lnSpc>
                <a:spcPct val="120000"/>
              </a:lnSpc>
            </a:pPr>
            <a:endParaRPr lang="en-US" sz="120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200" b="1">
                <a:solidFill>
                  <a:schemeClr val="bg1"/>
                </a:solidFill>
              </a:rPr>
              <a:t>Contact Person: Nghia Nguyen Van</a:t>
            </a:r>
          </a:p>
          <a:p>
            <a:pPr>
              <a:lnSpc>
                <a:spcPct val="120000"/>
              </a:lnSpc>
            </a:pPr>
            <a:r>
              <a:rPr lang="en-US" sz="1200">
                <a:solidFill>
                  <a:schemeClr val="bg1"/>
                </a:solidFill>
              </a:rPr>
              <a:t>Email: </a:t>
            </a:r>
            <a:r>
              <a:rPr lang="en-US" sz="1200">
                <a:solidFill>
                  <a:schemeClr val="bg1"/>
                </a:solidFill>
                <a:hlinkClick r:id="rId5"/>
              </a:rPr>
              <a:t>NghiaNV16@fpt.com</a:t>
            </a:r>
            <a:r>
              <a:rPr lang="en-US" sz="120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5467FC1-2BB7-6A4B-86EE-33A73BC3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71522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34EA2"/>
      </a:dk1>
      <a:lt1>
        <a:sysClr val="window" lastClr="FFFFFF"/>
      </a:lt1>
      <a:dk2>
        <a:srgbClr val="19226D"/>
      </a:dk2>
      <a:lt2>
        <a:srgbClr val="F37021"/>
      </a:lt2>
      <a:accent1>
        <a:srgbClr val="33B2C1"/>
      </a:accent1>
      <a:accent2>
        <a:srgbClr val="50B848"/>
      </a:accent2>
      <a:accent3>
        <a:srgbClr val="F2F2F2"/>
      </a:accent3>
      <a:accent4>
        <a:srgbClr val="BFBFBF"/>
      </a:accent4>
      <a:accent5>
        <a:srgbClr val="171616"/>
      </a:accent5>
      <a:accent6>
        <a:srgbClr val="AEABAB"/>
      </a:accent6>
      <a:hlink>
        <a:srgbClr val="F37021"/>
      </a:hlink>
      <a:folHlink>
        <a:srgbClr val="F37021"/>
      </a:folHlink>
    </a:clrScheme>
    <a:fontScheme name="FPT Software temp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25EE49072A344680F2B9862B611BC1" ma:contentTypeVersion="9" ma:contentTypeDescription="Create a new document." ma:contentTypeScope="" ma:versionID="9633760dcb93fa793dce740ce6a54f13">
  <xsd:schema xmlns:xsd="http://www.w3.org/2001/XMLSchema" xmlns:xs="http://www.w3.org/2001/XMLSchema" xmlns:p="http://schemas.microsoft.com/office/2006/metadata/properties" xmlns:ns2="7b90e749-ba76-4bb9-a17c-cfd502b27dd4" xmlns:ns3="c714ef66-905e-4757-b7e1-03e6f91933c0" targetNamespace="http://schemas.microsoft.com/office/2006/metadata/properties" ma:root="true" ma:fieldsID="4920c6b844187d1147096e046bda8f12" ns2:_="" ns3:_="">
    <xsd:import namespace="7b90e749-ba76-4bb9-a17c-cfd502b27dd4"/>
    <xsd:import namespace="c714ef66-905e-4757-b7e1-03e6f91933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90e749-ba76-4bb9-a17c-cfd502b27d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4ef66-905e-4757-b7e1-03e6f91933c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715033-5804-4F57-8B68-F9A2B47F75F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7C9930-BD52-4B91-BB2D-F827F369E323}">
  <ds:schemaRefs>
    <ds:schemaRef ds:uri="7b90e749-ba76-4bb9-a17c-cfd502b27dd4"/>
    <ds:schemaRef ds:uri="c714ef66-905e-4757-b7e1-03e6f91933c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DDAF18F-3DB6-45C7-BD1D-A2755CA83BA1}">
  <ds:schemaRefs>
    <ds:schemaRef ds:uri="7b90e749-ba76-4bb9-a17c-cfd502b27dd4"/>
    <ds:schemaRef ds:uri="c714ef66-905e-4757-b7e1-03e6f91933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Embedded Software Overview</vt:lpstr>
      <vt:lpstr>What is needed to start?</vt:lpstr>
      <vt:lpstr>What is needed to start?</vt:lpstr>
      <vt:lpstr>Embedded Software Features</vt:lpstr>
      <vt:lpstr>PowerPoint Presentation</vt:lpstr>
      <vt:lpstr>Embedded Software Build Process</vt:lpstr>
      <vt:lpstr>Embedded Software Build Process</vt:lpstr>
      <vt:lpstr>Reset Sequence</vt:lpstr>
      <vt:lpstr>Embedded Software Components</vt:lpstr>
      <vt:lpstr>Startup Code</vt:lpstr>
      <vt:lpstr>PowerPoint Presentation</vt:lpstr>
      <vt:lpstr>Problem?</vt:lpstr>
      <vt:lpstr>Solution 1 - Polling</vt:lpstr>
      <vt:lpstr>Solution 2 - Interrupt</vt:lpstr>
      <vt:lpstr>Solution 3 – DMA – Direct Memory Access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MSI</dc:creator>
  <cp:revision>1</cp:revision>
  <dcterms:created xsi:type="dcterms:W3CDTF">2021-11-26T03:15:35Z</dcterms:created>
  <dcterms:modified xsi:type="dcterms:W3CDTF">2026-09-11T01:34:07Z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0x0101003025EE49072A344680F2B9862B611BC1</vt:lpwstr>
  </property>
</Properties>
</file>