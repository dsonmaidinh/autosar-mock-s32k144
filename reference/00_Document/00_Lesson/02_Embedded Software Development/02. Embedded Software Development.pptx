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70" r:id="rId5"/>
    <p:sldId id="259" r:id="rId6"/>
    <p:sldId id="263" r:id="rId7"/>
    <p:sldId id="262" r:id="rId8"/>
    <p:sldId id="281" r:id="rId9"/>
    <p:sldId id="271" r:id="rId10"/>
    <p:sldId id="272" r:id="rId11"/>
    <p:sldId id="273" r:id="rId12"/>
    <p:sldId id="274" r:id="rId13"/>
    <p:sldId id="282" r:id="rId14"/>
    <p:sldId id="275" r:id="rId15"/>
    <p:sldId id="276" r:id="rId16"/>
    <p:sldId id="277" r:id="rId17"/>
    <p:sldId id="278" r:id="rId18"/>
    <p:sldId id="279" r:id="rId19"/>
    <p:sldId id="280" r:id="rId20"/>
    <p:sldId id="283" r:id="rId21"/>
    <p:sldId id="285" r:id="rId22"/>
    <p:sldId id="286" r:id="rId23"/>
    <p:sldId id="287" r:id="rId24"/>
    <p:sldId id="288" r:id="rId25"/>
    <p:sldId id="268" r:id="rId26"/>
    <p:sldId id="258" r:id="rId2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5327" autoAdjust="0"/>
  </p:normalViewPr>
  <p:slideViewPr>
    <p:cSldViewPr snapToGrid="0" snapToObjects="1" showGuides="1">
      <p:cViewPr varScale="1">
        <p:scale>
          <a:sx n="95" d="100"/>
          <a:sy n="95" d="100"/>
        </p:scale>
        <p:origin x="2064" y="8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 Nguyen Gia" userId="S::huyng32@fpt.com::840a98a7-3853-4599-8521-e7330a82761f" providerId="AD" clId="Web-{00000000-0000-0000-0000-000000000000}"/>
    <pc:docChg chg="modSld">
      <pc:chgData name="Huy Nguyen Gia" userId="S::huyng32@fpt.com::840a98a7-3853-4599-8521-e7330a82761f" providerId="AD" clId="Web-{00000000-0000-0000-0000-000000000000}" dt="2026-08-25T09:49:36.293" v="1" actId="20577"/>
      <pc:docMkLst>
        <pc:docMk/>
      </pc:docMkLst>
      <pc:sldChg chg="modSp">
        <pc:chgData name="Huy Nguyen Gia" userId="S::huyng32@fpt.com::840a98a7-3853-4599-8521-e7330a82761f" providerId="AD" clId="Web-{00000000-0000-0000-0000-000000000000}" dt="2026-08-25T09:49:36.293" v="1" actId="20577"/>
        <pc:sldMkLst>
          <pc:docMk/>
          <pc:sldMk cId="478391309" sldId="270"/>
        </pc:sldMkLst>
        <pc:spChg chg="mod">
          <ac:chgData name="Huy Nguyen Gia" userId="S::huyng32@fpt.com::840a98a7-3853-4599-8521-e7330a82761f" providerId="AD" clId="Web-{00000000-0000-0000-0000-000000000000}" dt="2026-08-25T09:49:36.293" v="1" actId="20577"/>
          <ac:spMkLst>
            <pc:docMk/>
            <pc:sldMk cId="478391309" sldId="270"/>
            <ac:spMk id="3" creationId="{563EC332-B247-95F7-1E4E-1A4A9372370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DF6B2F8-E390-BD4F-9ACD-789C35D23CE3}" type="datetimeFigureOut">
              <a:rPr lang="en-US" smtClean="0"/>
              <a:t>9/6/2026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D0A0C1-BF67-B440-B7AD-B68AAB032928}" type="slidenum">
              <a:rPr lang="en-US" smtClean="0"/>
              <a:t>‹#›</a:t>
            </a:fld>
            <a:endParaRPr lang="en-US"/>
          </a:p>
        </p:txBody>
      </p:sp>
    </p:spTree>
    <p:extLst>
      <p:ext uri="{BB962C8B-B14F-4D97-AF65-F5344CB8AC3E}">
        <p14:creationId xmlns:p14="http://schemas.microsoft.com/office/powerpoint/2010/main" val="5220041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7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Hỏi</a:t>
            </a:r>
            <a:r>
              <a:rPr lang="en-US" baseline="0" dirty="0"/>
              <a:t> </a:t>
            </a:r>
            <a:r>
              <a:rPr lang="en-US" baseline="0" dirty="0" err="1"/>
              <a:t>lại</a:t>
            </a:r>
            <a:r>
              <a:rPr lang="en-US" baseline="0" dirty="0"/>
              <a:t> </a:t>
            </a:r>
            <a:r>
              <a:rPr lang="en-US" baseline="0" dirty="0" err="1"/>
              <a:t>kiến</a:t>
            </a:r>
            <a:r>
              <a:rPr lang="en-US" baseline="0" dirty="0"/>
              <a:t> </a:t>
            </a:r>
            <a:r>
              <a:rPr lang="en-US" baseline="0" dirty="0" err="1"/>
              <a:t>thức</a:t>
            </a:r>
            <a:r>
              <a:rPr lang="en-US" baseline="0" dirty="0"/>
              <a:t> </a:t>
            </a:r>
            <a:r>
              <a:rPr lang="en-US" baseline="0" dirty="0" err="1"/>
              <a:t>bài</a:t>
            </a:r>
            <a:r>
              <a:rPr lang="en-US" baseline="0" dirty="0"/>
              <a:t> </a:t>
            </a:r>
            <a:r>
              <a:rPr lang="en-US" baseline="0" dirty="0" err="1"/>
              <a:t>cũ</a:t>
            </a:r>
            <a:r>
              <a:rPr lang="en-US" baseline="0" dirty="0"/>
              <a:t>.</a:t>
            </a:r>
          </a:p>
          <a:p>
            <a:pPr marL="628650" lvl="1" indent="-171450">
              <a:buFontTx/>
              <a:buChar char="-"/>
            </a:pPr>
            <a:r>
              <a:rPr lang="en-US" baseline="0" dirty="0" err="1"/>
              <a:t>Phân</a:t>
            </a:r>
            <a:r>
              <a:rPr lang="en-US" baseline="0" dirty="0"/>
              <a:t> </a:t>
            </a:r>
            <a:r>
              <a:rPr lang="en-US" baseline="0" dirty="0" err="1"/>
              <a:t>biệt</a:t>
            </a:r>
            <a:r>
              <a:rPr lang="en-US" baseline="0" dirty="0"/>
              <a:t> vi </a:t>
            </a:r>
            <a:r>
              <a:rPr lang="en-US" baseline="0" dirty="0" err="1"/>
              <a:t>điều</a:t>
            </a:r>
            <a:r>
              <a:rPr lang="en-US" baseline="0" dirty="0"/>
              <a:t> </a:t>
            </a:r>
            <a:r>
              <a:rPr lang="en-US" baseline="0" dirty="0" err="1"/>
              <a:t>khiển</a:t>
            </a:r>
            <a:r>
              <a:rPr lang="en-US" baseline="0" dirty="0"/>
              <a:t>/vi </a:t>
            </a:r>
            <a:r>
              <a:rPr lang="en-US" baseline="0" dirty="0" err="1"/>
              <a:t>xử</a:t>
            </a:r>
            <a:r>
              <a:rPr lang="en-US" baseline="0" dirty="0"/>
              <a:t> </a:t>
            </a:r>
            <a:r>
              <a:rPr lang="en-US" baseline="0" dirty="0" err="1"/>
              <a:t>lý</a:t>
            </a:r>
            <a:endParaRPr lang="en-US" baseline="0" dirty="0"/>
          </a:p>
          <a:p>
            <a:pPr marL="628650" lvl="1" indent="-171450">
              <a:buFontTx/>
              <a:buChar char="-"/>
            </a:pPr>
            <a:r>
              <a:rPr lang="en-US" baseline="0" dirty="0" err="1"/>
              <a:t>Kiến</a:t>
            </a:r>
            <a:r>
              <a:rPr lang="en-US" baseline="0" dirty="0"/>
              <a:t> </a:t>
            </a:r>
            <a:r>
              <a:rPr lang="en-US" baseline="0" dirty="0" err="1"/>
              <a:t>trúc</a:t>
            </a:r>
            <a:r>
              <a:rPr lang="en-US" baseline="0" dirty="0"/>
              <a:t> Harvard/Von Neumann, </a:t>
            </a:r>
            <a:r>
              <a:rPr lang="en-US" baseline="0" dirty="0" err="1"/>
              <a:t>kiến</a:t>
            </a:r>
            <a:r>
              <a:rPr lang="en-US" baseline="0" dirty="0"/>
              <a:t> </a:t>
            </a:r>
            <a:r>
              <a:rPr lang="en-US" baseline="0" dirty="0" err="1"/>
              <a:t>trúc</a:t>
            </a:r>
            <a:r>
              <a:rPr lang="en-US" baseline="0" dirty="0"/>
              <a:t> </a:t>
            </a:r>
            <a:r>
              <a:rPr lang="en-US" baseline="0" dirty="0" err="1"/>
              <a:t>nào</a:t>
            </a:r>
            <a:r>
              <a:rPr lang="en-US" baseline="0" dirty="0"/>
              <a:t> </a:t>
            </a:r>
            <a:r>
              <a:rPr lang="en-US" baseline="0" dirty="0" err="1"/>
              <a:t>có</a:t>
            </a:r>
            <a:r>
              <a:rPr lang="en-US" baseline="0" dirty="0"/>
              <a:t> performance </a:t>
            </a:r>
            <a:r>
              <a:rPr lang="en-US" baseline="0" dirty="0" err="1"/>
              <a:t>tốt</a:t>
            </a:r>
            <a:r>
              <a:rPr lang="en-US" baseline="0" dirty="0"/>
              <a:t> </a:t>
            </a:r>
            <a:r>
              <a:rPr lang="en-US" baseline="0" dirty="0" err="1"/>
              <a:t>hơn</a:t>
            </a:r>
            <a:endParaRPr lang="en-US" baseline="0" dirty="0"/>
          </a:p>
          <a:p>
            <a:pPr marL="628650" lvl="1" indent="-171450">
              <a:buFontTx/>
              <a:buChar char="-"/>
            </a:pPr>
            <a:r>
              <a:rPr lang="en-US" baseline="0" dirty="0"/>
              <a:t>ISA </a:t>
            </a:r>
            <a:r>
              <a:rPr lang="en-US" baseline="0" dirty="0" err="1"/>
              <a:t>là</a:t>
            </a:r>
            <a:r>
              <a:rPr lang="en-US" baseline="0" dirty="0"/>
              <a:t> </a:t>
            </a:r>
            <a:r>
              <a:rPr lang="en-US" baseline="0" dirty="0" err="1"/>
              <a:t>gì</a:t>
            </a:r>
            <a:r>
              <a:rPr lang="en-US" baseline="0" dirty="0"/>
              <a:t> ?</a:t>
            </a:r>
          </a:p>
          <a:p>
            <a:pPr marL="171450" lvl="0" indent="-171450">
              <a:buFontTx/>
              <a:buChar char="-"/>
            </a:pPr>
            <a:r>
              <a:rPr lang="en-US" baseline="0" dirty="0" err="1"/>
              <a:t>Giới</a:t>
            </a:r>
            <a:r>
              <a:rPr lang="en-US" baseline="0" dirty="0"/>
              <a:t> </a:t>
            </a:r>
            <a:r>
              <a:rPr lang="en-US" baseline="0" dirty="0" err="1"/>
              <a:t>thiệu</a:t>
            </a:r>
            <a:r>
              <a:rPr lang="en-US" baseline="0" dirty="0"/>
              <a:t> </a:t>
            </a:r>
            <a:r>
              <a:rPr lang="en-US" baseline="0" dirty="0" err="1"/>
              <a:t>mục</a:t>
            </a:r>
            <a:r>
              <a:rPr lang="en-US" baseline="0" dirty="0"/>
              <a:t> </a:t>
            </a:r>
            <a:r>
              <a:rPr lang="en-US" baseline="0" dirty="0" err="1"/>
              <a:t>đích</a:t>
            </a:r>
            <a:r>
              <a:rPr lang="en-US" baseline="0" dirty="0"/>
              <a:t> </a:t>
            </a:r>
            <a:r>
              <a:rPr lang="en-US" baseline="0" dirty="0" err="1"/>
              <a:t>buổi</a:t>
            </a:r>
            <a:r>
              <a:rPr lang="en-US" baseline="0" dirty="0"/>
              <a:t> </a:t>
            </a:r>
            <a:r>
              <a:rPr lang="en-US" baseline="0" dirty="0" err="1"/>
              <a:t>học</a:t>
            </a:r>
            <a:r>
              <a:rPr lang="en-US" baseline="0" dirty="0"/>
              <a:t>:</a:t>
            </a:r>
          </a:p>
          <a:p>
            <a:pPr marL="628650" lvl="1" indent="-171450">
              <a:buFontTx/>
              <a:buChar char="-"/>
            </a:pPr>
            <a:r>
              <a:rPr lang="en-US" baseline="0" dirty="0" err="1"/>
              <a:t>Giúp</a:t>
            </a:r>
            <a:r>
              <a:rPr lang="en-US" baseline="0" dirty="0"/>
              <a:t> </a:t>
            </a:r>
            <a:r>
              <a:rPr lang="en-US" baseline="0" dirty="0" err="1"/>
              <a:t>học</a:t>
            </a:r>
            <a:r>
              <a:rPr lang="en-US" baseline="0" dirty="0"/>
              <a:t> </a:t>
            </a:r>
            <a:r>
              <a:rPr lang="en-US" baseline="0" dirty="0" err="1"/>
              <a:t>viên</a:t>
            </a:r>
            <a:r>
              <a:rPr lang="en-US" baseline="0" dirty="0"/>
              <a:t> </a:t>
            </a:r>
            <a:r>
              <a:rPr lang="en-US" baseline="0" dirty="0" err="1"/>
              <a:t>hiểu</a:t>
            </a:r>
            <a:r>
              <a:rPr lang="en-US" baseline="0" dirty="0"/>
              <a:t> </a:t>
            </a:r>
            <a:r>
              <a:rPr lang="en-US" baseline="0" dirty="0" err="1"/>
              <a:t>được</a:t>
            </a:r>
            <a:r>
              <a:rPr lang="en-US" baseline="0" dirty="0"/>
              <a:t> </a:t>
            </a:r>
            <a:r>
              <a:rPr lang="en-US" baseline="0" dirty="0" err="1"/>
              <a:t>quy</a:t>
            </a:r>
            <a:r>
              <a:rPr lang="en-US" baseline="0" dirty="0"/>
              <a:t> </a:t>
            </a:r>
            <a:r>
              <a:rPr lang="en-US" baseline="0" dirty="0" err="1"/>
              <a:t>trình</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một</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cho</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a:t>
            </a:r>
          </a:p>
        </p:txBody>
      </p:sp>
      <p:sp>
        <p:nvSpPr>
          <p:cNvPr id="4" name="Slide Number Placeholder 3"/>
          <p:cNvSpPr>
            <a:spLocks noGrp="1"/>
          </p:cNvSpPr>
          <p:nvPr>
            <p:ph type="sldNum" sz="quarter" idx="5"/>
          </p:nvPr>
        </p:nvSpPr>
        <p:spPr/>
        <p:txBody>
          <a:bodyPr/>
          <a:lstStyle/>
          <a:p>
            <a:fld id="{2B3067B3-3AE6-DD4A-9E3D-C999AB3971A1}" type="slidenum">
              <a:rPr lang="en-US" smtClean="0"/>
              <a:t>1</a:t>
            </a:fld>
            <a:endParaRPr lang="en-US"/>
          </a:p>
        </p:txBody>
      </p:sp>
    </p:spTree>
    <p:extLst>
      <p:ext uri="{BB962C8B-B14F-4D97-AF65-F5344CB8AC3E}">
        <p14:creationId xmlns:p14="http://schemas.microsoft.com/office/powerpoint/2010/main" val="1080480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Nội</a:t>
            </a:r>
            <a:r>
              <a:rPr lang="en-US" baseline="0" dirty="0"/>
              <a:t> dung </a:t>
            </a:r>
            <a:r>
              <a:rPr lang="en-US" baseline="0" dirty="0" err="1"/>
              <a:t>buổi</a:t>
            </a:r>
            <a:r>
              <a:rPr lang="en-US" baseline="0" dirty="0"/>
              <a:t> </a:t>
            </a:r>
            <a:r>
              <a:rPr lang="en-US" baseline="0" dirty="0" err="1"/>
              <a:t>học</a:t>
            </a:r>
            <a:r>
              <a:rPr lang="en-US" baseline="0" dirty="0"/>
              <a:t> </a:t>
            </a:r>
            <a:r>
              <a:rPr lang="en-US" baseline="0" dirty="0" err="1"/>
              <a:t>gồm</a:t>
            </a:r>
            <a:r>
              <a:rPr lang="en-US" baseline="0" dirty="0"/>
              <a:t>:</a:t>
            </a:r>
          </a:p>
          <a:p>
            <a:r>
              <a:rPr lang="en-US" baseline="0" dirty="0"/>
              <a:t>   1- </a:t>
            </a:r>
            <a:r>
              <a:rPr lang="en-US" baseline="0" dirty="0" err="1"/>
              <a:t>Giới</a:t>
            </a:r>
            <a:r>
              <a:rPr lang="en-US" baseline="0" dirty="0"/>
              <a:t> </a:t>
            </a:r>
            <a:r>
              <a:rPr lang="en-US" baseline="0" dirty="0" err="1"/>
              <a:t>thiệu</a:t>
            </a:r>
            <a:r>
              <a:rPr lang="en-US" baseline="0" dirty="0"/>
              <a:t> </a:t>
            </a:r>
            <a:r>
              <a:rPr lang="en-US" baseline="0" dirty="0" err="1"/>
              <a:t>chung</a:t>
            </a:r>
            <a:r>
              <a:rPr lang="en-US" baseline="0" dirty="0"/>
              <a:t> </a:t>
            </a:r>
            <a:r>
              <a:rPr lang="en-US" baseline="0" dirty="0" err="1"/>
              <a:t>về</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nhúng</a:t>
            </a:r>
            <a:r>
              <a:rPr lang="en-US" baseline="0" dirty="0"/>
              <a:t>. </a:t>
            </a:r>
            <a:r>
              <a:rPr lang="en-US" baseline="0" dirty="0" err="1"/>
              <a:t>Các</a:t>
            </a:r>
            <a:r>
              <a:rPr lang="en-US" baseline="0" dirty="0"/>
              <a:t> </a:t>
            </a:r>
            <a:r>
              <a:rPr lang="en-US" baseline="0" dirty="0" err="1"/>
              <a:t>tiêu</a:t>
            </a:r>
            <a:r>
              <a:rPr lang="en-US" baseline="0" dirty="0"/>
              <a:t> </a:t>
            </a:r>
            <a:r>
              <a:rPr lang="en-US" baseline="0" dirty="0" err="1"/>
              <a:t>chuẩn</a:t>
            </a:r>
            <a:r>
              <a:rPr lang="en-US" baseline="0" dirty="0"/>
              <a:t> </a:t>
            </a:r>
            <a:r>
              <a:rPr lang="en-US" baseline="0" dirty="0" err="1"/>
              <a:t>của</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nhúng</a:t>
            </a:r>
            <a:r>
              <a:rPr lang="en-US" baseline="0" dirty="0"/>
              <a:t>.</a:t>
            </a:r>
          </a:p>
          <a:p>
            <a:r>
              <a:rPr lang="en-US" baseline="0" dirty="0"/>
              <a:t>   2- </a:t>
            </a:r>
            <a:r>
              <a:rPr lang="en-US" baseline="0" dirty="0" err="1"/>
              <a:t>Giới</a:t>
            </a:r>
            <a:r>
              <a:rPr lang="en-US" baseline="0" dirty="0"/>
              <a:t> </a:t>
            </a:r>
            <a:r>
              <a:rPr lang="en-US" baseline="0" dirty="0" err="1"/>
              <a:t>thiệu</a:t>
            </a:r>
            <a:r>
              <a:rPr lang="en-US" baseline="0" dirty="0"/>
              <a:t> </a:t>
            </a:r>
            <a:r>
              <a:rPr lang="en-US" baseline="0" dirty="0" err="1"/>
              <a:t>quy</a:t>
            </a:r>
            <a:r>
              <a:rPr lang="en-US" baseline="0" dirty="0"/>
              <a:t> </a:t>
            </a:r>
            <a:r>
              <a:rPr lang="en-US" baseline="0" dirty="0" err="1"/>
              <a:t>trình</a:t>
            </a:r>
            <a:r>
              <a:rPr lang="en-US" baseline="0" dirty="0"/>
              <a:t>/ </a:t>
            </a:r>
            <a:r>
              <a:rPr lang="en-US" baseline="0" dirty="0" err="1"/>
              <a:t>Các</a:t>
            </a:r>
            <a:r>
              <a:rPr lang="en-US" baseline="0" dirty="0"/>
              <a:t> </a:t>
            </a:r>
            <a:r>
              <a:rPr lang="en-US" baseline="0" dirty="0" err="1"/>
              <a:t>bước</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một</a:t>
            </a:r>
            <a:r>
              <a:rPr lang="en-US" baseline="0" dirty="0"/>
              <a:t> </a:t>
            </a:r>
            <a:r>
              <a:rPr lang="en-US" baseline="0" dirty="0" err="1"/>
              <a:t>ứng</a:t>
            </a:r>
            <a:r>
              <a:rPr lang="en-US" baseline="0" dirty="0"/>
              <a:t> </a:t>
            </a:r>
            <a:r>
              <a:rPr lang="en-US" baseline="0" dirty="0" err="1"/>
              <a:t>dụng</a:t>
            </a:r>
            <a:r>
              <a:rPr lang="en-US" baseline="0" dirty="0"/>
              <a:t>/</a:t>
            </a:r>
            <a:r>
              <a:rPr lang="en-US" baseline="0" dirty="0" err="1"/>
              <a:t>phần</a:t>
            </a:r>
            <a:r>
              <a:rPr lang="en-US" baseline="0" dirty="0"/>
              <a:t> </a:t>
            </a:r>
            <a:r>
              <a:rPr lang="en-US" baseline="0" dirty="0" err="1"/>
              <a:t>mềm</a:t>
            </a:r>
            <a:r>
              <a:rPr lang="en-US" baseline="0" dirty="0"/>
              <a:t> </a:t>
            </a:r>
            <a:r>
              <a:rPr lang="en-US" baseline="0" dirty="0" err="1"/>
              <a:t>nhúng</a:t>
            </a:r>
            <a:endParaRPr lang="en-US" baseline="0" dirty="0"/>
          </a:p>
          <a:p>
            <a:r>
              <a:rPr lang="en-US" baseline="0" dirty="0"/>
              <a:t>   3- </a:t>
            </a:r>
            <a:r>
              <a:rPr lang="en-US" baseline="0" dirty="0" err="1"/>
              <a:t>Thiết</a:t>
            </a:r>
            <a:r>
              <a:rPr lang="en-US" baseline="0" dirty="0"/>
              <a:t> </a:t>
            </a:r>
            <a:r>
              <a:rPr lang="en-US" baseline="0" dirty="0" err="1"/>
              <a:t>kế</a:t>
            </a:r>
            <a:r>
              <a:rPr lang="en-US" baseline="0" dirty="0"/>
              <a:t> </a:t>
            </a:r>
            <a:r>
              <a:rPr lang="en-US" baseline="0" dirty="0" err="1"/>
              <a:t>cơ</a:t>
            </a:r>
            <a:r>
              <a:rPr lang="en-US" baseline="0" dirty="0"/>
              <a:t> </a:t>
            </a:r>
            <a:r>
              <a:rPr lang="en-US" baseline="0" dirty="0" err="1"/>
              <a:t>bản</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a:t>
            </a:r>
            <a:r>
              <a:rPr lang="en-US" baseline="0"/>
              <a:t>based </a:t>
            </a:r>
            <a:r>
              <a:rPr lang="en-US" baseline="0" dirty="0"/>
              <a:t>on </a:t>
            </a:r>
            <a:r>
              <a:rPr lang="en-US" baseline="0"/>
              <a:t>interrupts </a:t>
            </a:r>
            <a:r>
              <a:rPr lang="en-US" baseline="0" dirty="0"/>
              <a:t>or </a:t>
            </a:r>
            <a:r>
              <a:rPr lang="en-US" baseline="0"/>
              <a:t>polling</a:t>
            </a:r>
            <a:r>
              <a:rPr lang="en-US" baseline="0" dirty="0"/>
              <a:t>)</a:t>
            </a:r>
          </a:p>
          <a:p>
            <a:r>
              <a:rPr lang="en-US" baseline="0" dirty="0"/>
              <a:t>   4- </a:t>
            </a:r>
            <a:r>
              <a:rPr lang="en-US" baseline="0" dirty="0" err="1"/>
              <a:t>Tổng</a:t>
            </a:r>
            <a:r>
              <a:rPr lang="en-US" baseline="0" dirty="0"/>
              <a:t> </a:t>
            </a:r>
            <a:r>
              <a:rPr lang="en-US" baseline="0" dirty="0" err="1"/>
              <a:t>kết</a:t>
            </a:r>
            <a:r>
              <a:rPr lang="en-US" baseline="0" dirty="0"/>
              <a:t>  </a:t>
            </a:r>
            <a:endParaRPr lang="en-US" dirty="0"/>
          </a:p>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2</a:t>
            </a:fld>
            <a:endParaRPr lang="en-US"/>
          </a:p>
        </p:txBody>
      </p:sp>
    </p:spTree>
    <p:extLst>
      <p:ext uri="{BB962C8B-B14F-4D97-AF65-F5344CB8AC3E}">
        <p14:creationId xmlns:p14="http://schemas.microsoft.com/office/powerpoint/2010/main" val="3468850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4</a:t>
            </a:fld>
            <a:endParaRPr lang="en-US"/>
          </a:p>
        </p:txBody>
      </p:sp>
    </p:spTree>
    <p:extLst>
      <p:ext uri="{BB962C8B-B14F-4D97-AF65-F5344CB8AC3E}">
        <p14:creationId xmlns:p14="http://schemas.microsoft.com/office/powerpoint/2010/main" val="1073882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t>
            </a:r>
            <a:r>
              <a:rPr lang="en-US" dirty="0" err="1"/>
              <a:t>thảo</a:t>
            </a:r>
            <a:r>
              <a:rPr lang="en-US" baseline="0" dirty="0"/>
              <a:t> </a:t>
            </a:r>
            <a:r>
              <a:rPr lang="en-US" baseline="0" dirty="0" err="1"/>
              <a:t>luận</a:t>
            </a:r>
            <a:r>
              <a:rPr lang="en-US" baseline="0" dirty="0"/>
              <a:t>: </a:t>
            </a:r>
            <a:r>
              <a:rPr lang="en-US" baseline="0" dirty="0" err="1"/>
              <a:t>Các</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cần</a:t>
            </a:r>
            <a:r>
              <a:rPr lang="en-US" baseline="0" dirty="0"/>
              <a:t> </a:t>
            </a:r>
            <a:r>
              <a:rPr lang="en-US" baseline="0" dirty="0" err="1"/>
              <a:t>chú</a:t>
            </a:r>
            <a:r>
              <a:rPr lang="en-US" baseline="0" dirty="0"/>
              <a:t> ý </a:t>
            </a:r>
            <a:r>
              <a:rPr lang="en-US" baseline="0" dirty="0" err="1"/>
              <a:t>khi</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a:t>
            </a:r>
          </a:p>
          <a:p>
            <a:r>
              <a:rPr lang="en-US" baseline="0" dirty="0"/>
              <a:t>      - </a:t>
            </a:r>
            <a:r>
              <a:rPr lang="en-US" baseline="0" dirty="0" err="1"/>
              <a:t>Ứng</a:t>
            </a:r>
            <a:r>
              <a:rPr lang="en-US" baseline="0" dirty="0"/>
              <a:t> </a:t>
            </a:r>
            <a:r>
              <a:rPr lang="en-US" baseline="0" dirty="0" err="1"/>
              <a:t>dụng</a:t>
            </a:r>
            <a:r>
              <a:rPr lang="en-US" baseline="0" dirty="0"/>
              <a:t> </a:t>
            </a:r>
            <a:r>
              <a:rPr lang="en-US" baseline="0" dirty="0" err="1"/>
              <a:t>có</a:t>
            </a:r>
            <a:r>
              <a:rPr lang="en-US" baseline="0" dirty="0"/>
              <a:t> </a:t>
            </a:r>
            <a:r>
              <a:rPr lang="en-US" baseline="0" dirty="0" err="1"/>
              <a:t>cần</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thực</a:t>
            </a:r>
            <a:r>
              <a:rPr lang="en-US" baseline="0" dirty="0"/>
              <a:t> </a:t>
            </a:r>
            <a:r>
              <a:rPr lang="en-US" baseline="0" dirty="0" err="1"/>
              <a:t>không</a:t>
            </a:r>
            <a:r>
              <a:rPr lang="en-US" baseline="0" dirty="0"/>
              <a:t> ? </a:t>
            </a:r>
            <a:r>
              <a:rPr lang="en-US" baseline="0" dirty="0" err="1"/>
              <a:t>Nếu</a:t>
            </a:r>
            <a:r>
              <a:rPr lang="en-US" baseline="0" dirty="0"/>
              <a:t> </a:t>
            </a:r>
            <a:r>
              <a:rPr lang="en-US" baseline="0" dirty="0" err="1"/>
              <a:t>có</a:t>
            </a:r>
            <a:r>
              <a:rPr lang="en-US" baseline="0" dirty="0"/>
              <a:t> </a:t>
            </a:r>
            <a:r>
              <a:rPr lang="en-US" baseline="0" dirty="0" err="1"/>
              <a:t>thì</a:t>
            </a:r>
            <a:r>
              <a:rPr lang="en-US" baseline="0" dirty="0"/>
              <a:t> </a:t>
            </a:r>
            <a:r>
              <a:rPr lang="en-US" baseline="0" dirty="0" err="1"/>
              <a:t>tới</a:t>
            </a:r>
            <a:r>
              <a:rPr lang="en-US" baseline="0" dirty="0"/>
              <a:t> </a:t>
            </a:r>
            <a:r>
              <a:rPr lang="en-US" baseline="0" dirty="0" err="1"/>
              <a:t>mức</a:t>
            </a:r>
            <a:r>
              <a:rPr lang="en-US" baseline="0" dirty="0"/>
              <a:t> </a:t>
            </a:r>
            <a:r>
              <a:rPr lang="en-US" baseline="0" dirty="0" err="1"/>
              <a:t>độ</a:t>
            </a:r>
            <a:r>
              <a:rPr lang="en-US" baseline="0" dirty="0"/>
              <a:t> </a:t>
            </a:r>
            <a:r>
              <a:rPr lang="en-US" baseline="0" dirty="0" err="1"/>
              <a:t>nào</a:t>
            </a:r>
            <a:r>
              <a:rPr lang="en-US" baseline="0" dirty="0"/>
              <a:t>? </a:t>
            </a:r>
          </a:p>
          <a:p>
            <a:r>
              <a:rPr lang="en-US" baseline="0" dirty="0"/>
              <a:t>        </a:t>
            </a:r>
            <a:r>
              <a:rPr lang="en-US" baseline="0" dirty="0" err="1"/>
              <a:t>Phân</a:t>
            </a:r>
            <a:r>
              <a:rPr lang="en-US" baseline="0" dirty="0"/>
              <a:t> </a:t>
            </a:r>
            <a:r>
              <a:rPr lang="en-US" baseline="0" dirty="0" err="1"/>
              <a:t>biệt</a:t>
            </a:r>
            <a:r>
              <a:rPr lang="en-US" baseline="0" dirty="0"/>
              <a:t> </a:t>
            </a:r>
            <a:r>
              <a:rPr lang="en-US" baseline="0" dirty="0" err="1"/>
              <a:t>khái</a:t>
            </a:r>
            <a:r>
              <a:rPr lang="en-US" baseline="0" dirty="0"/>
              <a:t> </a:t>
            </a:r>
            <a:r>
              <a:rPr lang="en-US" baseline="0" dirty="0" err="1"/>
              <a:t>niệm</a:t>
            </a:r>
            <a:r>
              <a:rPr lang="en-US" baseline="0" dirty="0"/>
              <a:t>: Hard real time (Ko </a:t>
            </a:r>
            <a:r>
              <a:rPr lang="en-US" baseline="0" dirty="0" err="1"/>
              <a:t>cho</a:t>
            </a:r>
            <a:r>
              <a:rPr lang="en-US" baseline="0" dirty="0"/>
              <a:t> </a:t>
            </a:r>
            <a:r>
              <a:rPr lang="en-US" baseline="0" dirty="0" err="1"/>
              <a:t>phép</a:t>
            </a:r>
            <a:r>
              <a:rPr lang="en-US" baseline="0" dirty="0"/>
              <a:t> </a:t>
            </a:r>
            <a:r>
              <a:rPr lang="en-US" baseline="0" dirty="0" err="1"/>
              <a:t>có</a:t>
            </a:r>
            <a:r>
              <a:rPr lang="en-US" baseline="0" dirty="0"/>
              <a:t> </a:t>
            </a:r>
            <a:r>
              <a:rPr lang="en-US" baseline="0" dirty="0" err="1"/>
              <a:t>độ</a:t>
            </a:r>
            <a:r>
              <a:rPr lang="en-US" baseline="0" dirty="0"/>
              <a:t> </a:t>
            </a:r>
            <a:r>
              <a:rPr lang="en-US" baseline="0" dirty="0" err="1"/>
              <a:t>trễ</a:t>
            </a:r>
            <a:r>
              <a:rPr lang="en-US" baseline="0" dirty="0"/>
              <a:t>, </a:t>
            </a:r>
            <a:r>
              <a:rPr lang="en-US" baseline="0" dirty="0" err="1"/>
              <a:t>hệ</a:t>
            </a:r>
            <a:r>
              <a:rPr lang="en-US" baseline="0" dirty="0"/>
              <a:t> </a:t>
            </a:r>
            <a:r>
              <a:rPr lang="en-US" baseline="0" dirty="0" err="1"/>
              <a:t>thống</a:t>
            </a:r>
            <a:r>
              <a:rPr lang="en-US" baseline="0" dirty="0"/>
              <a:t> </a:t>
            </a:r>
            <a:r>
              <a:rPr lang="en-US" baseline="0" err="1"/>
              <a:t>safety</a:t>
            </a:r>
            <a:r>
              <a:rPr lang="en-US" baseline="0" dirty="0"/>
              <a:t> </a:t>
            </a:r>
            <a:r>
              <a:rPr lang="en-US" baseline="0" dirty="0" err="1"/>
              <a:t>tuyệt</a:t>
            </a:r>
            <a:r>
              <a:rPr lang="en-US" baseline="0" dirty="0"/>
              <a:t> </a:t>
            </a:r>
            <a:r>
              <a:rPr lang="en-US" baseline="0" dirty="0" err="1"/>
              <a:t>đối</a:t>
            </a:r>
            <a:r>
              <a:rPr lang="en-US" baseline="0" dirty="0"/>
              <a:t> </a:t>
            </a:r>
            <a:r>
              <a:rPr lang="en-US" baseline="0" dirty="0">
                <a:sym typeface="Wingdings" panose="05000000000000000000" pitchFamily="2" charset="2"/>
              </a:rPr>
              <a:t>/ </a:t>
            </a:r>
            <a:r>
              <a:rPr lang="en-US" baseline="0" dirty="0" err="1">
                <a:sym typeface="Wingdings" panose="05000000000000000000" pitchFamily="2" charset="2"/>
              </a:rPr>
              <a:t>Ví</a:t>
            </a:r>
            <a:r>
              <a:rPr lang="en-US" baseline="0" dirty="0">
                <a:sym typeface="Wingdings" panose="05000000000000000000" pitchFamily="2" charset="2"/>
              </a:rPr>
              <a:t> </a:t>
            </a:r>
            <a:r>
              <a:rPr lang="en-US" baseline="0" dirty="0" err="1">
                <a:sym typeface="Wingdings" panose="05000000000000000000" pitchFamily="2" charset="2"/>
              </a:rPr>
              <a:t>dụ</a:t>
            </a:r>
            <a:r>
              <a:rPr lang="en-US" baseline="0" dirty="0">
                <a:sym typeface="Wingdings" panose="05000000000000000000" pitchFamily="2" charset="2"/>
              </a:rPr>
              <a:t> </a:t>
            </a:r>
            <a:r>
              <a:rPr lang="en-US" baseline="0" dirty="0" err="1">
                <a:sym typeface="Wingdings" panose="05000000000000000000" pitchFamily="2" charset="2"/>
              </a:rPr>
              <a:t>nhà</a:t>
            </a:r>
            <a:r>
              <a:rPr lang="en-US" baseline="0" dirty="0">
                <a:sym typeface="Wingdings" panose="05000000000000000000" pitchFamily="2" charset="2"/>
              </a:rPr>
              <a:t> </a:t>
            </a:r>
            <a:r>
              <a:rPr lang="en-US" baseline="0" dirty="0" err="1">
                <a:sym typeface="Wingdings" panose="05000000000000000000" pitchFamily="2" charset="2"/>
              </a:rPr>
              <a:t>máy</a:t>
            </a:r>
            <a:r>
              <a:rPr lang="en-US" baseline="0" dirty="0">
                <a:sym typeface="Wingdings" panose="05000000000000000000" pitchFamily="2" charset="2"/>
              </a:rPr>
              <a:t> </a:t>
            </a:r>
            <a:r>
              <a:rPr lang="en-US" baseline="0" dirty="0" err="1">
                <a:sym typeface="Wingdings" panose="05000000000000000000" pitchFamily="2" charset="2"/>
              </a:rPr>
              <a:t>điện</a:t>
            </a:r>
            <a:r>
              <a:rPr lang="en-US" baseline="0" dirty="0">
                <a:sym typeface="Wingdings" panose="05000000000000000000" pitchFamily="2" charset="2"/>
              </a:rPr>
              <a:t> </a:t>
            </a:r>
            <a:r>
              <a:rPr lang="en-US" baseline="0" dirty="0" err="1">
                <a:sym typeface="Wingdings" panose="05000000000000000000" pitchFamily="2" charset="2"/>
              </a:rPr>
              <a:t>nguyên</a:t>
            </a:r>
            <a:r>
              <a:rPr lang="en-US" baseline="0" dirty="0">
                <a:sym typeface="Wingdings" panose="05000000000000000000" pitchFamily="2" charset="2"/>
              </a:rPr>
              <a:t> </a:t>
            </a:r>
            <a:r>
              <a:rPr lang="en-US" baseline="0" dirty="0" err="1">
                <a:sym typeface="Wingdings" panose="05000000000000000000" pitchFamily="2" charset="2"/>
              </a:rPr>
              <a:t>tử</a:t>
            </a:r>
            <a:r>
              <a:rPr lang="en-US" baseline="0" dirty="0"/>
              <a:t>) / Soft real time (</a:t>
            </a:r>
            <a:r>
              <a:rPr lang="en-US" baseline="0" dirty="0" err="1"/>
              <a:t>chấp</a:t>
            </a:r>
            <a:r>
              <a:rPr lang="en-US" baseline="0" dirty="0"/>
              <a:t> </a:t>
            </a:r>
            <a:r>
              <a:rPr lang="en-US" baseline="0" dirty="0" err="1"/>
              <a:t>nhận</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thực</a:t>
            </a:r>
            <a:r>
              <a:rPr lang="en-US" baseline="0" dirty="0"/>
              <a:t> ở </a:t>
            </a:r>
            <a:r>
              <a:rPr lang="en-US" baseline="0" dirty="0" err="1"/>
              <a:t>mức</a:t>
            </a:r>
            <a:r>
              <a:rPr lang="en-US" baseline="0" dirty="0"/>
              <a:t> </a:t>
            </a:r>
            <a:r>
              <a:rPr lang="en-US" baseline="0" dirty="0" err="1"/>
              <a:t>độ</a:t>
            </a:r>
            <a:r>
              <a:rPr lang="en-US" baseline="0" dirty="0"/>
              <a:t> </a:t>
            </a:r>
            <a:r>
              <a:rPr lang="en-US" baseline="0" dirty="0" err="1"/>
              <a:t>nào</a:t>
            </a:r>
            <a:r>
              <a:rPr lang="en-US" baseline="0" dirty="0"/>
              <a:t> </a:t>
            </a:r>
            <a:r>
              <a:rPr lang="en-US" baseline="0" dirty="0" err="1"/>
              <a:t>đấy</a:t>
            </a:r>
            <a:r>
              <a:rPr lang="en-US" baseline="0" dirty="0"/>
              <a:t>. </a:t>
            </a:r>
            <a:r>
              <a:rPr lang="en-US" baseline="0" dirty="0" err="1"/>
              <a:t>Ví</a:t>
            </a:r>
            <a:r>
              <a:rPr lang="en-US" baseline="0" dirty="0"/>
              <a:t> </a:t>
            </a:r>
            <a:r>
              <a:rPr lang="en-US" baseline="0" dirty="0" err="1"/>
              <a:t>dụ</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điều</a:t>
            </a:r>
            <a:r>
              <a:rPr lang="en-US" baseline="0" dirty="0"/>
              <a:t> </a:t>
            </a:r>
            <a:r>
              <a:rPr lang="en-US" baseline="0" dirty="0" err="1"/>
              <a:t>khiển</a:t>
            </a:r>
            <a:r>
              <a:rPr lang="en-US" baseline="0" dirty="0"/>
              <a:t> </a:t>
            </a:r>
            <a:r>
              <a:rPr lang="en-US" baseline="0" dirty="0" err="1"/>
              <a:t>tivi</a:t>
            </a:r>
            <a:r>
              <a:rPr lang="en-US" baseline="0" dirty="0"/>
              <a:t>/ </a:t>
            </a:r>
            <a:r>
              <a:rPr lang="en-US" baseline="0" dirty="0" err="1"/>
              <a:t>nhà</a:t>
            </a:r>
            <a:r>
              <a:rPr lang="en-US" baseline="0" dirty="0"/>
              <a:t> </a:t>
            </a:r>
            <a:r>
              <a:rPr lang="en-US" baseline="0" dirty="0" err="1"/>
              <a:t>thông</a:t>
            </a:r>
            <a:r>
              <a:rPr lang="en-US" baseline="0" dirty="0"/>
              <a:t> </a:t>
            </a:r>
            <a:r>
              <a:rPr lang="en-US" baseline="0" dirty="0" err="1"/>
              <a:t>minh</a:t>
            </a:r>
            <a:r>
              <a:rPr lang="en-US" baseline="0" dirty="0"/>
              <a:t>,…). </a:t>
            </a:r>
          </a:p>
          <a:p>
            <a:r>
              <a:rPr lang="en-US" baseline="0" dirty="0"/>
              <a:t>     </a:t>
            </a:r>
          </a:p>
          <a:p>
            <a:r>
              <a:rPr lang="en-US" baseline="0" dirty="0"/>
              <a:t>       - </a:t>
            </a:r>
            <a:r>
              <a:rPr lang="en-US" baseline="0" dirty="0" err="1"/>
              <a:t>Độ</a:t>
            </a:r>
            <a:r>
              <a:rPr lang="en-US" baseline="0" dirty="0"/>
              <a:t> </a:t>
            </a:r>
            <a:r>
              <a:rPr lang="en-US" baseline="0" dirty="0" err="1"/>
              <a:t>phức</a:t>
            </a:r>
            <a:r>
              <a:rPr lang="en-US" baseline="0" dirty="0"/>
              <a:t> </a:t>
            </a:r>
            <a:r>
              <a:rPr lang="en-US" baseline="0" dirty="0" err="1"/>
              <a:t>tạp</a:t>
            </a:r>
            <a:r>
              <a:rPr lang="en-US" baseline="0" dirty="0"/>
              <a:t> </a:t>
            </a:r>
            <a:r>
              <a:rPr lang="en-US" baseline="0" dirty="0" err="1"/>
              <a:t>của</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Cần</a:t>
            </a:r>
            <a:r>
              <a:rPr lang="en-US" baseline="0" dirty="0"/>
              <a:t> </a:t>
            </a:r>
            <a:r>
              <a:rPr lang="en-US" baseline="0" dirty="0" err="1"/>
              <a:t>thiết</a:t>
            </a:r>
            <a:r>
              <a:rPr lang="en-US" baseline="0" dirty="0"/>
              <a:t> </a:t>
            </a:r>
            <a:r>
              <a:rPr lang="en-US" baseline="0" dirty="0" err="1"/>
              <a:t>phải</a:t>
            </a:r>
            <a:r>
              <a:rPr lang="en-US" baseline="0" dirty="0"/>
              <a:t> </a:t>
            </a:r>
            <a:r>
              <a:rPr lang="en-US" baseline="0" dirty="0" err="1"/>
              <a:t>sử</a:t>
            </a:r>
            <a:r>
              <a:rPr lang="en-US" baseline="0" dirty="0"/>
              <a:t> </a:t>
            </a:r>
            <a:r>
              <a:rPr lang="en-US" baseline="0" dirty="0" err="1"/>
              <a:t>dụng</a:t>
            </a:r>
            <a:r>
              <a:rPr lang="en-US" baseline="0" dirty="0"/>
              <a:t> RTOS hay </a:t>
            </a:r>
            <a:r>
              <a:rPr lang="en-US" baseline="0" dirty="0" err="1"/>
              <a:t>chỉ</a:t>
            </a:r>
            <a:r>
              <a:rPr lang="en-US" baseline="0" dirty="0"/>
              <a:t> BM/ </a:t>
            </a:r>
            <a:r>
              <a:rPr lang="en-US" baseline="0" dirty="0" err="1"/>
              <a:t>Có</a:t>
            </a:r>
            <a:r>
              <a:rPr lang="en-US" baseline="0" dirty="0"/>
              <a:t> </a:t>
            </a:r>
            <a:r>
              <a:rPr lang="en-US" baseline="0" dirty="0" err="1"/>
              <a:t>cần</a:t>
            </a:r>
            <a:r>
              <a:rPr lang="en-US" baseline="0" dirty="0"/>
              <a:t> </a:t>
            </a:r>
            <a:r>
              <a:rPr lang="en-US" baseline="0" dirty="0" err="1"/>
              <a:t>thiết</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bộ</a:t>
            </a:r>
            <a:r>
              <a:rPr lang="en-US" baseline="0" dirty="0"/>
              <a:t> </a:t>
            </a:r>
            <a:r>
              <a:rPr lang="en-US" baseline="0" dirty="0" err="1"/>
              <a:t>nhớ</a:t>
            </a:r>
            <a:r>
              <a:rPr lang="en-US" baseline="0" dirty="0"/>
              <a:t> </a:t>
            </a:r>
            <a:r>
              <a:rPr lang="en-US" baseline="0" dirty="0" err="1"/>
              <a:t>ngoài</a:t>
            </a:r>
            <a:r>
              <a:rPr lang="en-US" baseline="0" dirty="0"/>
              <a:t> ko ?</a:t>
            </a:r>
          </a:p>
          <a:p>
            <a:endParaRPr lang="en-US" baseline="0" dirty="0"/>
          </a:p>
          <a:p>
            <a:r>
              <a:rPr lang="en-US" baseline="0" dirty="0"/>
              <a:t>       - How to Load &amp; Debug an application ?</a:t>
            </a:r>
          </a:p>
        </p:txBody>
      </p:sp>
      <p:sp>
        <p:nvSpPr>
          <p:cNvPr id="4" name="Slide Number Placeholder 3"/>
          <p:cNvSpPr>
            <a:spLocks noGrp="1"/>
          </p:cNvSpPr>
          <p:nvPr>
            <p:ph type="sldNum" sz="quarter" idx="5"/>
          </p:nvPr>
        </p:nvSpPr>
        <p:spPr/>
        <p:txBody>
          <a:bodyPr/>
          <a:lstStyle/>
          <a:p>
            <a:fld id="{2B3067B3-3AE6-DD4A-9E3D-C999AB3971A1}" type="slidenum">
              <a:rPr lang="en-US" smtClean="0"/>
              <a:t>5</a:t>
            </a:fld>
            <a:endParaRPr lang="en-US"/>
          </a:p>
        </p:txBody>
      </p:sp>
    </p:spTree>
    <p:extLst>
      <p:ext uri="{BB962C8B-B14F-4D97-AF65-F5344CB8AC3E}">
        <p14:creationId xmlns:p14="http://schemas.microsoft.com/office/powerpoint/2010/main" val="3878569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Topic </a:t>
            </a:r>
            <a:r>
              <a:rPr lang="en-US" baseline="0" dirty="0" err="1"/>
              <a:t>thảo</a:t>
            </a:r>
            <a:r>
              <a:rPr lang="en-US" baseline="0" dirty="0"/>
              <a:t> </a:t>
            </a:r>
            <a:r>
              <a:rPr lang="en-US" baseline="0" dirty="0" err="1"/>
              <a:t>luận</a:t>
            </a:r>
            <a:r>
              <a:rPr lang="en-US" baseline="0" dirty="0"/>
              <a:t>: Firmware </a:t>
            </a:r>
            <a:r>
              <a:rPr lang="en-US" baseline="0" dirty="0" err="1"/>
              <a:t>chạy</a:t>
            </a:r>
            <a:r>
              <a:rPr lang="en-US" baseline="0" dirty="0"/>
              <a:t> </a:t>
            </a:r>
            <a:r>
              <a:rPr lang="en-US" baseline="0" dirty="0" err="1"/>
              <a:t>như</a:t>
            </a:r>
            <a:r>
              <a:rPr lang="en-US" baseline="0" dirty="0"/>
              <a:t> </a:t>
            </a:r>
            <a:r>
              <a:rPr lang="en-US" baseline="0" dirty="0" err="1"/>
              <a:t>thế</a:t>
            </a:r>
            <a:r>
              <a:rPr lang="en-US" baseline="0" dirty="0"/>
              <a:t> </a:t>
            </a:r>
            <a:r>
              <a:rPr lang="en-US" baseline="0" dirty="0" err="1"/>
              <a:t>nào</a:t>
            </a:r>
            <a:r>
              <a:rPr lang="en-US" baseline="0" dirty="0"/>
              <a:t>?</a:t>
            </a:r>
          </a:p>
        </p:txBody>
      </p:sp>
      <p:sp>
        <p:nvSpPr>
          <p:cNvPr id="4" name="Slide Number Placeholder 3"/>
          <p:cNvSpPr>
            <a:spLocks noGrp="1"/>
          </p:cNvSpPr>
          <p:nvPr>
            <p:ph type="sldNum" sz="quarter" idx="5"/>
          </p:nvPr>
        </p:nvSpPr>
        <p:spPr/>
        <p:txBody>
          <a:bodyPr/>
          <a:lstStyle/>
          <a:p>
            <a:fld id="{2B3067B3-3AE6-DD4A-9E3D-C999AB3971A1}" type="slidenum">
              <a:rPr lang="en-US" smtClean="0"/>
              <a:t>6</a:t>
            </a:fld>
            <a:endParaRPr lang="en-US"/>
          </a:p>
        </p:txBody>
      </p:sp>
    </p:spTree>
    <p:extLst>
      <p:ext uri="{BB962C8B-B14F-4D97-AF65-F5344CB8AC3E}">
        <p14:creationId xmlns:p14="http://schemas.microsoft.com/office/powerpoint/2010/main" val="2784940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Topic </a:t>
            </a:r>
            <a:r>
              <a:rPr lang="en-US" baseline="0" dirty="0" err="1"/>
              <a:t>thảo</a:t>
            </a:r>
            <a:r>
              <a:rPr lang="en-US" baseline="0" dirty="0"/>
              <a:t> </a:t>
            </a:r>
            <a:r>
              <a:rPr lang="en-US" baseline="0" dirty="0" err="1"/>
              <a:t>luận</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phần</a:t>
            </a:r>
            <a:r>
              <a:rPr lang="en-US" baseline="0" dirty="0"/>
              <a:t> </a:t>
            </a:r>
            <a:r>
              <a:rPr lang="en-US" baseline="0" dirty="0" err="1"/>
              <a:t>cơ</a:t>
            </a:r>
            <a:r>
              <a:rPr lang="en-US" baseline="0" dirty="0"/>
              <a:t> </a:t>
            </a:r>
            <a:r>
              <a:rPr lang="en-US" baseline="0" dirty="0" err="1"/>
              <a:t>bản</a:t>
            </a:r>
            <a:r>
              <a:rPr lang="en-US" baseline="0" dirty="0"/>
              <a:t> </a:t>
            </a:r>
            <a:r>
              <a:rPr lang="en-US" baseline="0" dirty="0" err="1"/>
              <a:t>của</a:t>
            </a:r>
            <a:r>
              <a:rPr lang="en-US" baseline="0" dirty="0"/>
              <a:t> 1 firmware</a:t>
            </a:r>
          </a:p>
          <a:p>
            <a:pPr marL="171450" indent="-171450">
              <a:buFontTx/>
              <a:buChar char="-"/>
            </a:pPr>
            <a:endParaRPr lang="en-US" baseline="0" dirty="0"/>
          </a:p>
          <a:p>
            <a:pPr marL="0" indent="0">
              <a:buFontTx/>
              <a:buNone/>
            </a:pPr>
            <a:r>
              <a:rPr lang="en-US" b="1" baseline="0" dirty="0"/>
              <a:t>Reset vector </a:t>
            </a:r>
            <a:r>
              <a:rPr lang="en-US" baseline="0" dirty="0"/>
              <a:t>– </a:t>
            </a:r>
            <a:r>
              <a:rPr lang="en-US" baseline="0" dirty="0" err="1"/>
              <a:t>Là</a:t>
            </a:r>
            <a:r>
              <a:rPr lang="en-US" baseline="0" dirty="0"/>
              <a:t> </a:t>
            </a:r>
            <a:r>
              <a:rPr lang="en-US" baseline="0" dirty="0" err="1"/>
              <a:t>điểm</a:t>
            </a:r>
            <a:r>
              <a:rPr lang="en-US" baseline="0" dirty="0"/>
              <a:t> </a:t>
            </a:r>
            <a:r>
              <a:rPr lang="en-US" baseline="0" dirty="0" err="1"/>
              <a:t>bắt</a:t>
            </a:r>
            <a:r>
              <a:rPr lang="en-US" baseline="0" dirty="0"/>
              <a:t> </a:t>
            </a:r>
            <a:r>
              <a:rPr lang="en-US" baseline="0" dirty="0" err="1"/>
              <a:t>đầu</a:t>
            </a:r>
            <a:r>
              <a:rPr lang="en-US" baseline="0" dirty="0"/>
              <a:t> </a:t>
            </a:r>
            <a:r>
              <a:rPr lang="en-US" baseline="0" dirty="0" err="1"/>
              <a:t>của</a:t>
            </a:r>
            <a:r>
              <a:rPr lang="en-US" baseline="0" dirty="0"/>
              <a:t> processor </a:t>
            </a:r>
            <a:r>
              <a:rPr lang="en-US" baseline="0" dirty="0" err="1"/>
              <a:t>khi</a:t>
            </a:r>
            <a:r>
              <a:rPr lang="en-US" baseline="0" dirty="0"/>
              <a:t> power-on or reset. </a:t>
            </a:r>
            <a:r>
              <a:rPr lang="en-US" baseline="0" dirty="0" err="1"/>
              <a:t>Một</a:t>
            </a:r>
            <a:r>
              <a:rPr lang="en-US" baseline="0" dirty="0"/>
              <a:t> </a:t>
            </a:r>
            <a:r>
              <a:rPr lang="en-US" baseline="0" dirty="0" err="1"/>
              <a:t>số</a:t>
            </a:r>
            <a:r>
              <a:rPr lang="en-US" baseline="0" dirty="0"/>
              <a:t> </a:t>
            </a:r>
            <a:r>
              <a:rPr lang="en-US" baseline="0" dirty="0" err="1"/>
              <a:t>dòng</a:t>
            </a:r>
            <a:r>
              <a:rPr lang="en-US" baseline="0" dirty="0"/>
              <a:t> </a:t>
            </a:r>
            <a:r>
              <a:rPr lang="en-US" baseline="0" dirty="0" err="1"/>
              <a:t>có</a:t>
            </a:r>
            <a:r>
              <a:rPr lang="en-US" baseline="0" dirty="0"/>
              <a:t> </a:t>
            </a:r>
            <a:r>
              <a:rPr lang="en-US" baseline="0" dirty="0" err="1"/>
              <a:t>thể</a:t>
            </a:r>
            <a:r>
              <a:rPr lang="en-US" baseline="0" dirty="0"/>
              <a:t> support hardware-code </a:t>
            </a:r>
            <a:r>
              <a:rPr lang="en-US" baseline="0" dirty="0" err="1"/>
              <a:t>để</a:t>
            </a:r>
            <a:r>
              <a:rPr lang="en-US" baseline="0" dirty="0"/>
              <a:t> </a:t>
            </a:r>
            <a:r>
              <a:rPr lang="en-US" baseline="0" dirty="0" err="1"/>
              <a:t>khởi</a:t>
            </a:r>
            <a:r>
              <a:rPr lang="en-US" baseline="0" dirty="0"/>
              <a:t> </a:t>
            </a:r>
            <a:r>
              <a:rPr lang="en-US" baseline="0" dirty="0" err="1"/>
              <a:t>tạo</a:t>
            </a:r>
            <a:r>
              <a:rPr lang="en-US" baseline="0" dirty="0"/>
              <a:t> </a:t>
            </a:r>
            <a:r>
              <a:rPr lang="en-US" baseline="0" dirty="0" err="1"/>
              <a:t>trạng</a:t>
            </a:r>
            <a:r>
              <a:rPr lang="en-US" baseline="0" dirty="0"/>
              <a:t> </a:t>
            </a:r>
            <a:r>
              <a:rPr lang="en-US" baseline="0" dirty="0" err="1"/>
              <a:t>thái</a:t>
            </a:r>
            <a:r>
              <a:rPr lang="en-US" baseline="0" dirty="0"/>
              <a:t> </a:t>
            </a:r>
            <a:r>
              <a:rPr lang="en-US" baseline="0" dirty="0" err="1"/>
              <a:t>của</a:t>
            </a:r>
            <a:r>
              <a:rPr lang="en-US" baseline="0" dirty="0"/>
              <a:t> vi </a:t>
            </a:r>
            <a:r>
              <a:rPr lang="en-US" baseline="0" dirty="0" err="1"/>
              <a:t>xử</a:t>
            </a:r>
            <a:r>
              <a:rPr lang="en-US" baseline="0" dirty="0"/>
              <a:t> </a:t>
            </a:r>
            <a:r>
              <a:rPr lang="en-US" baseline="0" dirty="0" err="1"/>
              <a:t>lý</a:t>
            </a:r>
            <a:r>
              <a:rPr lang="en-US" baseline="0" dirty="0"/>
              <a:t>/ </a:t>
            </a:r>
            <a:r>
              <a:rPr lang="en-US" baseline="0" dirty="0" err="1"/>
              <a:t>Còn</a:t>
            </a:r>
            <a:r>
              <a:rPr lang="en-US" baseline="0" dirty="0"/>
              <a:t> </a:t>
            </a:r>
            <a:r>
              <a:rPr lang="en-US" baseline="0" dirty="0" err="1"/>
              <a:t>đa</a:t>
            </a:r>
            <a:r>
              <a:rPr lang="en-US" baseline="0" dirty="0"/>
              <a:t> </a:t>
            </a:r>
            <a:r>
              <a:rPr lang="en-US" baseline="0" dirty="0" err="1"/>
              <a:t>phần</a:t>
            </a:r>
            <a:r>
              <a:rPr lang="en-US" baseline="0" dirty="0"/>
              <a:t> </a:t>
            </a:r>
            <a:r>
              <a:rPr lang="en-US" baseline="0" dirty="0" err="1"/>
              <a:t>thì</a:t>
            </a:r>
            <a:r>
              <a:rPr lang="en-US" baseline="0" dirty="0"/>
              <a:t> reset vector </a:t>
            </a:r>
            <a:r>
              <a:rPr lang="en-US" baseline="0" dirty="0" err="1"/>
              <a:t>sẽ</a:t>
            </a:r>
            <a:r>
              <a:rPr lang="en-US" baseline="0" dirty="0"/>
              <a:t> </a:t>
            </a:r>
            <a:r>
              <a:rPr lang="en-US" baseline="0" dirty="0" err="1"/>
              <a:t>trỏ</a:t>
            </a:r>
            <a:r>
              <a:rPr lang="en-US" baseline="0" dirty="0"/>
              <a:t> </a:t>
            </a:r>
            <a:r>
              <a:rPr lang="en-US" baseline="0" dirty="0" err="1"/>
              <a:t>đến</a:t>
            </a:r>
            <a:r>
              <a:rPr lang="en-US" baseline="0" dirty="0"/>
              <a:t> start-up code.</a:t>
            </a:r>
          </a:p>
          <a:p>
            <a:pPr marL="0" indent="0">
              <a:buFontTx/>
              <a:buNone/>
            </a:pPr>
            <a:endParaRPr lang="en-US" baseline="0" dirty="0"/>
          </a:p>
          <a:p>
            <a:pPr marL="0" indent="0">
              <a:buFontTx/>
              <a:buNone/>
            </a:pPr>
            <a:r>
              <a:rPr lang="en-US" b="1" baseline="0" dirty="0"/>
              <a:t>Startup code </a:t>
            </a:r>
            <a:r>
              <a:rPr lang="en-US" baseline="0" dirty="0"/>
              <a:t>– </a:t>
            </a:r>
            <a:r>
              <a:rPr lang="en-US" baseline="0" dirty="0" err="1"/>
              <a:t>Là</a:t>
            </a:r>
            <a:r>
              <a:rPr lang="en-US" baseline="0" dirty="0"/>
              <a:t> </a:t>
            </a:r>
            <a:r>
              <a:rPr lang="en-US" baseline="0" dirty="0" err="1"/>
              <a:t>phần</a:t>
            </a:r>
            <a:r>
              <a:rPr lang="en-US" baseline="0" dirty="0"/>
              <a:t> </a:t>
            </a:r>
            <a:r>
              <a:rPr lang="en-US" baseline="0" dirty="0" err="1"/>
              <a:t>chương</a:t>
            </a:r>
            <a:r>
              <a:rPr lang="en-US" baseline="0" dirty="0"/>
              <a:t> </a:t>
            </a:r>
            <a:r>
              <a:rPr lang="en-US" baseline="0" dirty="0" err="1"/>
              <a:t>trình</a:t>
            </a:r>
            <a:r>
              <a:rPr lang="en-US" baseline="0" dirty="0"/>
              <a:t> </a:t>
            </a:r>
            <a:r>
              <a:rPr lang="en-US" baseline="0" dirty="0" err="1"/>
              <a:t>chạy</a:t>
            </a:r>
            <a:r>
              <a:rPr lang="en-US" baseline="0" dirty="0"/>
              <a:t> </a:t>
            </a:r>
            <a:r>
              <a:rPr lang="en-US" baseline="0" dirty="0" err="1"/>
              <a:t>đầu</a:t>
            </a:r>
            <a:r>
              <a:rPr lang="en-US" baseline="0" dirty="0"/>
              <a:t> </a:t>
            </a:r>
            <a:r>
              <a:rPr lang="en-US" baseline="0" dirty="0" err="1"/>
              <a:t>tiên</a:t>
            </a:r>
            <a:r>
              <a:rPr lang="en-US" baseline="0" dirty="0"/>
              <a:t>, </a:t>
            </a:r>
            <a:r>
              <a:rPr lang="en-US" baseline="0" dirty="0" err="1"/>
              <a:t>có</a:t>
            </a:r>
            <a:r>
              <a:rPr lang="en-US" baseline="0" dirty="0"/>
              <a:t> </a:t>
            </a:r>
            <a:r>
              <a:rPr lang="en-US" baseline="0" dirty="0" err="1"/>
              <a:t>nhiệm</a:t>
            </a:r>
            <a:r>
              <a:rPr lang="en-US" baseline="0" dirty="0"/>
              <a:t> </a:t>
            </a:r>
            <a:r>
              <a:rPr lang="en-US" baseline="0" dirty="0" err="1"/>
              <a:t>vụ</a:t>
            </a:r>
            <a:r>
              <a:rPr lang="en-US" baseline="0" dirty="0"/>
              <a:t> setup </a:t>
            </a:r>
            <a:r>
              <a:rPr lang="en-US" baseline="0" dirty="0" err="1"/>
              <a:t>môi</a:t>
            </a:r>
            <a:r>
              <a:rPr lang="en-US" baseline="0" dirty="0"/>
              <a:t> </a:t>
            </a:r>
            <a:r>
              <a:rPr lang="en-US" baseline="0" dirty="0" err="1"/>
              <a:t>trường</a:t>
            </a:r>
            <a:r>
              <a:rPr lang="en-US" baseline="0" dirty="0"/>
              <a:t>, </a:t>
            </a:r>
            <a:r>
              <a:rPr lang="en-US" baseline="0" dirty="0" err="1"/>
              <a:t>khởi</a:t>
            </a:r>
            <a:r>
              <a:rPr lang="en-US" baseline="0" dirty="0"/>
              <a:t> </a:t>
            </a:r>
            <a:r>
              <a:rPr lang="en-US" baseline="0" dirty="0" err="1"/>
              <a:t>tạo</a:t>
            </a:r>
            <a:r>
              <a:rPr lang="en-US" baseline="0" dirty="0"/>
              <a:t> </a:t>
            </a:r>
            <a:r>
              <a:rPr lang="en-US" baseline="0" dirty="0" err="1"/>
              <a:t>các</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của</a:t>
            </a:r>
            <a:r>
              <a:rPr lang="en-US" baseline="0" dirty="0"/>
              <a:t> processor, setup/define heap &amp; stack. </a:t>
            </a:r>
            <a:r>
              <a:rPr lang="en-US" baseline="0" dirty="0" err="1"/>
              <a:t>Khởi</a:t>
            </a:r>
            <a:r>
              <a:rPr lang="en-US" baseline="0" dirty="0"/>
              <a:t> </a:t>
            </a:r>
            <a:r>
              <a:rPr lang="en-US" baseline="0" dirty="0" err="1"/>
              <a:t>tạo</a:t>
            </a:r>
            <a:r>
              <a:rPr lang="en-US" baseline="0" dirty="0"/>
              <a:t> </a:t>
            </a:r>
            <a:r>
              <a:rPr lang="en-US" baseline="0" dirty="0" err="1"/>
              <a:t>các</a:t>
            </a:r>
            <a:r>
              <a:rPr lang="en-US" baseline="0" dirty="0"/>
              <a:t> </a:t>
            </a:r>
            <a:r>
              <a:rPr lang="en-US" baseline="0" dirty="0" err="1"/>
              <a:t>biến</a:t>
            </a:r>
            <a:r>
              <a:rPr lang="en-US" baseline="0" dirty="0"/>
              <a:t> </a:t>
            </a:r>
            <a:r>
              <a:rPr lang="en-US" baseline="0" dirty="0" err="1"/>
              <a:t>được</a:t>
            </a:r>
            <a:r>
              <a:rPr lang="en-US" baseline="0" dirty="0"/>
              <a:t> </a:t>
            </a:r>
            <a:r>
              <a:rPr lang="en-US" baseline="0" dirty="0" err="1"/>
              <a:t>gán</a:t>
            </a:r>
            <a:r>
              <a:rPr lang="en-US" baseline="0" dirty="0"/>
              <a:t> </a:t>
            </a:r>
            <a:r>
              <a:rPr lang="en-US" baseline="0" dirty="0" err="1"/>
              <a:t>giá</a:t>
            </a:r>
            <a:r>
              <a:rPr lang="en-US" baseline="0" dirty="0"/>
              <a:t> </a:t>
            </a:r>
            <a:r>
              <a:rPr lang="en-US" baseline="0" dirty="0" err="1"/>
              <a:t>trị</a:t>
            </a:r>
            <a:r>
              <a:rPr lang="en-US" baseline="0" dirty="0"/>
              <a:t> </a:t>
            </a:r>
            <a:r>
              <a:rPr lang="en-US" baseline="0" dirty="0" err="1"/>
              <a:t>đầu</a:t>
            </a:r>
            <a:r>
              <a:rPr lang="en-US" baseline="0" dirty="0"/>
              <a:t>, clear </a:t>
            </a:r>
            <a:r>
              <a:rPr lang="en-US" baseline="0" dirty="0" err="1"/>
              <a:t>các</a:t>
            </a:r>
            <a:r>
              <a:rPr lang="en-US" baseline="0" dirty="0"/>
              <a:t> </a:t>
            </a:r>
            <a:r>
              <a:rPr lang="en-US" baseline="0" dirty="0" err="1"/>
              <a:t>vùng</a:t>
            </a:r>
            <a:r>
              <a:rPr lang="en-US" baseline="0" dirty="0"/>
              <a:t> </a:t>
            </a:r>
            <a:r>
              <a:rPr lang="en-US" baseline="0" dirty="0" err="1"/>
              <a:t>nhớ</a:t>
            </a:r>
            <a:r>
              <a:rPr lang="en-US" baseline="0" dirty="0"/>
              <a:t> </a:t>
            </a:r>
            <a:r>
              <a:rPr lang="en-US" baseline="0" dirty="0" err="1"/>
              <a:t>còn</a:t>
            </a:r>
            <a:r>
              <a:rPr lang="en-US" baseline="0" dirty="0"/>
              <a:t> </a:t>
            </a:r>
            <a:r>
              <a:rPr lang="en-US" baseline="0" dirty="0" err="1"/>
              <a:t>lại</a:t>
            </a:r>
            <a:r>
              <a:rPr lang="en-US" baseline="0" dirty="0"/>
              <a:t>. Sau </a:t>
            </a:r>
            <a:r>
              <a:rPr lang="en-US" baseline="0" dirty="0" err="1"/>
              <a:t>đó</a:t>
            </a:r>
            <a:r>
              <a:rPr lang="en-US" baseline="0" dirty="0"/>
              <a:t> </a:t>
            </a:r>
            <a:r>
              <a:rPr lang="en-US" baseline="0" dirty="0" err="1"/>
              <a:t>sẽ</a:t>
            </a:r>
            <a:r>
              <a:rPr lang="en-US" baseline="0" dirty="0"/>
              <a:t> call _main() function. (</a:t>
            </a:r>
            <a:r>
              <a:rPr lang="en-US" baseline="0" dirty="0" err="1"/>
              <a:t>Thường</a:t>
            </a:r>
            <a:r>
              <a:rPr lang="en-US" baseline="0" dirty="0"/>
              <a:t> start-up code </a:t>
            </a:r>
            <a:r>
              <a:rPr lang="en-US" baseline="0" dirty="0" err="1"/>
              <a:t>được</a:t>
            </a:r>
            <a:r>
              <a:rPr lang="en-US" baseline="0" dirty="0"/>
              <a:t> </a:t>
            </a:r>
            <a:r>
              <a:rPr lang="en-US" baseline="0" dirty="0" err="1"/>
              <a:t>cung</a:t>
            </a:r>
            <a:r>
              <a:rPr lang="en-US" baseline="0" dirty="0"/>
              <a:t> </a:t>
            </a:r>
            <a:r>
              <a:rPr lang="en-US" baseline="0" dirty="0" err="1"/>
              <a:t>cấp</a:t>
            </a:r>
            <a:r>
              <a:rPr lang="en-US" baseline="0" dirty="0"/>
              <a:t> </a:t>
            </a:r>
            <a:r>
              <a:rPr lang="en-US" baseline="0" dirty="0" err="1"/>
              <a:t>bởi</a:t>
            </a:r>
            <a:r>
              <a:rPr lang="en-US" baseline="0" dirty="0"/>
              <a:t> </a:t>
            </a:r>
            <a:r>
              <a:rPr lang="en-US" baseline="0" dirty="0" err="1"/>
              <a:t>hãng</a:t>
            </a:r>
            <a:r>
              <a:rPr lang="en-US" baseline="0" dirty="0"/>
              <a:t>)</a:t>
            </a:r>
          </a:p>
          <a:p>
            <a:pPr marL="0" indent="0">
              <a:buFontTx/>
              <a:buNone/>
            </a:pPr>
            <a:endParaRPr lang="en-US" baseline="0" dirty="0"/>
          </a:p>
          <a:p>
            <a:pPr marL="0" indent="0">
              <a:buFontTx/>
              <a:buNone/>
            </a:pPr>
            <a:r>
              <a:rPr lang="en-US" b="1" baseline="0" dirty="0"/>
              <a:t>Application code </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của</a:t>
            </a:r>
            <a:r>
              <a:rPr lang="en-US" baseline="0" dirty="0"/>
              <a:t> </a:t>
            </a:r>
            <a:r>
              <a:rPr lang="en-US" baseline="0" dirty="0" err="1"/>
              <a:t>lập</a:t>
            </a:r>
            <a:r>
              <a:rPr lang="en-US" baseline="0" dirty="0"/>
              <a:t> </a:t>
            </a:r>
            <a:r>
              <a:rPr lang="en-US" baseline="0" dirty="0" err="1"/>
              <a:t>trình</a:t>
            </a:r>
            <a:r>
              <a:rPr lang="en-US" baseline="0" dirty="0"/>
              <a:t> </a:t>
            </a:r>
            <a:r>
              <a:rPr lang="en-US" baseline="0" dirty="0" err="1"/>
              <a:t>viên</a:t>
            </a:r>
            <a:r>
              <a:rPr lang="en-US" baseline="0" dirty="0"/>
              <a:t>. </a:t>
            </a:r>
            <a:r>
              <a:rPr lang="en-US" baseline="0" dirty="0" err="1"/>
              <a:t>Thường</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này</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triển</a:t>
            </a:r>
            <a:r>
              <a:rPr lang="en-US" baseline="0" dirty="0"/>
              <a:t> = </a:t>
            </a:r>
            <a:r>
              <a:rPr lang="en-US" baseline="0" dirty="0" err="1"/>
              <a:t>asm</a:t>
            </a:r>
            <a:r>
              <a:rPr lang="en-US" baseline="0" dirty="0"/>
              <a:t>, C or C++.</a:t>
            </a:r>
          </a:p>
          <a:p>
            <a:pPr marL="0" indent="0">
              <a:buFontTx/>
              <a:buNone/>
            </a:pPr>
            <a:r>
              <a:rPr lang="en-US" baseline="0" dirty="0">
                <a:sym typeface="Wingdings" panose="05000000000000000000" pitchFamily="2" charset="2"/>
              </a:rPr>
              <a:t> topic: </a:t>
            </a:r>
            <a:r>
              <a:rPr lang="en-US" baseline="0" dirty="0" err="1">
                <a:sym typeface="Wingdings" panose="05000000000000000000" pitchFamily="2" charset="2"/>
              </a:rPr>
              <a:t>Ưu</a:t>
            </a:r>
            <a:r>
              <a:rPr lang="en-US" baseline="0" dirty="0">
                <a:sym typeface="Wingdings" panose="05000000000000000000" pitchFamily="2" charset="2"/>
              </a:rPr>
              <a:t> </a:t>
            </a:r>
            <a:r>
              <a:rPr lang="en-US" baseline="0" dirty="0" err="1">
                <a:sym typeface="Wingdings" panose="05000000000000000000" pitchFamily="2" charset="2"/>
              </a:rPr>
              <a:t>nhược</a:t>
            </a:r>
            <a:r>
              <a:rPr lang="en-US" baseline="0" dirty="0">
                <a:sym typeface="Wingdings" panose="05000000000000000000" pitchFamily="2" charset="2"/>
              </a:rPr>
              <a:t> </a:t>
            </a:r>
            <a:r>
              <a:rPr lang="en-US" baseline="0" dirty="0" err="1">
                <a:sym typeface="Wingdings" panose="05000000000000000000" pitchFamily="2" charset="2"/>
              </a:rPr>
              <a:t>điểm</a:t>
            </a:r>
            <a:r>
              <a:rPr lang="en-US" baseline="0" dirty="0">
                <a:sym typeface="Wingdings" panose="05000000000000000000" pitchFamily="2" charset="2"/>
              </a:rPr>
              <a:t> </a:t>
            </a:r>
            <a:r>
              <a:rPr lang="en-US" baseline="0" dirty="0" err="1">
                <a:sym typeface="Wingdings" panose="05000000000000000000" pitchFamily="2" charset="2"/>
              </a:rPr>
              <a:t>của</a:t>
            </a:r>
            <a:r>
              <a:rPr lang="en-US" baseline="0" dirty="0">
                <a:sym typeface="Wingdings" panose="05000000000000000000" pitchFamily="2" charset="2"/>
              </a:rPr>
              <a:t> </a:t>
            </a:r>
            <a:r>
              <a:rPr lang="en-US" baseline="0" dirty="0" err="1">
                <a:sym typeface="Wingdings" panose="05000000000000000000" pitchFamily="2" charset="2"/>
              </a:rPr>
              <a:t>từng</a:t>
            </a:r>
            <a:r>
              <a:rPr lang="en-US" baseline="0" dirty="0">
                <a:sym typeface="Wingdings" panose="05000000000000000000" pitchFamily="2" charset="2"/>
              </a:rPr>
              <a:t> </a:t>
            </a:r>
            <a:r>
              <a:rPr lang="en-US" baseline="0" dirty="0" err="1">
                <a:sym typeface="Wingdings" panose="05000000000000000000" pitchFamily="2" charset="2"/>
              </a:rPr>
              <a:t>ngôn</a:t>
            </a:r>
            <a:r>
              <a:rPr lang="en-US" baseline="0" dirty="0">
                <a:sym typeface="Wingdings" panose="05000000000000000000" pitchFamily="2" charset="2"/>
              </a:rPr>
              <a:t> </a:t>
            </a:r>
            <a:r>
              <a:rPr lang="en-US" baseline="0" dirty="0" err="1">
                <a:sym typeface="Wingdings" panose="05000000000000000000" pitchFamily="2" charset="2"/>
              </a:rPr>
              <a:t>ngữ</a:t>
            </a:r>
            <a:r>
              <a:rPr lang="en-US" baseline="0" dirty="0">
                <a:sym typeface="Wingdings" panose="05000000000000000000" pitchFamily="2" charset="2"/>
              </a:rPr>
              <a:t>.</a:t>
            </a:r>
            <a:endParaRPr lang="en-US" baseline="0" dirty="0"/>
          </a:p>
          <a:p>
            <a:pPr marL="0" indent="0">
              <a:buFontTx/>
              <a:buNone/>
            </a:pPr>
            <a:endParaRPr lang="en-US" baseline="0" dirty="0"/>
          </a:p>
          <a:p>
            <a:pPr fontAlgn="base"/>
            <a:r>
              <a:rPr lang="en-US" sz="1200" b="1" i="0" kern="1200" dirty="0">
                <a:solidFill>
                  <a:schemeClr val="tx1"/>
                </a:solidFill>
                <a:effectLst/>
                <a:latin typeface="+mn-lt"/>
                <a:ea typeface="+mn-ea"/>
                <a:cs typeface="+mn-cs"/>
              </a:rPr>
              <a:t>Libraries</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tập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thư</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cung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cấp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bởi</a:t>
            </a:r>
            <a:r>
              <a:rPr lang="en-US" sz="1200" b="0" i="0" kern="1200" baseline="0" dirty="0">
                <a:solidFill>
                  <a:schemeClr val="tx1"/>
                </a:solidFill>
                <a:effectLst/>
                <a:latin typeface="+mn-lt"/>
                <a:ea typeface="+mn-ea"/>
                <a:cs typeface="+mn-cs"/>
              </a:rPr>
              <a:t> compiler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hàm</a:t>
            </a:r>
            <a:r>
              <a:rPr lang="en-US" sz="1200" b="0" i="0" kern="1200" baseline="0" dirty="0">
                <a:solidFill>
                  <a:schemeClr val="tx1"/>
                </a:solidFill>
                <a:effectLst/>
                <a:latin typeface="+mn-lt"/>
                <a:ea typeface="+mn-ea"/>
                <a:cs typeface="+mn-cs"/>
              </a:rPr>
              <a:t> primitive C/lib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xử</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lý</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số</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tín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hoặc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thư</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của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sản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xuất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phát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triển</a:t>
            </a:r>
            <a:r>
              <a:rPr lang="en-US" sz="1200" b="0" i="0" kern="1200" baseline="0" dirty="0">
                <a:solidFill>
                  <a:schemeClr val="tx1"/>
                </a:solidFill>
                <a:effectLst/>
                <a:latin typeface="+mn-lt"/>
                <a:ea typeface="+mn-ea"/>
                <a:cs typeface="+mn-cs"/>
              </a:rPr>
              <a:t> (device driver)</a:t>
            </a:r>
            <a:endParaRPr lang="en-US" sz="1200" b="0" i="0" kern="1200" dirty="0">
              <a:solidFill>
                <a:schemeClr val="tx1"/>
              </a:solidFill>
              <a:effectLst/>
              <a:latin typeface="+mn-lt"/>
              <a:ea typeface="+mn-ea"/>
              <a:cs typeface="+mn-cs"/>
            </a:endParaRPr>
          </a:p>
          <a:p>
            <a:pPr fontAlgn="base"/>
            <a:endParaRPr lang="en-US" sz="1200" b="1" i="0" u="none" strike="noStrike"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Interrupt/Exception handler </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đoạn</a:t>
            </a:r>
            <a:r>
              <a:rPr lang="en-US" sz="1200" b="0" i="0" kern="1200" baseline="0" dirty="0">
                <a:solidFill>
                  <a:schemeClr val="tx1"/>
                </a:solidFill>
                <a:effectLst/>
                <a:latin typeface="+mn-lt"/>
                <a:ea typeface="+mn-ea"/>
                <a:cs typeface="+mn-cs"/>
              </a:rPr>
              <a:t> code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viết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phục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vụ</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chạy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ngay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sự</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trigger </a:t>
            </a:r>
            <a:r>
              <a:rPr lang="en-US" sz="1200" b="0" i="0" kern="1200" baseline="0" dirty="0" err="1">
                <a:solidFill>
                  <a:schemeClr val="tx1"/>
                </a:solidFill>
                <a:effectLst/>
                <a:latin typeface="+mn-lt"/>
                <a:ea typeface="+mn-ea"/>
                <a:cs typeface="+mn-cs"/>
              </a:rPr>
              <a:t>bởi</a:t>
            </a:r>
            <a:r>
              <a:rPr lang="en-US" sz="1200" b="0" i="0" kern="1200" baseline="0" dirty="0">
                <a:solidFill>
                  <a:schemeClr val="tx1"/>
                </a:solidFill>
                <a:effectLst/>
                <a:latin typeface="+mn-lt"/>
                <a:ea typeface="+mn-ea"/>
                <a:cs typeface="+mn-cs"/>
              </a:rPr>
              <a:t> hardware (sometimes: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do software).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sự</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này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thường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xảy</a:t>
            </a:r>
            <a:r>
              <a:rPr lang="en-US" sz="1200" b="0" i="0" kern="1200" baseline="0" dirty="0">
                <a:solidFill>
                  <a:schemeClr val="tx1"/>
                </a:solidFill>
                <a:effectLst/>
                <a:latin typeface="+mn-lt"/>
                <a:ea typeface="+mn-ea"/>
                <a:cs typeface="+mn-cs"/>
              </a:rPr>
              <a:t> ra </a:t>
            </a:r>
            <a:r>
              <a:rPr lang="en-US" sz="1200" b="0" i="0" kern="1200" baseline="0" dirty="0" err="1">
                <a:solidFill>
                  <a:schemeClr val="tx1"/>
                </a:solidFill>
                <a:effectLst/>
                <a:latin typeface="+mn-lt"/>
                <a:ea typeface="+mn-ea"/>
                <a:cs typeface="+mn-cs"/>
              </a:rPr>
              <a:t>ngẫu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nhiên</a:t>
            </a:r>
            <a:r>
              <a:rPr lang="en-US" sz="1200" b="0" i="0" kern="1200" baseline="0" dirty="0">
                <a:solidFill>
                  <a:schemeClr val="tx1"/>
                </a:solidFill>
                <a:effectLst/>
                <a:latin typeface="+mn-lt"/>
                <a:ea typeface="+mn-ea"/>
                <a:cs typeface="+mn-cs"/>
              </a:rPr>
              <a:t>.</a:t>
            </a:r>
          </a:p>
          <a:p>
            <a:pPr marL="171450" indent="-171450" fontAlgn="base">
              <a:buFont typeface="Wingdings"/>
              <a:buChar char="à"/>
            </a:pPr>
            <a:r>
              <a:rPr lang="en-US" sz="1200" b="0" i="0" kern="1200" baseline="0" dirty="0" err="1">
                <a:solidFill>
                  <a:schemeClr val="tx1"/>
                </a:solidFill>
                <a:effectLst/>
                <a:latin typeface="+mn-lt"/>
                <a:ea typeface="+mn-ea"/>
                <a:cs typeface="+mn-cs"/>
                <a:sym typeface="Wingdings" panose="05000000000000000000" pitchFamily="2" charset="2"/>
              </a:rPr>
              <a:t>Giới</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thiệu</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khái</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niệm</a:t>
            </a:r>
            <a:r>
              <a:rPr lang="en-US" sz="1200" b="0" i="0" kern="1200" baseline="0" dirty="0">
                <a:solidFill>
                  <a:schemeClr val="tx1"/>
                </a:solidFill>
                <a:effectLst/>
                <a:latin typeface="+mn-lt"/>
                <a:ea typeface="+mn-ea"/>
                <a:cs typeface="+mn-cs"/>
                <a:sym typeface="Wingdings" panose="05000000000000000000" pitchFamily="2" charset="2"/>
              </a:rPr>
              <a:t>: interrupt latency/ interrupt time .</a:t>
            </a:r>
          </a:p>
          <a:p>
            <a:pPr marL="171450" indent="-171450" fontAlgn="base">
              <a:buFont typeface="Wingdings"/>
              <a:buChar char="à"/>
            </a:pPr>
            <a:r>
              <a:rPr lang="en-US" sz="1200" b="0" i="0" kern="1200" baseline="0" dirty="0">
                <a:solidFill>
                  <a:schemeClr val="tx1"/>
                </a:solidFill>
                <a:effectLst/>
                <a:latin typeface="+mn-lt"/>
                <a:ea typeface="+mn-ea"/>
                <a:cs typeface="+mn-cs"/>
                <a:sym typeface="Wingdings" panose="05000000000000000000" pitchFamily="2" charset="2"/>
              </a:rPr>
              <a:t>Topic:  </a:t>
            </a:r>
            <a:r>
              <a:rPr lang="en-US" sz="1200" b="0" i="0" kern="1200" baseline="0" dirty="0" err="1">
                <a:solidFill>
                  <a:schemeClr val="tx1"/>
                </a:solidFill>
                <a:effectLst/>
                <a:latin typeface="+mn-lt"/>
                <a:ea typeface="+mn-ea"/>
                <a:cs typeface="+mn-cs"/>
                <a:sym typeface="Wingdings" panose="05000000000000000000" pitchFamily="2" charset="2"/>
              </a:rPr>
              <a:t>Tiêu</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chí</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của</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Hàm</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phục</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vụ</a:t>
            </a:r>
            <a:r>
              <a:rPr lang="en-US" sz="1200" b="0" i="0" kern="1200" baseline="0" dirty="0">
                <a:solidFill>
                  <a:schemeClr val="tx1"/>
                </a:solidFill>
                <a:effectLst/>
                <a:latin typeface="+mn-lt"/>
                <a:ea typeface="+mn-ea"/>
                <a:cs typeface="+mn-cs"/>
                <a:sym typeface="Wingdings" panose="05000000000000000000" pitchFamily="2" charset="2"/>
              </a:rPr>
              <a:t> </a:t>
            </a:r>
            <a:r>
              <a:rPr lang="en-US" sz="1200" b="0" i="0" kern="1200" baseline="0" dirty="0" err="1">
                <a:solidFill>
                  <a:schemeClr val="tx1"/>
                </a:solidFill>
                <a:effectLst/>
                <a:latin typeface="+mn-lt"/>
                <a:ea typeface="+mn-ea"/>
                <a:cs typeface="+mn-cs"/>
                <a:sym typeface="Wingdings" panose="05000000000000000000" pitchFamily="2" charset="2"/>
              </a:rPr>
              <a:t>ngắt</a:t>
            </a:r>
            <a:r>
              <a:rPr lang="en-US" sz="1200" b="0" i="0" kern="1200" baseline="0" dirty="0">
                <a:solidFill>
                  <a:schemeClr val="tx1"/>
                </a:solidFill>
                <a:effectLst/>
                <a:latin typeface="+mn-lt"/>
                <a:ea typeface="+mn-ea"/>
                <a:cs typeface="+mn-cs"/>
                <a:sym typeface="Wingdings" panose="05000000000000000000" pitchFamily="2" charset="2"/>
              </a:rPr>
              <a:t>.</a:t>
            </a:r>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7</a:t>
            </a:fld>
            <a:endParaRPr lang="en-US"/>
          </a:p>
        </p:txBody>
      </p:sp>
    </p:spTree>
    <p:extLst>
      <p:ext uri="{BB962C8B-B14F-4D97-AF65-F5344CB8AC3E}">
        <p14:creationId xmlns:p14="http://schemas.microsoft.com/office/powerpoint/2010/main" val="3237968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err="1"/>
              <a:t>Trình</a:t>
            </a:r>
            <a:r>
              <a:rPr lang="en-US" baseline="0" dirty="0"/>
              <a:t> </a:t>
            </a:r>
            <a:r>
              <a:rPr lang="en-US" baseline="0" dirty="0" err="1"/>
              <a:t>bày</a:t>
            </a:r>
            <a:r>
              <a:rPr lang="en-US" baseline="0" dirty="0"/>
              <a:t> </a:t>
            </a:r>
            <a:r>
              <a:rPr lang="en-US" baseline="0" dirty="0" err="1"/>
              <a:t>cho</a:t>
            </a:r>
            <a:r>
              <a:rPr lang="en-US" baseline="0" dirty="0"/>
              <a:t> </a:t>
            </a:r>
            <a:r>
              <a:rPr lang="en-US" baseline="0" dirty="0" err="1"/>
              <a:t>học</a:t>
            </a:r>
            <a:r>
              <a:rPr lang="en-US" baseline="0" dirty="0"/>
              <a:t> </a:t>
            </a:r>
            <a:r>
              <a:rPr lang="en-US" baseline="0" dirty="0" err="1"/>
              <a:t>viên</a:t>
            </a:r>
            <a:r>
              <a:rPr lang="en-US" baseline="0" dirty="0"/>
              <a:t>: </a:t>
            </a:r>
            <a:r>
              <a:rPr lang="en-US" baseline="0" dirty="0" err="1"/>
              <a:t>Những</a:t>
            </a:r>
            <a:r>
              <a:rPr lang="en-US" baseline="0" dirty="0"/>
              <a:t> </a:t>
            </a:r>
            <a:r>
              <a:rPr lang="en-US" baseline="0" dirty="0" err="1"/>
              <a:t>thứ</a:t>
            </a:r>
            <a:r>
              <a:rPr lang="en-US" baseline="0" dirty="0"/>
              <a:t> </a:t>
            </a:r>
            <a:r>
              <a:rPr lang="en-US" baseline="0" dirty="0" err="1"/>
              <a:t>cần</a:t>
            </a:r>
            <a:r>
              <a:rPr lang="en-US" baseline="0" dirty="0"/>
              <a:t> </a:t>
            </a:r>
            <a:r>
              <a:rPr lang="en-US" baseline="0" dirty="0" err="1"/>
              <a:t>để</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một</a:t>
            </a:r>
            <a:r>
              <a:rPr lang="en-US" baseline="0" dirty="0"/>
              <a:t> firmware bao </a:t>
            </a:r>
            <a:r>
              <a:rPr lang="en-US" baseline="0" dirty="0" err="1"/>
              <a:t>gồm</a:t>
            </a:r>
            <a:r>
              <a:rPr lang="en-US" baseline="0" dirty="0"/>
              <a:t>:</a:t>
            </a:r>
          </a:p>
          <a:p>
            <a:pPr marL="171450" indent="-171450">
              <a:buFontTx/>
              <a:buChar char="-"/>
            </a:pPr>
            <a:r>
              <a:rPr lang="en-US" baseline="0" dirty="0"/>
              <a:t> Tool (</a:t>
            </a:r>
            <a:r>
              <a:rPr lang="en-US" baseline="0" dirty="0" err="1"/>
              <a:t>Môi</a:t>
            </a:r>
            <a:r>
              <a:rPr lang="en-US" baseline="0" dirty="0"/>
              <a:t> </a:t>
            </a:r>
            <a:r>
              <a:rPr lang="en-US" baseline="0" dirty="0" err="1"/>
              <a:t>trường</a:t>
            </a:r>
            <a:r>
              <a:rPr lang="en-US" baseline="0" dirty="0"/>
              <a:t> </a:t>
            </a:r>
            <a:r>
              <a:rPr lang="en-US" baseline="0" dirty="0" err="1"/>
              <a:t>phát</a:t>
            </a:r>
            <a:r>
              <a:rPr lang="en-US" baseline="0" dirty="0"/>
              <a:t> </a:t>
            </a:r>
            <a:r>
              <a:rPr lang="en-US" baseline="0" dirty="0" err="1"/>
              <a:t>triển</a:t>
            </a:r>
            <a:r>
              <a:rPr lang="en-US" baseline="0" dirty="0"/>
              <a:t>): IAR, Keil, </a:t>
            </a:r>
            <a:r>
              <a:rPr lang="en-US" baseline="0" dirty="0" err="1"/>
              <a:t>gcc</a:t>
            </a:r>
            <a:r>
              <a:rPr lang="en-US" baseline="0" dirty="0"/>
              <a:t>, </a:t>
            </a:r>
            <a:r>
              <a:rPr lang="en-US" baseline="0" dirty="0" err="1"/>
              <a:t>kds</a:t>
            </a:r>
            <a:r>
              <a:rPr lang="en-US" baseline="0" dirty="0"/>
              <a:t>, </a:t>
            </a:r>
            <a:r>
              <a:rPr lang="en-US" baseline="0" dirty="0" err="1"/>
              <a:t>etc</a:t>
            </a:r>
            <a:endParaRPr lang="en-US" baseline="0" dirty="0"/>
          </a:p>
          <a:p>
            <a:pPr marL="171450" indent="-171450">
              <a:buFontTx/>
              <a:buChar char="-"/>
            </a:pPr>
            <a:r>
              <a:rPr lang="en-US" baseline="0" dirty="0"/>
              <a:t>Board </a:t>
            </a:r>
            <a:r>
              <a:rPr lang="en-US" baseline="0" dirty="0" err="1"/>
              <a:t>để</a:t>
            </a:r>
            <a:r>
              <a:rPr lang="en-US" baseline="0" dirty="0"/>
              <a:t> </a:t>
            </a:r>
            <a:r>
              <a:rPr lang="en-US" baseline="0" dirty="0" err="1"/>
              <a:t>phát</a:t>
            </a:r>
            <a:r>
              <a:rPr lang="en-US" baseline="0" dirty="0"/>
              <a:t> </a:t>
            </a:r>
            <a:r>
              <a:rPr lang="en-US" baseline="0" dirty="0" err="1"/>
              <a:t>triển</a:t>
            </a:r>
            <a:r>
              <a:rPr lang="en-US" baseline="0" dirty="0"/>
              <a:t>: TWRK64, TWRK53, KL46 freedom.</a:t>
            </a:r>
          </a:p>
          <a:p>
            <a:pPr marL="171450" indent="-171450">
              <a:buFontTx/>
              <a:buChar char="-"/>
            </a:pPr>
            <a:r>
              <a:rPr lang="en-US" baseline="0" dirty="0"/>
              <a:t>Debug Adapter: </a:t>
            </a:r>
            <a:r>
              <a:rPr lang="en-US" baseline="0" dirty="0" err="1"/>
              <a:t>Jlink</a:t>
            </a:r>
            <a:r>
              <a:rPr lang="en-US" baseline="0" dirty="0"/>
              <a:t>, </a:t>
            </a:r>
            <a:r>
              <a:rPr lang="en-US" baseline="0" dirty="0" err="1"/>
              <a:t>Ulink</a:t>
            </a:r>
            <a:r>
              <a:rPr lang="en-US" baseline="0" dirty="0"/>
              <a:t>, built-in USB debug adaptor</a:t>
            </a:r>
          </a:p>
          <a:p>
            <a:pPr marL="171450" indent="-171450">
              <a:buFontTx/>
              <a:buChar char="-"/>
            </a:pPr>
            <a:r>
              <a:rPr lang="en-US" baseline="0" dirty="0"/>
              <a:t>Driver </a:t>
            </a:r>
            <a:r>
              <a:rPr lang="en-US" baseline="0" dirty="0" err="1"/>
              <a:t>của</a:t>
            </a:r>
            <a:r>
              <a:rPr lang="en-US" baseline="0" dirty="0"/>
              <a:t> </a:t>
            </a:r>
            <a:r>
              <a:rPr lang="en-US" baseline="0" dirty="0" err="1"/>
              <a:t>ngoại</a:t>
            </a:r>
            <a:r>
              <a:rPr lang="en-US" baseline="0" dirty="0"/>
              <a:t> vi</a:t>
            </a:r>
          </a:p>
          <a:p>
            <a:pPr marL="171450" indent="-171450">
              <a:buFontTx/>
              <a:buChar char="-"/>
            </a:pPr>
            <a:r>
              <a:rPr lang="en-US" baseline="0" dirty="0" err="1"/>
              <a:t>Tài</a:t>
            </a:r>
            <a:r>
              <a:rPr lang="en-US" baseline="0" dirty="0"/>
              <a:t> </a:t>
            </a:r>
            <a:r>
              <a:rPr lang="en-US" baseline="0" dirty="0" err="1"/>
              <a:t>liệu</a:t>
            </a:r>
            <a:r>
              <a:rPr lang="en-US" baseline="0" dirty="0"/>
              <a:t> (User guide, RM); </a:t>
            </a:r>
            <a:r>
              <a:rPr lang="en-US" baseline="0" dirty="0" err="1"/>
              <a:t>các</a:t>
            </a:r>
            <a:r>
              <a:rPr lang="en-US" baseline="0" dirty="0"/>
              <a:t> </a:t>
            </a:r>
            <a:r>
              <a:rPr lang="en-US" baseline="0" dirty="0" err="1"/>
              <a:t>ví</a:t>
            </a:r>
            <a:r>
              <a:rPr lang="en-US" baseline="0" dirty="0"/>
              <a:t> </a:t>
            </a:r>
            <a:r>
              <a:rPr lang="en-US" baseline="0" dirty="0" err="1"/>
              <a:t>dụ</a:t>
            </a:r>
            <a:r>
              <a:rPr lang="en-US" baseline="0" dirty="0"/>
              <a:t> </a:t>
            </a:r>
            <a:r>
              <a:rPr lang="en-US" baseline="0" dirty="0" err="1"/>
              <a:t>có</a:t>
            </a:r>
            <a:r>
              <a:rPr lang="en-US" baseline="0" dirty="0"/>
              <a:t> </a:t>
            </a:r>
            <a:r>
              <a:rPr lang="en-US" baseline="0" dirty="0" err="1"/>
              <a:t>sẵn</a:t>
            </a:r>
            <a:r>
              <a:rPr lang="en-US" baseline="0" dirty="0"/>
              <a:t> </a:t>
            </a:r>
            <a:r>
              <a:rPr lang="en-US" baseline="0" dirty="0" err="1"/>
              <a:t>của</a:t>
            </a:r>
            <a:r>
              <a:rPr lang="en-US" baseline="0" dirty="0"/>
              <a:t> </a:t>
            </a:r>
            <a:r>
              <a:rPr lang="en-US" baseline="0" dirty="0" err="1"/>
              <a:t>nhà</a:t>
            </a:r>
            <a:r>
              <a:rPr lang="en-US" baseline="0" dirty="0"/>
              <a:t> </a:t>
            </a:r>
            <a:r>
              <a:rPr lang="en-US" baseline="0" dirty="0" err="1"/>
              <a:t>sản</a:t>
            </a:r>
            <a:r>
              <a:rPr lang="en-US" baseline="0" dirty="0"/>
              <a:t> </a:t>
            </a:r>
            <a:r>
              <a:rPr lang="en-US" baseline="0" dirty="0" err="1"/>
              <a:t>xuất</a:t>
            </a:r>
            <a:r>
              <a:rPr lang="en-US" baseline="0" dirty="0"/>
              <a:t>.</a:t>
            </a:r>
          </a:p>
        </p:txBody>
      </p:sp>
      <p:sp>
        <p:nvSpPr>
          <p:cNvPr id="4" name="Slide Number Placeholder 3"/>
          <p:cNvSpPr>
            <a:spLocks noGrp="1"/>
          </p:cNvSpPr>
          <p:nvPr>
            <p:ph type="sldNum" sz="quarter" idx="5"/>
          </p:nvPr>
        </p:nvSpPr>
        <p:spPr/>
        <p:txBody>
          <a:bodyPr/>
          <a:lstStyle/>
          <a:p>
            <a:fld id="{2B3067B3-3AE6-DD4A-9E3D-C999AB3971A1}" type="slidenum">
              <a:rPr lang="en-US" smtClean="0"/>
              <a:t>8</a:t>
            </a:fld>
            <a:endParaRPr lang="en-US"/>
          </a:p>
        </p:txBody>
      </p:sp>
    </p:spTree>
    <p:extLst>
      <p:ext uri="{BB962C8B-B14F-4D97-AF65-F5344CB8AC3E}">
        <p14:creationId xmlns:p14="http://schemas.microsoft.com/office/powerpoint/2010/main" val="2523268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9</a:t>
            </a:fld>
            <a:endParaRPr lang="en-US"/>
          </a:p>
        </p:txBody>
      </p:sp>
    </p:spTree>
    <p:extLst>
      <p:ext uri="{BB962C8B-B14F-4D97-AF65-F5344CB8AC3E}">
        <p14:creationId xmlns:p14="http://schemas.microsoft.com/office/powerpoint/2010/main" val="940120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10</a:t>
            </a:fld>
            <a:endParaRPr lang="en-US"/>
          </a:p>
        </p:txBody>
      </p:sp>
    </p:spTree>
    <p:extLst>
      <p:ext uri="{BB962C8B-B14F-4D97-AF65-F5344CB8AC3E}">
        <p14:creationId xmlns:p14="http://schemas.microsoft.com/office/powerpoint/2010/main" val="216788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 </a:t>
            </a:r>
            <a:r>
              <a:rPr lang="en-US" baseline="0" dirty="0" err="1"/>
              <a:t>Giới</a:t>
            </a:r>
            <a:r>
              <a:rPr lang="en-US" baseline="0" dirty="0"/>
              <a:t> </a:t>
            </a:r>
            <a:r>
              <a:rPr lang="en-US" baseline="0" dirty="0" err="1"/>
              <a:t>thiệu</a:t>
            </a:r>
            <a:r>
              <a:rPr lang="en-US" baseline="0" dirty="0"/>
              <a:t> </a:t>
            </a:r>
            <a:r>
              <a:rPr lang="en-US" baseline="0" dirty="0" err="1"/>
              <a:t>quy</a:t>
            </a:r>
            <a:r>
              <a:rPr lang="en-US" baseline="0" dirty="0"/>
              <a:t> </a:t>
            </a:r>
            <a:r>
              <a:rPr lang="en-US" baseline="0" dirty="0" err="1"/>
              <a:t>trình</a:t>
            </a:r>
            <a:r>
              <a:rPr lang="en-US" baseline="0" dirty="0"/>
              <a:t> </a:t>
            </a:r>
            <a:r>
              <a:rPr lang="en-US" baseline="0" dirty="0" err="1"/>
              <a:t>chung</a:t>
            </a:r>
            <a:r>
              <a:rPr lang="en-US" baseline="0" dirty="0"/>
              <a:t> </a:t>
            </a:r>
            <a:r>
              <a:rPr lang="en-US" baseline="0" dirty="0" err="1"/>
              <a:t>để</a:t>
            </a:r>
            <a:r>
              <a:rPr lang="en-US" baseline="0" dirty="0"/>
              <a:t> </a:t>
            </a:r>
            <a:r>
              <a:rPr lang="en-US" baseline="0" dirty="0" err="1"/>
              <a:t>phát</a:t>
            </a:r>
            <a:r>
              <a:rPr lang="en-US" baseline="0" dirty="0"/>
              <a:t> </a:t>
            </a:r>
            <a:r>
              <a:rPr lang="en-US" baseline="0" dirty="0" err="1"/>
              <a:t>triển</a:t>
            </a:r>
            <a:r>
              <a:rPr lang="en-US" baseline="0" dirty="0"/>
              <a:t> firmware.</a:t>
            </a:r>
          </a:p>
        </p:txBody>
      </p:sp>
      <p:sp>
        <p:nvSpPr>
          <p:cNvPr id="4" name="Slide Number Placeholder 3"/>
          <p:cNvSpPr>
            <a:spLocks noGrp="1"/>
          </p:cNvSpPr>
          <p:nvPr>
            <p:ph type="sldNum" sz="quarter" idx="5"/>
          </p:nvPr>
        </p:nvSpPr>
        <p:spPr/>
        <p:txBody>
          <a:bodyPr/>
          <a:lstStyle/>
          <a:p>
            <a:fld id="{2B3067B3-3AE6-DD4A-9E3D-C999AB3971A1}" type="slidenum">
              <a:rPr lang="en-US" smtClean="0"/>
              <a:t>11</a:t>
            </a:fld>
            <a:endParaRPr lang="en-US"/>
          </a:p>
        </p:txBody>
      </p:sp>
    </p:spTree>
    <p:extLst>
      <p:ext uri="{BB962C8B-B14F-4D97-AF65-F5344CB8AC3E}">
        <p14:creationId xmlns:p14="http://schemas.microsoft.com/office/powerpoint/2010/main" val="3919635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aseline="0" dirty="0" err="1"/>
              <a:t>Giới</a:t>
            </a:r>
            <a:r>
              <a:rPr lang="en-US" baseline="0" dirty="0"/>
              <a:t> </a:t>
            </a:r>
            <a:r>
              <a:rPr lang="en-US" baseline="0" dirty="0" err="1"/>
              <a:t>thiệu</a:t>
            </a:r>
            <a:r>
              <a:rPr lang="en-US" baseline="0" dirty="0"/>
              <a:t> </a:t>
            </a:r>
            <a:r>
              <a:rPr lang="en-US" baseline="0" dirty="0" err="1"/>
              <a:t>các</a:t>
            </a:r>
            <a:r>
              <a:rPr lang="en-US" baseline="0" dirty="0"/>
              <a:t> </a:t>
            </a:r>
            <a:r>
              <a:rPr lang="en-US" baseline="0" dirty="0" err="1"/>
              <a:t>bước</a:t>
            </a:r>
            <a:r>
              <a:rPr lang="en-US" baseline="0" dirty="0"/>
              <a:t> Implement </a:t>
            </a:r>
            <a:r>
              <a:rPr lang="en-US" baseline="0" dirty="0" err="1"/>
              <a:t>một</a:t>
            </a:r>
            <a:r>
              <a:rPr lang="en-US" baseline="0" dirty="0"/>
              <a:t> embedded application./ </a:t>
            </a:r>
            <a:r>
              <a:rPr lang="en-US" baseline="0" dirty="0" err="1"/>
              <a:t>Giảng</a:t>
            </a:r>
            <a:r>
              <a:rPr lang="en-US" baseline="0" dirty="0"/>
              <a:t> </a:t>
            </a:r>
            <a:r>
              <a:rPr lang="en-US" baseline="0" dirty="0" err="1"/>
              <a:t>viên</a:t>
            </a:r>
            <a:r>
              <a:rPr lang="en-US" baseline="0" dirty="0"/>
              <a:t> </a:t>
            </a:r>
            <a:r>
              <a:rPr lang="en-US" baseline="0" dirty="0" err="1"/>
              <a:t>có</a:t>
            </a:r>
            <a:r>
              <a:rPr lang="en-US" baseline="0" dirty="0"/>
              <a:t> </a:t>
            </a:r>
            <a:r>
              <a:rPr lang="en-US" baseline="0" dirty="0" err="1"/>
              <a:t>thể</a:t>
            </a:r>
            <a:r>
              <a:rPr lang="en-US" baseline="0" dirty="0"/>
              <a:t> </a:t>
            </a:r>
            <a:r>
              <a:rPr lang="en-US" baseline="0" dirty="0" err="1"/>
              <a:t>minh</a:t>
            </a:r>
            <a:r>
              <a:rPr lang="en-US" baseline="0" dirty="0"/>
              <a:t> </a:t>
            </a:r>
            <a:r>
              <a:rPr lang="en-US" baseline="0" dirty="0" err="1"/>
              <a:t>họa</a:t>
            </a:r>
            <a:r>
              <a:rPr lang="en-US" baseline="0" dirty="0"/>
              <a:t> </a:t>
            </a:r>
            <a:r>
              <a:rPr lang="en-US" baseline="0" dirty="0" err="1"/>
              <a:t>trực</a:t>
            </a:r>
            <a:r>
              <a:rPr lang="en-US" baseline="0" dirty="0"/>
              <a:t> </a:t>
            </a:r>
            <a:r>
              <a:rPr lang="en-US" baseline="0" dirty="0" err="1"/>
              <a:t>tiếp</a:t>
            </a:r>
            <a:r>
              <a:rPr lang="en-US" baseline="0" dirty="0"/>
              <a:t> </a:t>
            </a:r>
            <a:r>
              <a:rPr lang="en-US" baseline="0" dirty="0" err="1"/>
              <a:t>trên</a:t>
            </a:r>
            <a:r>
              <a:rPr lang="en-US" baseline="0" dirty="0"/>
              <a:t> Keil (Tham </a:t>
            </a:r>
            <a:r>
              <a:rPr lang="en-US" baseline="0" dirty="0" err="1"/>
              <a:t>khảo</a:t>
            </a:r>
            <a:r>
              <a:rPr lang="en-US" baseline="0" dirty="0"/>
              <a:t> </a:t>
            </a:r>
            <a:r>
              <a:rPr lang="en-US" baseline="0" dirty="0" err="1"/>
              <a:t>tại</a:t>
            </a:r>
            <a:r>
              <a:rPr lang="en-US" baseline="0" dirty="0"/>
              <a:t>: https://www.youtube.com/watch?v=Oy_cA1d6TqE).</a:t>
            </a:r>
          </a:p>
          <a:p>
            <a:pPr marL="0" indent="0">
              <a:buFontTx/>
              <a:buNone/>
            </a:pPr>
            <a:endParaRPr lang="en-US" baseline="0" dirty="0"/>
          </a:p>
          <a:p>
            <a:pPr marL="0" indent="0">
              <a:buFontTx/>
              <a:buNone/>
            </a:pPr>
            <a:r>
              <a:rPr lang="en-US" baseline="0" dirty="0"/>
              <a:t>1- </a:t>
            </a:r>
            <a:r>
              <a:rPr lang="en-US" baseline="0" dirty="0" err="1"/>
              <a:t>Tạo</a:t>
            </a:r>
            <a:r>
              <a:rPr lang="en-US" baseline="0" dirty="0"/>
              <a:t> project:</a:t>
            </a:r>
          </a:p>
          <a:p>
            <a:pPr marL="0" indent="0">
              <a:buFontTx/>
              <a:buNone/>
            </a:pPr>
            <a:r>
              <a:rPr lang="en-US" baseline="0" dirty="0"/>
              <a:t>          - Add </a:t>
            </a:r>
            <a:r>
              <a:rPr lang="en-US" baseline="0" dirty="0" err="1"/>
              <a:t>các</a:t>
            </a:r>
            <a:r>
              <a:rPr lang="en-US" baseline="0" dirty="0"/>
              <a:t> </a:t>
            </a:r>
            <a:r>
              <a:rPr lang="en-US" baseline="0" dirty="0" err="1"/>
              <a:t>thư</a:t>
            </a:r>
            <a:r>
              <a:rPr lang="en-US" baseline="0" dirty="0"/>
              <a:t> </a:t>
            </a:r>
            <a:r>
              <a:rPr lang="en-US" baseline="0" dirty="0" err="1"/>
              <a:t>viện</a:t>
            </a:r>
            <a:r>
              <a:rPr lang="en-US" baseline="0" dirty="0"/>
              <a:t> (driver lib, middleware) </a:t>
            </a:r>
            <a:r>
              <a:rPr lang="en-US" baseline="0" dirty="0" err="1"/>
              <a:t>cần</a:t>
            </a:r>
            <a:r>
              <a:rPr lang="en-US" baseline="0" dirty="0"/>
              <a:t> </a:t>
            </a:r>
            <a:r>
              <a:rPr lang="en-US" baseline="0" dirty="0" err="1"/>
              <a:t>dùng</a:t>
            </a:r>
            <a:r>
              <a:rPr lang="en-US" baseline="0" dirty="0"/>
              <a:t> </a:t>
            </a:r>
          </a:p>
          <a:p>
            <a:pPr marL="0" indent="0">
              <a:buFontTx/>
              <a:buNone/>
            </a:pPr>
            <a:r>
              <a:rPr lang="en-US" baseline="0" dirty="0"/>
              <a:t>          - Implement application code </a:t>
            </a:r>
          </a:p>
          <a:p>
            <a:pPr marL="0" indent="0">
              <a:buFontTx/>
              <a:buNone/>
            </a:pPr>
            <a:r>
              <a:rPr lang="en-US" baseline="0" dirty="0"/>
              <a:t>          - Modify default linker </a:t>
            </a:r>
            <a:r>
              <a:rPr lang="en-US" baseline="0" dirty="0">
                <a:sym typeface="Wingdings" panose="05000000000000000000" pitchFamily="2" charset="2"/>
              </a:rPr>
              <a:t> which is suitable for the application.</a:t>
            </a:r>
          </a:p>
          <a:p>
            <a:pPr marL="0" indent="0">
              <a:buFontTx/>
              <a:buNone/>
            </a:pPr>
            <a:r>
              <a:rPr lang="en-US" baseline="0" dirty="0">
                <a:sym typeface="Wingdings" panose="05000000000000000000" pitchFamily="2" charset="2"/>
              </a:rPr>
              <a:t> 2- </a:t>
            </a:r>
            <a:r>
              <a:rPr lang="en-US" baseline="0" dirty="0" err="1">
                <a:sym typeface="Wingdings" panose="05000000000000000000" pitchFamily="2" charset="2"/>
              </a:rPr>
              <a:t>Chỉnh</a:t>
            </a:r>
            <a:r>
              <a:rPr lang="en-US" baseline="0" dirty="0">
                <a:sym typeface="Wingdings" panose="05000000000000000000" pitchFamily="2" charset="2"/>
              </a:rPr>
              <a:t> project options </a:t>
            </a:r>
            <a:r>
              <a:rPr lang="en-US" baseline="0" dirty="0" err="1">
                <a:sym typeface="Wingdings" panose="05000000000000000000" pitchFamily="2" charset="2"/>
              </a:rPr>
              <a:t>để</a:t>
            </a:r>
            <a:r>
              <a:rPr lang="en-US" baseline="0" dirty="0">
                <a:sym typeface="Wingdings" panose="05000000000000000000" pitchFamily="2" charset="2"/>
              </a:rPr>
              <a:t> </a:t>
            </a:r>
            <a:r>
              <a:rPr lang="en-US" baseline="0" dirty="0" err="1">
                <a:sym typeface="Wingdings" panose="05000000000000000000" pitchFamily="2" charset="2"/>
              </a:rPr>
              <a:t>phù</a:t>
            </a:r>
            <a:r>
              <a:rPr lang="en-US" baseline="0" dirty="0">
                <a:sym typeface="Wingdings" panose="05000000000000000000" pitchFamily="2" charset="2"/>
              </a:rPr>
              <a:t> </a:t>
            </a:r>
            <a:r>
              <a:rPr lang="en-US" baseline="0" dirty="0" err="1">
                <a:sym typeface="Wingdings" panose="05000000000000000000" pitchFamily="2" charset="2"/>
              </a:rPr>
              <a:t>hợp</a:t>
            </a:r>
            <a:r>
              <a:rPr lang="en-US" baseline="0" dirty="0">
                <a:sym typeface="Wingdings" panose="05000000000000000000" pitchFamily="2" charset="2"/>
              </a:rPr>
              <a:t> </a:t>
            </a:r>
            <a:r>
              <a:rPr lang="en-US" baseline="0" dirty="0" err="1">
                <a:sym typeface="Wingdings" panose="05000000000000000000" pitchFamily="2" charset="2"/>
              </a:rPr>
              <a:t>với</a:t>
            </a:r>
            <a:r>
              <a:rPr lang="en-US" baseline="0" dirty="0">
                <a:sym typeface="Wingdings" panose="05000000000000000000" pitchFamily="2" charset="2"/>
              </a:rPr>
              <a:t> </a:t>
            </a:r>
            <a:r>
              <a:rPr lang="en-US" baseline="0" dirty="0" err="1">
                <a:sym typeface="Wingdings" panose="05000000000000000000" pitchFamily="2" charset="2"/>
              </a:rPr>
              <a:t>ứng</a:t>
            </a:r>
            <a:r>
              <a:rPr lang="en-US" baseline="0" dirty="0">
                <a:sym typeface="Wingdings" panose="05000000000000000000" pitchFamily="2" charset="2"/>
              </a:rPr>
              <a:t> </a:t>
            </a:r>
            <a:r>
              <a:rPr lang="en-US" baseline="0" dirty="0" err="1">
                <a:sym typeface="Wingdings" panose="05000000000000000000" pitchFamily="2" charset="2"/>
              </a:rPr>
              <a:t>dụng</a:t>
            </a:r>
            <a:r>
              <a:rPr lang="en-US" baseline="0" dirty="0">
                <a:sym typeface="Wingdings" panose="05000000000000000000" pitchFamily="2" charset="2"/>
              </a:rPr>
              <a:t> (</a:t>
            </a:r>
            <a:r>
              <a:rPr lang="en-US" baseline="0" dirty="0" err="1">
                <a:sym typeface="Wingdings" panose="05000000000000000000" pitchFamily="2" charset="2"/>
              </a:rPr>
              <a:t>nếu</a:t>
            </a:r>
            <a:r>
              <a:rPr lang="en-US" baseline="0" dirty="0">
                <a:sym typeface="Wingdings" panose="05000000000000000000" pitchFamily="2" charset="2"/>
              </a:rPr>
              <a:t> </a:t>
            </a:r>
            <a:r>
              <a:rPr lang="en-US" baseline="0" dirty="0" err="1">
                <a:sym typeface="Wingdings" panose="05000000000000000000" pitchFamily="2" charset="2"/>
              </a:rPr>
              <a:t>cần</a:t>
            </a:r>
            <a:r>
              <a:rPr lang="en-US" baseline="0" dirty="0">
                <a:sym typeface="Wingdings" panose="05000000000000000000" pitchFamily="2" charset="2"/>
              </a:rPr>
              <a:t> </a:t>
            </a:r>
            <a:r>
              <a:rPr lang="en-US" baseline="0" dirty="0" err="1">
                <a:sym typeface="Wingdings" panose="05000000000000000000" pitchFamily="2" charset="2"/>
              </a:rPr>
              <a:t>thiết</a:t>
            </a:r>
            <a:r>
              <a:rPr lang="en-US" baseline="0" dirty="0">
                <a:sym typeface="Wingdings" panose="05000000000000000000" pitchFamily="2" charset="2"/>
              </a:rPr>
              <a:t>). </a:t>
            </a:r>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12</a:t>
            </a:fld>
            <a:endParaRPr lang="en-US"/>
          </a:p>
        </p:txBody>
      </p:sp>
    </p:spTree>
    <p:extLst>
      <p:ext uri="{BB962C8B-B14F-4D97-AF65-F5344CB8AC3E}">
        <p14:creationId xmlns:p14="http://schemas.microsoft.com/office/powerpoint/2010/main" val="2368285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Giới</a:t>
            </a:r>
            <a:r>
              <a:rPr lang="en-US" baseline="0" dirty="0"/>
              <a:t> </a:t>
            </a:r>
            <a:r>
              <a:rPr lang="en-US" baseline="0" dirty="0" err="1"/>
              <a:t>thiệu</a:t>
            </a:r>
            <a:r>
              <a:rPr lang="en-US" baseline="0" dirty="0"/>
              <a:t> </a:t>
            </a:r>
            <a:r>
              <a:rPr lang="en-US" baseline="0" dirty="0" err="1"/>
              <a:t>quá</a:t>
            </a:r>
            <a:r>
              <a:rPr lang="en-US" baseline="0" dirty="0"/>
              <a:t> </a:t>
            </a:r>
            <a:r>
              <a:rPr lang="en-US" baseline="0" dirty="0" err="1"/>
              <a:t>trình</a:t>
            </a:r>
            <a:r>
              <a:rPr lang="en-US" baseline="0" dirty="0"/>
              <a:t> compile </a:t>
            </a:r>
            <a:r>
              <a:rPr lang="en-US" baseline="0" dirty="0" err="1"/>
              <a:t>từ</a:t>
            </a:r>
            <a:r>
              <a:rPr lang="en-US" baseline="0" dirty="0"/>
              <a:t> </a:t>
            </a:r>
            <a:r>
              <a:rPr lang="en-US" baseline="0" dirty="0" err="1"/>
              <a:t>một</a:t>
            </a:r>
            <a:r>
              <a:rPr lang="en-US" baseline="0" dirty="0"/>
              <a:t> project </a:t>
            </a:r>
            <a:r>
              <a:rPr lang="en-US" baseline="0" dirty="0" err="1"/>
              <a:t>gồm</a:t>
            </a:r>
            <a:r>
              <a:rPr lang="en-US" baseline="0" dirty="0"/>
              <a:t> </a:t>
            </a:r>
            <a:r>
              <a:rPr lang="en-US" baseline="0" dirty="0" err="1"/>
              <a:t>các</a:t>
            </a:r>
            <a:r>
              <a:rPr lang="en-US" baseline="0" dirty="0"/>
              <a:t> file .</a:t>
            </a:r>
            <a:r>
              <a:rPr lang="en-US" baseline="0" dirty="0" err="1"/>
              <a:t>c,.s</a:t>
            </a:r>
            <a:r>
              <a:rPr lang="en-US" baseline="0" dirty="0"/>
              <a:t> </a:t>
            </a:r>
            <a:r>
              <a:rPr lang="en-US" baseline="0" dirty="0" err="1"/>
              <a:t>thành</a:t>
            </a:r>
            <a:r>
              <a:rPr lang="en-US" baseline="0" dirty="0"/>
              <a:t> file .bin </a:t>
            </a:r>
            <a:r>
              <a:rPr lang="en-US" baseline="0" dirty="0" err="1"/>
              <a:t>để</a:t>
            </a:r>
            <a:r>
              <a:rPr lang="en-US" baseline="0" dirty="0"/>
              <a:t> load </a:t>
            </a:r>
            <a:r>
              <a:rPr lang="en-US" baseline="0" dirty="0" err="1"/>
              <a:t>được</a:t>
            </a:r>
            <a:r>
              <a:rPr lang="en-US" baseline="0" dirty="0"/>
              <a:t> </a:t>
            </a:r>
            <a:r>
              <a:rPr lang="en-US" baseline="0" dirty="0" err="1"/>
              <a:t>xuống</a:t>
            </a:r>
            <a:r>
              <a:rPr lang="en-US" baseline="0" dirty="0"/>
              <a:t> board:</a:t>
            </a:r>
          </a:p>
          <a:p>
            <a:r>
              <a:rPr lang="en-US" baseline="0" dirty="0"/>
              <a:t>    + compiler: compile C source file to object</a:t>
            </a:r>
          </a:p>
          <a:p>
            <a:r>
              <a:rPr lang="en-US" baseline="0" dirty="0"/>
              <a:t>     + </a:t>
            </a:r>
            <a:r>
              <a:rPr lang="en-US" baseline="0" err="1"/>
              <a:t>assembler</a:t>
            </a:r>
            <a:r>
              <a:rPr lang="en-US" baseline="0" dirty="0"/>
              <a:t>: compile </a:t>
            </a:r>
            <a:r>
              <a:rPr lang="en-US" baseline="0" dirty="0" err="1"/>
              <a:t>asm</a:t>
            </a:r>
            <a:r>
              <a:rPr lang="en-US" baseline="0" dirty="0"/>
              <a:t> file </a:t>
            </a:r>
            <a:r>
              <a:rPr lang="en-US" baseline="0" dirty="0">
                <a:sym typeface="Wingdings" panose="05000000000000000000" pitchFamily="2" charset="2"/>
              </a:rPr>
              <a:t> object file </a:t>
            </a:r>
          </a:p>
          <a:p>
            <a:r>
              <a:rPr lang="en-US" baseline="0" dirty="0">
                <a:sym typeface="Wingdings" panose="05000000000000000000" pitchFamily="2" charset="2"/>
              </a:rPr>
              <a:t>Linker: using linker script to link/combine all object files to one executable </a:t>
            </a:r>
            <a:r>
              <a:rPr lang="en-US" baseline="0">
                <a:sym typeface="Wingdings" panose="05000000000000000000" pitchFamily="2" charset="2"/>
              </a:rPr>
              <a:t>image</a:t>
            </a:r>
            <a:r>
              <a:rPr lang="en-US" baseline="0"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13</a:t>
            </a:fld>
            <a:endParaRPr lang="en-US"/>
          </a:p>
        </p:txBody>
      </p:sp>
    </p:spTree>
    <p:extLst>
      <p:ext uri="{BB962C8B-B14F-4D97-AF65-F5344CB8AC3E}">
        <p14:creationId xmlns:p14="http://schemas.microsoft.com/office/powerpoint/2010/main" val="3041165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Minh </a:t>
            </a:r>
            <a:r>
              <a:rPr lang="en-US" dirty="0" err="1"/>
              <a:t>họa</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build</a:t>
            </a:r>
            <a:r>
              <a:rPr lang="en-US" baseline="0" err="1"/>
              <a:t>/compile/</a:t>
            </a:r>
            <a:r>
              <a:rPr lang="en-US" baseline="0" dirty="0" err="1"/>
              <a:t>link</a:t>
            </a:r>
            <a:r>
              <a:rPr lang="en-US" baseline="0" dirty="0"/>
              <a:t> </a:t>
            </a:r>
            <a:r>
              <a:rPr lang="en-US" baseline="0" dirty="0" err="1"/>
              <a:t>trên</a:t>
            </a:r>
            <a:r>
              <a:rPr lang="en-US" baseline="0" dirty="0"/>
              <a:t> IAR</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14</a:t>
            </a:fld>
            <a:endParaRPr lang="en-US"/>
          </a:p>
        </p:txBody>
      </p:sp>
    </p:spTree>
    <p:extLst>
      <p:ext uri="{BB962C8B-B14F-4D97-AF65-F5344CB8AC3E}">
        <p14:creationId xmlns:p14="http://schemas.microsoft.com/office/powerpoint/2010/main" val="1409117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Topic </a:t>
            </a:r>
            <a:r>
              <a:rPr lang="en-US" dirty="0" err="1"/>
              <a:t>thảo</a:t>
            </a:r>
            <a:r>
              <a:rPr lang="en-US" baseline="0" dirty="0"/>
              <a:t> </a:t>
            </a:r>
            <a:r>
              <a:rPr lang="en-US" baseline="0" dirty="0" err="1"/>
              <a:t>luận</a:t>
            </a:r>
            <a:r>
              <a:rPr lang="en-US" baseline="0" dirty="0"/>
              <a:t>: </a:t>
            </a:r>
            <a:r>
              <a:rPr lang="en-US" baseline="0" dirty="0" err="1"/>
              <a:t>Phân</a:t>
            </a:r>
            <a:r>
              <a:rPr lang="en-US" baseline="0" dirty="0"/>
              <a:t> </a:t>
            </a:r>
            <a:r>
              <a:rPr lang="en-US" baseline="0" dirty="0" err="1"/>
              <a:t>biệt</a:t>
            </a:r>
            <a:r>
              <a:rPr lang="en-US" baseline="0" dirty="0"/>
              <a:t> Interrupt &amp; </a:t>
            </a:r>
            <a:r>
              <a:rPr lang="en-US" baseline="0"/>
              <a:t>Polling</a:t>
            </a:r>
            <a:r>
              <a:rPr lang="en-US" baseline="0" dirty="0"/>
              <a:t>. </a:t>
            </a:r>
            <a:endParaRPr lang="en-US" dirty="0"/>
          </a:p>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15</a:t>
            </a:fld>
            <a:endParaRPr lang="en-US"/>
          </a:p>
        </p:txBody>
      </p:sp>
    </p:spTree>
    <p:extLst>
      <p:ext uri="{BB962C8B-B14F-4D97-AF65-F5344CB8AC3E}">
        <p14:creationId xmlns:p14="http://schemas.microsoft.com/office/powerpoint/2010/main" val="2889835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16</a:t>
            </a:fld>
            <a:endParaRPr lang="en-US"/>
          </a:p>
        </p:txBody>
      </p:sp>
    </p:spTree>
    <p:extLst>
      <p:ext uri="{BB962C8B-B14F-4D97-AF65-F5344CB8AC3E}">
        <p14:creationId xmlns:p14="http://schemas.microsoft.com/office/powerpoint/2010/main" val="2980322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i="0" kern="1200" dirty="0">
                <a:solidFill>
                  <a:schemeClr val="tx1"/>
                </a:solidFill>
                <a:effectLst/>
                <a:latin typeface="+mn-lt"/>
                <a:ea typeface="+mn-ea"/>
                <a:cs typeface="+mn-cs"/>
              </a:rPr>
              <a:t>Polling: </a:t>
            </a:r>
            <a:br>
              <a:rPr lang="vi-VN" dirty="0"/>
            </a:br>
            <a:r>
              <a:rPr lang="vi-VN" sz="1200" b="0" i="0" kern="1200" dirty="0">
                <a:solidFill>
                  <a:schemeClr val="tx1"/>
                </a:solidFill>
                <a:effectLst/>
                <a:latin typeface="+mn-lt"/>
                <a:ea typeface="+mn-ea"/>
                <a:cs typeface="+mn-cs"/>
              </a:rPr>
              <a:t>Với polling mọi câu lệnh đều được viết trong hàm main() và các vòng lặp vô hạn như while(1) hay for(;;) hay loop(). Các khối lệnh đảm nhận một chức năng của một hệ thống sẽ được thực thi một cách tuần tự bằng cách kiểm tra các biến trạng thái, điều kiện.</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liên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tục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lệnh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a:t>
            </a:r>
            <a:r>
              <a:rPr lang="en-US" sz="1200" b="0" i="0" kern="1200" dirty="0">
                <a:solidFill>
                  <a:schemeClr val="tx1"/>
                </a:solidFill>
                <a:effectLst/>
                <a:latin typeface="+mn-lt"/>
                <a:ea typeface="+mn-ea"/>
                <a:cs typeface="+mn-cs"/>
              </a:rPr>
              <a:t>.</a:t>
            </a:r>
          </a:p>
          <a:p>
            <a:r>
              <a:rPr lang="vi-VN" sz="1200" b="1" i="0" kern="1200" dirty="0">
                <a:solidFill>
                  <a:schemeClr val="tx1"/>
                </a:solidFill>
                <a:effectLst/>
                <a:latin typeface="+mn-lt"/>
                <a:ea typeface="+mn-ea"/>
                <a:cs typeface="+mn-cs"/>
              </a:rPr>
              <a:t>Interrupt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P</a:t>
            </a:r>
            <a:r>
              <a:rPr lang="vi-VN" sz="1200" b="0" i="0" kern="1200" dirty="0">
                <a:solidFill>
                  <a:schemeClr val="tx1"/>
                </a:solidFill>
                <a:effectLst/>
                <a:latin typeface="+mn-lt"/>
                <a:ea typeface="+mn-ea"/>
                <a:cs typeface="+mn-cs"/>
              </a:rPr>
              <a:t>hần cứng sẽ thông báo cho CPU biết về một yêu cầu dịch vụ (yêu cầu ngắt – IRQ). Chương trình nền đang thực hiện sẽ được tạm ngưng để thực thi </a:t>
            </a:r>
            <a:r>
              <a:rPr lang="vi-VN" sz="1200" b="0" i="1" kern="1200" dirty="0">
                <a:solidFill>
                  <a:schemeClr val="tx1"/>
                </a:solidFill>
                <a:effectLst/>
                <a:latin typeface="+mn-lt"/>
                <a:ea typeface="+mn-ea"/>
                <a:cs typeface="+mn-cs"/>
              </a:rPr>
              <a:t>chương trình phục vụ ngắt (ISR)</a:t>
            </a:r>
            <a:r>
              <a:rPr lang="vi-VN" sz="1200" b="0" i="0" kern="1200" dirty="0">
                <a:solidFill>
                  <a:schemeClr val="tx1"/>
                </a:solidFill>
                <a:effectLst/>
                <a:latin typeface="+mn-lt"/>
                <a:ea typeface="+mn-ea"/>
                <a:cs typeface="+mn-cs"/>
              </a:rPr>
              <a:t> tương ứng với yêu cầu đấy. Sau khi thực thi xong ISR thì chương trình sẽ quay về thực thi tiếp chương trình nền.</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dirty="0" err="1"/>
              <a:t>Thảo</a:t>
            </a:r>
            <a:r>
              <a:rPr lang="en-US" baseline="0" dirty="0"/>
              <a:t> </a:t>
            </a:r>
            <a:r>
              <a:rPr lang="en-US" baseline="0" dirty="0" err="1"/>
              <a:t>luận</a:t>
            </a:r>
            <a:r>
              <a:rPr lang="en-US" baseline="0" dirty="0"/>
              <a:t>: </a:t>
            </a:r>
            <a:r>
              <a:rPr lang="en-US" altLang="en-US" dirty="0"/>
              <a:t>Key Differences between</a:t>
            </a:r>
            <a:r>
              <a:rPr lang="en-US" baseline="0" dirty="0"/>
              <a:t> </a:t>
            </a:r>
            <a:r>
              <a:rPr lang="vi-VN" sz="1200" b="0" i="0" kern="1200" dirty="0">
                <a:solidFill>
                  <a:schemeClr val="tx1"/>
                </a:solidFill>
                <a:effectLst/>
                <a:latin typeface="+mn-lt"/>
                <a:ea typeface="+mn-ea"/>
                <a:cs typeface="+mn-cs"/>
              </a:rPr>
              <a:t>Polling</a:t>
            </a:r>
            <a:r>
              <a:rPr lang="en-US" sz="1200" b="0" i="0" kern="1200" baseline="0" dirty="0">
                <a:solidFill>
                  <a:schemeClr val="tx1"/>
                </a:solidFill>
                <a:effectLst/>
                <a:latin typeface="+mn-lt"/>
                <a:ea typeface="+mn-ea"/>
                <a:cs typeface="+mn-cs"/>
              </a:rPr>
              <a:t> and </a:t>
            </a:r>
            <a:r>
              <a:rPr lang="vi-VN" sz="1200" b="0" i="0" kern="1200" dirty="0">
                <a:solidFill>
                  <a:schemeClr val="tx1"/>
                </a:solidFill>
                <a:effectLst/>
                <a:latin typeface="+mn-lt"/>
                <a:ea typeface="+mn-ea"/>
                <a:cs typeface="+mn-cs"/>
              </a:rPr>
              <a:t>Interrupt</a:t>
            </a:r>
            <a:endParaRPr lang="en-US" sz="1200" b="0" i="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17</a:t>
            </a:fld>
            <a:endParaRPr lang="en-US"/>
          </a:p>
        </p:txBody>
      </p:sp>
    </p:spTree>
    <p:extLst>
      <p:ext uri="{BB962C8B-B14F-4D97-AF65-F5344CB8AC3E}">
        <p14:creationId xmlns:p14="http://schemas.microsoft.com/office/powerpoint/2010/main" val="40386042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i="0" kern="1200" dirty="0">
                <a:solidFill>
                  <a:schemeClr val="tx1"/>
                </a:solidFill>
                <a:effectLst/>
                <a:latin typeface="+mn-lt"/>
                <a:ea typeface="+mn-ea"/>
                <a:cs typeface="+mn-cs"/>
              </a:rPr>
              <a:t>Polling: </a:t>
            </a:r>
            <a:br>
              <a:rPr lang="vi-VN" dirty="0"/>
            </a:br>
            <a:r>
              <a:rPr lang="vi-VN" sz="1200" b="0" i="0" kern="1200" dirty="0">
                <a:solidFill>
                  <a:schemeClr val="tx1"/>
                </a:solidFill>
                <a:effectLst/>
                <a:latin typeface="+mn-lt"/>
                <a:ea typeface="+mn-ea"/>
                <a:cs typeface="+mn-cs"/>
              </a:rPr>
              <a:t>Với polling mọi câu lệnh đều được viết trong hàm main() và các vòng lặp vô hạn như while(1) hay for(;;) hay loop(). Các khối lệnh đảm nhận một chức năng của một hệ thống sẽ được thực thi một cách tuần tự bằng cách kiểm tra các biến trạng thái, điều kiện.</a:t>
            </a:r>
            <a:r>
              <a:rPr lang="en-US" sz="1200" b="0" i="0" kern="1200" dirty="0">
                <a:solidFill>
                  <a:schemeClr val="tx1"/>
                </a:solidFill>
                <a:effectLst/>
                <a:latin typeface="+mn-lt"/>
                <a:ea typeface="+mn-ea"/>
                <a:cs typeface="+mn-cs"/>
              </a:rPr>
              <a:t> CPU </a:t>
            </a:r>
            <a:r>
              <a:rPr lang="en-US" sz="1200" b="0" i="0" kern="1200" dirty="0" err="1">
                <a:solidFill>
                  <a:schemeClr val="tx1"/>
                </a:solidFill>
                <a:effectLst/>
                <a:latin typeface="+mn-lt"/>
                <a:ea typeface="+mn-ea"/>
                <a:cs typeface="+mn-cs"/>
              </a:rPr>
              <a:t>liên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tục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lệnh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a:t>
            </a:r>
            <a:r>
              <a:rPr lang="en-US" sz="1200" b="0" i="0" kern="1200" dirty="0">
                <a:solidFill>
                  <a:schemeClr val="tx1"/>
                </a:solidFill>
                <a:effectLst/>
                <a:latin typeface="+mn-lt"/>
                <a:ea typeface="+mn-ea"/>
                <a:cs typeface="+mn-cs"/>
              </a:rPr>
              <a:t>.</a:t>
            </a:r>
          </a:p>
          <a:p>
            <a:r>
              <a:rPr lang="vi-VN" sz="1200" b="1" i="0" kern="1200" dirty="0">
                <a:solidFill>
                  <a:schemeClr val="tx1"/>
                </a:solidFill>
                <a:effectLst/>
                <a:latin typeface="+mn-lt"/>
                <a:ea typeface="+mn-ea"/>
                <a:cs typeface="+mn-cs"/>
              </a:rPr>
              <a:t>Interrupt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P</a:t>
            </a:r>
            <a:r>
              <a:rPr lang="vi-VN" sz="1200" b="0" i="0" kern="1200" dirty="0">
                <a:solidFill>
                  <a:schemeClr val="tx1"/>
                </a:solidFill>
                <a:effectLst/>
                <a:latin typeface="+mn-lt"/>
                <a:ea typeface="+mn-ea"/>
                <a:cs typeface="+mn-cs"/>
              </a:rPr>
              <a:t>hần cứng sẽ thông báo cho CPU biết về một yêu cầu dịch vụ (yêu cầu ngắt – IRQ). Chương trình nền đang thực hiện sẽ được tạm ngưng để thực thi </a:t>
            </a:r>
            <a:r>
              <a:rPr lang="vi-VN" sz="1200" b="0" i="1" kern="1200" dirty="0">
                <a:solidFill>
                  <a:schemeClr val="tx1"/>
                </a:solidFill>
                <a:effectLst/>
                <a:latin typeface="+mn-lt"/>
                <a:ea typeface="+mn-ea"/>
                <a:cs typeface="+mn-cs"/>
              </a:rPr>
              <a:t>chương trình phục vụ ngắt (ISR)</a:t>
            </a:r>
            <a:r>
              <a:rPr lang="vi-VN" sz="1200" b="0" i="0" kern="1200" dirty="0">
                <a:solidFill>
                  <a:schemeClr val="tx1"/>
                </a:solidFill>
                <a:effectLst/>
                <a:latin typeface="+mn-lt"/>
                <a:ea typeface="+mn-ea"/>
                <a:cs typeface="+mn-cs"/>
              </a:rPr>
              <a:t> tương ứng với yêu cầu đấy. Sau khi thực thi xong ISR thì chương trình sẽ quay về thực thi tiếp chương trình nền.</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dirty="0" err="1"/>
              <a:t>Thảo</a:t>
            </a:r>
            <a:r>
              <a:rPr lang="en-US" baseline="0" dirty="0"/>
              <a:t> </a:t>
            </a:r>
            <a:r>
              <a:rPr lang="en-US" baseline="0" dirty="0" err="1"/>
              <a:t>luận</a:t>
            </a:r>
            <a:r>
              <a:rPr lang="en-US" baseline="0" dirty="0"/>
              <a:t>: </a:t>
            </a:r>
            <a:r>
              <a:rPr lang="en-US" altLang="en-US" dirty="0"/>
              <a:t>Key Differences between</a:t>
            </a:r>
            <a:r>
              <a:rPr lang="en-US" baseline="0" dirty="0"/>
              <a:t> </a:t>
            </a:r>
            <a:r>
              <a:rPr lang="vi-VN" sz="1200" b="0" i="0" kern="1200" dirty="0">
                <a:solidFill>
                  <a:schemeClr val="tx1"/>
                </a:solidFill>
                <a:effectLst/>
                <a:latin typeface="+mn-lt"/>
                <a:ea typeface="+mn-ea"/>
                <a:cs typeface="+mn-cs"/>
              </a:rPr>
              <a:t>Polling</a:t>
            </a:r>
            <a:r>
              <a:rPr lang="en-US" sz="1200" b="0" i="0" kern="1200" baseline="0" dirty="0">
                <a:solidFill>
                  <a:schemeClr val="tx1"/>
                </a:solidFill>
                <a:effectLst/>
                <a:latin typeface="+mn-lt"/>
                <a:ea typeface="+mn-ea"/>
                <a:cs typeface="+mn-cs"/>
              </a:rPr>
              <a:t> and </a:t>
            </a:r>
            <a:r>
              <a:rPr lang="vi-VN" sz="1200" b="0" i="0" kern="1200" dirty="0">
                <a:solidFill>
                  <a:schemeClr val="tx1"/>
                </a:solidFill>
                <a:effectLst/>
                <a:latin typeface="+mn-lt"/>
                <a:ea typeface="+mn-ea"/>
                <a:cs typeface="+mn-cs"/>
              </a:rPr>
              <a:t>Interrupt</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B3067B3-3AE6-DD4A-9E3D-C999AB3971A1}" type="slidenum">
              <a:rPr lang="en-US" smtClean="0"/>
              <a:t>18</a:t>
            </a:fld>
            <a:endParaRPr lang="en-US"/>
          </a:p>
        </p:txBody>
      </p:sp>
    </p:spTree>
    <p:extLst>
      <p:ext uri="{BB962C8B-B14F-4D97-AF65-F5344CB8AC3E}">
        <p14:creationId xmlns:p14="http://schemas.microsoft.com/office/powerpoint/2010/main" val="1075760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1" kern="1200" dirty="0">
                <a:solidFill>
                  <a:schemeClr val="tx1"/>
                </a:solidFill>
                <a:effectLst/>
                <a:latin typeface="+mn-lt"/>
                <a:ea typeface="+mn-ea"/>
                <a:cs typeface="+mn-cs"/>
              </a:rPr>
              <a:t>– Ưu điểm của Polling: </a:t>
            </a:r>
            <a:br>
              <a:rPr lang="vi-VN" dirty="0"/>
            </a:br>
            <a:r>
              <a:rPr lang="vi-VN" sz="1200" b="0" i="0" kern="1200" dirty="0">
                <a:solidFill>
                  <a:schemeClr val="tx1"/>
                </a:solidFill>
                <a:effectLst/>
                <a:latin typeface="+mn-lt"/>
                <a:ea typeface="+mn-ea"/>
                <a:cs typeface="+mn-cs"/>
              </a:rPr>
              <a:t> + Dễ code, đơn giản cho những ứng dụng đơn giản</a:t>
            </a:r>
            <a:br>
              <a:rPr lang="vi-VN" dirty="0"/>
            </a:br>
            <a:r>
              <a:rPr lang="vi-VN" sz="1200" b="0" i="0" kern="1200" dirty="0">
                <a:solidFill>
                  <a:schemeClr val="tx1"/>
                </a:solidFill>
                <a:effectLst/>
                <a:latin typeface="+mn-lt"/>
                <a:ea typeface="+mn-ea"/>
                <a:cs typeface="+mn-cs"/>
              </a:rPr>
              <a:t> + Dễ debug, tìm lỗi, giám sát quá trình thực hiện của chương trình</a:t>
            </a:r>
            <a:br>
              <a:rPr lang="vi-VN" dirty="0"/>
            </a:br>
            <a:r>
              <a:rPr lang="vi-VN" sz="1200" b="0" i="0" kern="1200" dirty="0">
                <a:solidFill>
                  <a:schemeClr val="tx1"/>
                </a:solidFill>
                <a:effectLst/>
                <a:latin typeface="+mn-lt"/>
                <a:ea typeface="+mn-ea"/>
                <a:cs typeface="+mn-cs"/>
              </a:rPr>
              <a:t> + Các hoạt động trong chương trình có thể dễ dàng dự đoán được</a:t>
            </a:r>
            <a:br>
              <a:rPr lang="vi-VN" sz="1200" b="0"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 Các tài nguyên được sử dụng, chia sẻ giữa chức năng rõ ràng.</a:t>
            </a:r>
            <a:br>
              <a:rPr lang="vi-VN" sz="1200" b="0" i="0" kern="1200" dirty="0">
                <a:solidFill>
                  <a:schemeClr val="tx1"/>
                </a:solidFill>
                <a:effectLst/>
                <a:latin typeface="+mn-lt"/>
                <a:ea typeface="+mn-ea"/>
                <a:cs typeface="+mn-cs"/>
              </a:rPr>
            </a:br>
            <a:r>
              <a:rPr lang="vi-VN" sz="1200" b="0" i="1" kern="1200" dirty="0">
                <a:solidFill>
                  <a:schemeClr val="tx1"/>
                </a:solidFill>
                <a:effectLst/>
                <a:latin typeface="+mn-lt"/>
                <a:ea typeface="+mn-ea"/>
                <a:cs typeface="+mn-cs"/>
              </a:rPr>
              <a:t>– Nhược điểm: </a:t>
            </a:r>
            <a:br>
              <a:rPr lang="vi-VN" dirty="0"/>
            </a:br>
            <a:r>
              <a:rPr lang="vi-VN" sz="1200" b="0" i="0" kern="1200" dirty="0">
                <a:solidFill>
                  <a:schemeClr val="tx1"/>
                </a:solidFill>
                <a:effectLst/>
                <a:latin typeface="+mn-lt"/>
                <a:ea typeface="+mn-ea"/>
                <a:cs typeface="+mn-cs"/>
              </a:rPr>
              <a:t> + Khó phát triển cho những chương trình phức tạp</a:t>
            </a:r>
            <a:br>
              <a:rPr lang="vi-VN" dirty="0"/>
            </a:br>
            <a:r>
              <a:rPr lang="vi-VN" sz="1200" b="0" i="0" kern="1200" dirty="0">
                <a:solidFill>
                  <a:schemeClr val="tx1"/>
                </a:solidFill>
                <a:effectLst/>
                <a:latin typeface="+mn-lt"/>
                <a:ea typeface="+mn-ea"/>
                <a:cs typeface="+mn-cs"/>
              </a:rPr>
              <a:t> + Đáp ứng chậm với các sự kiện</a:t>
            </a:r>
            <a:br>
              <a:rPr lang="vi-VN" dirty="0"/>
            </a:br>
            <a:r>
              <a:rPr lang="vi-VN" sz="1200" b="0" i="0" kern="1200" dirty="0">
                <a:solidFill>
                  <a:schemeClr val="tx1"/>
                </a:solidFill>
                <a:effectLst/>
                <a:latin typeface="+mn-lt"/>
                <a:ea typeface="+mn-ea"/>
                <a:cs typeface="+mn-cs"/>
              </a:rPr>
              <a:t> + Luôn luôn tiêu thụ năng lượng ở mức cao nhất</a:t>
            </a:r>
            <a:br>
              <a:rPr lang="vi-VN" dirty="0"/>
            </a:br>
            <a:r>
              <a:rPr lang="vi-VN" sz="1200" b="0" i="0" kern="1200" dirty="0">
                <a:solidFill>
                  <a:schemeClr val="tx1"/>
                </a:solidFill>
                <a:effectLst/>
                <a:latin typeface="+mn-lt"/>
                <a:ea typeface="+mn-ea"/>
                <a:cs typeface="+mn-cs"/>
              </a:rPr>
              <a:t> + Lãng phí tài nguyên, khả năng của vi điều khiển.</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vi-VN" sz="1200" b="0" i="1" kern="1200" dirty="0">
                <a:solidFill>
                  <a:schemeClr val="tx1"/>
                </a:solidFill>
                <a:effectLst/>
                <a:latin typeface="+mn-lt"/>
                <a:ea typeface="+mn-ea"/>
                <a:cs typeface="+mn-cs"/>
              </a:rPr>
              <a:t>– Ưu điểm của ngắt: </a:t>
            </a:r>
            <a:br>
              <a:rPr lang="vi-VN" dirty="0"/>
            </a:br>
            <a:r>
              <a:rPr lang="vi-VN" sz="1200" b="0" i="0" kern="1200" dirty="0">
                <a:solidFill>
                  <a:schemeClr val="tx1"/>
                </a:solidFill>
                <a:effectLst/>
                <a:latin typeface="+mn-lt"/>
                <a:ea typeface="+mn-ea"/>
                <a:cs typeface="+mn-cs"/>
              </a:rPr>
              <a:t>+ Tốc độ đáp ứng nhanh hơn so với polling</a:t>
            </a:r>
            <a:br>
              <a:rPr lang="vi-VN" dirty="0"/>
            </a:br>
            <a:r>
              <a:rPr lang="vi-VN" sz="1200" b="0" i="0" kern="1200" dirty="0">
                <a:solidFill>
                  <a:schemeClr val="tx1"/>
                </a:solidFill>
                <a:effectLst/>
                <a:latin typeface="+mn-lt"/>
                <a:ea typeface="+mn-ea"/>
                <a:cs typeface="+mn-cs"/>
              </a:rPr>
              <a:t>+ Có thể sử dụng chế độ năng lượng thấp và ngắt sẽ đánh thức CPU</a:t>
            </a:r>
            <a:br>
              <a:rPr lang="vi-VN" dirty="0"/>
            </a:br>
            <a:r>
              <a:rPr lang="vi-VN" sz="1200" b="0" i="0" kern="1200" dirty="0">
                <a:solidFill>
                  <a:schemeClr val="tx1"/>
                </a:solidFill>
                <a:effectLst/>
                <a:latin typeface="+mn-lt"/>
                <a:ea typeface="+mn-ea"/>
                <a:cs typeface="+mn-cs"/>
              </a:rPr>
              <a:t>+ Hỗ trợ Nested Interrupt (ngắt có ưu tiên cao hơn sẽ được thực hiện và tạm ngưng thực thi ngắt có ưu tiên thấp hơn).</a:t>
            </a:r>
            <a:br>
              <a:rPr lang="vi-VN" dirty="0"/>
            </a:br>
            <a:r>
              <a:rPr lang="vi-VN" sz="1200" b="0" i="1" kern="1200" dirty="0">
                <a:solidFill>
                  <a:schemeClr val="tx1"/>
                </a:solidFill>
                <a:effectLst/>
                <a:latin typeface="+mn-lt"/>
                <a:ea typeface="+mn-ea"/>
                <a:cs typeface="+mn-cs"/>
              </a:rPr>
              <a:t>– Khuyết điểm: </a:t>
            </a:r>
            <a:br>
              <a:rPr lang="vi-VN" dirty="0"/>
            </a:br>
            <a:r>
              <a:rPr lang="vi-VN" sz="1200" b="0" i="0" kern="1200" dirty="0">
                <a:solidFill>
                  <a:schemeClr val="tx1"/>
                </a:solidFill>
                <a:effectLst/>
                <a:latin typeface="+mn-lt"/>
                <a:ea typeface="+mn-ea"/>
                <a:cs typeface="+mn-cs"/>
              </a:rPr>
              <a:t>+ Debug phức tạp hơn</a:t>
            </a:r>
            <a:br>
              <a:rPr lang="vi-VN" dirty="0"/>
            </a:br>
            <a:r>
              <a:rPr lang="vi-VN" sz="1200" b="0" i="0" kern="1200" dirty="0">
                <a:solidFill>
                  <a:schemeClr val="tx1"/>
                </a:solidFill>
                <a:effectLst/>
                <a:latin typeface="+mn-lt"/>
                <a:ea typeface="+mn-ea"/>
                <a:cs typeface="+mn-cs"/>
              </a:rPr>
              <a:t>+ Các tài nguyên có thể được sử dụng bất ngờ.</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B3067B3-3AE6-DD4A-9E3D-C999AB3971A1}" type="slidenum">
              <a:rPr lang="en-US" smtClean="0"/>
              <a:t>19</a:t>
            </a:fld>
            <a:endParaRPr lang="en-US"/>
          </a:p>
        </p:txBody>
      </p:sp>
    </p:spTree>
    <p:extLst>
      <p:ext uri="{BB962C8B-B14F-4D97-AF65-F5344CB8AC3E}">
        <p14:creationId xmlns:p14="http://schemas.microsoft.com/office/powerpoint/2010/main" val="3226148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20</a:t>
            </a:fld>
            <a:endParaRPr lang="en-US"/>
          </a:p>
        </p:txBody>
      </p:sp>
    </p:spTree>
    <p:extLst>
      <p:ext uri="{BB962C8B-B14F-4D97-AF65-F5344CB8AC3E}">
        <p14:creationId xmlns:p14="http://schemas.microsoft.com/office/powerpoint/2010/main" val="1561450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21</a:t>
            </a:fld>
            <a:endParaRPr lang="en-US"/>
          </a:p>
        </p:txBody>
      </p:sp>
    </p:spTree>
    <p:extLst>
      <p:ext uri="{BB962C8B-B14F-4D97-AF65-F5344CB8AC3E}">
        <p14:creationId xmlns:p14="http://schemas.microsoft.com/office/powerpoint/2010/main" val="4120463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3067B3-3AE6-DD4A-9E3D-C999AB3971A1}" type="slidenum">
              <a:rPr lang="en-US" smtClean="0"/>
              <a:t>23</a:t>
            </a:fld>
            <a:endParaRPr lang="en-US"/>
          </a:p>
        </p:txBody>
      </p:sp>
    </p:spTree>
    <p:extLst>
      <p:ext uri="{BB962C8B-B14F-4D97-AF65-F5344CB8AC3E}">
        <p14:creationId xmlns:p14="http://schemas.microsoft.com/office/powerpoint/2010/main" val="639896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1"/>
          <p:cNvSpPr>
            <a:spLocks noGrp="1"/>
          </p:cNvSpPr>
          <p:nvPr>
            <p:ph type="ctrTitle"/>
          </p:nvPr>
        </p:nvSpPr>
        <p:spPr>
          <a:xfrm>
            <a:off x="171450" y="1743789"/>
            <a:ext cx="6179344" cy="678021"/>
          </a:xfrm>
        </p:spPr>
        <p:txBody>
          <a:bodyPr>
            <a:noAutofit/>
          </a:bodyPr>
          <a:lstStyle>
            <a:lvl1pPr algn="l">
              <a:defRPr sz="3200">
                <a:solidFill>
                  <a:srgbClr val="FF6600"/>
                </a:solidFill>
              </a:defRPr>
            </a:lvl1pPr>
          </a:lstStyle>
          <a:p>
            <a:r>
              <a:rPr lang="en-US" dirty="0"/>
              <a:t>Click to edit Master title style</a:t>
            </a:r>
          </a:p>
        </p:txBody>
      </p:sp>
      <p:sp>
        <p:nvSpPr>
          <p:cNvPr id="3" name="Subtitle 2"/>
          <p:cNvSpPr>
            <a:spLocks noGrp="1"/>
          </p:cNvSpPr>
          <p:nvPr>
            <p:ph type="subTitle" idx="1"/>
          </p:nvPr>
        </p:nvSpPr>
        <p:spPr>
          <a:xfrm>
            <a:off x="171450" y="2571750"/>
            <a:ext cx="6179344" cy="434975"/>
          </a:xfrm>
        </p:spPr>
        <p:txBody>
          <a:bodyPr>
            <a:normAutofit/>
          </a:bodyPr>
          <a:lstStyle>
            <a:lvl1pPr marL="0" indent="0" algn="l">
              <a:buNone/>
              <a:defRPr sz="2000" i="1">
                <a:solidFill>
                  <a:srgbClr val="99CC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171450" y="4767263"/>
            <a:ext cx="1367315" cy="273844"/>
          </a:xfrm>
        </p:spPr>
        <p:txBody>
          <a:bodyPr/>
          <a:lstStyle/>
          <a:p>
            <a:fld id="{63A9D870-3F93-4B8A-8AC9-9D3B4FB155C2}" type="datetime1">
              <a:rPr lang="en-US" smtClean="0"/>
              <a:t>9/6/2026</a:t>
            </a:fld>
            <a:endParaRPr lang="en-US"/>
          </a:p>
        </p:txBody>
      </p:sp>
      <p:sp>
        <p:nvSpPr>
          <p:cNvPr id="5" name="Footer Placeholder 4"/>
          <p:cNvSpPr>
            <a:spLocks noGrp="1"/>
          </p:cNvSpPr>
          <p:nvPr>
            <p:ph type="ftr" sz="quarter" idx="11"/>
          </p:nvPr>
        </p:nvSpPr>
        <p:spPr>
          <a:xfrm>
            <a:off x="1868557" y="4767263"/>
            <a:ext cx="6139587" cy="273844"/>
          </a:xfrm>
        </p:spPr>
        <p:txBody>
          <a:bodyPr/>
          <a:lstStyle/>
          <a:p>
            <a:r>
              <a:rPr lang="en-US"/>
              <a:t>09e-BM/DT/FSOFT - ©FPT SOFTWARE – Fresher Academy - Internal Use</a:t>
            </a:r>
            <a:endParaRPr lang="en-US" dirty="0"/>
          </a:p>
        </p:txBody>
      </p:sp>
      <p:sp>
        <p:nvSpPr>
          <p:cNvPr id="6" name="Slide Number Placeholder 5"/>
          <p:cNvSpPr>
            <a:spLocks noGrp="1"/>
          </p:cNvSpPr>
          <p:nvPr>
            <p:ph type="sldNum" sz="quarter" idx="12"/>
          </p:nvPr>
        </p:nvSpPr>
        <p:spPr>
          <a:xfrm>
            <a:off x="8122444" y="4767263"/>
            <a:ext cx="564356" cy="273844"/>
          </a:xfrm>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81376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20" cy="644057"/>
          </a:xfrm>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45074E-53EC-4432-BF9B-A29996D62E7F}" type="datetime1">
              <a:rPr lang="en-US" smtClean="0"/>
              <a:t>9/6/2026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226263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789B-5D05-4E47-B9C1-C0FFAEB67DE3}"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45417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42912" y="3305176"/>
            <a:ext cx="8458199" cy="1021556"/>
          </a:xfrm>
        </p:spPr>
        <p:txBody>
          <a:bodyPr anchor="t"/>
          <a:lstStyle>
            <a:lvl1pPr algn="l">
              <a:defRPr sz="3200" b="1" cap="all">
                <a:solidFill>
                  <a:schemeClr val="accent6">
                    <a:lumMod val="75000"/>
                  </a:schemeClr>
                </a:solidFill>
              </a:defRPr>
            </a:lvl1pPr>
          </a:lstStyle>
          <a:p>
            <a:endParaRPr lang="en-US"/>
          </a:p>
        </p:txBody>
      </p:sp>
      <p:sp>
        <p:nvSpPr>
          <p:cNvPr id="3" name="Text Placeholder 2"/>
          <p:cNvSpPr>
            <a:spLocks noGrp="1"/>
          </p:cNvSpPr>
          <p:nvPr>
            <p:ph type="body" idx="1"/>
          </p:nvPr>
        </p:nvSpPr>
        <p:spPr>
          <a:xfrm>
            <a:off x="442912" y="2180035"/>
            <a:ext cx="8458199"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42913" y="4767263"/>
            <a:ext cx="1203007" cy="273844"/>
          </a:xfrm>
        </p:spPr>
        <p:txBody>
          <a:bodyPr/>
          <a:lstStyle/>
          <a:p>
            <a:fld id="{95690783-B5B6-43F6-9D05-1F8793B02117}" type="datetime1">
              <a:rPr lang="en-US" smtClean="0"/>
              <a:t>9/6/2026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19322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78606" y="900113"/>
            <a:ext cx="4217194" cy="3771900"/>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252912" cy="3771900"/>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2AB3E9-7592-48AC-A218-7AC85EB51A08}" type="datetime1">
              <a:rPr lang="en-US" smtClean="0"/>
              <a:t>9/6/2026</a:t>
            </a:fld>
            <a:endParaRPr lang="en-US"/>
          </a:p>
        </p:txBody>
      </p:sp>
      <p:sp>
        <p:nvSpPr>
          <p:cNvPr id="6" name="Footer Placeholder 5"/>
          <p:cNvSpPr>
            <a:spLocks noGrp="1"/>
          </p:cNvSpPr>
          <p:nvPr>
            <p:ph type="ftr" sz="quarter" idx="11"/>
          </p:nvPr>
        </p:nvSpPr>
        <p:spPr/>
        <p:txBody>
          <a:bodyPr/>
          <a:lstStyle/>
          <a:p>
            <a:r>
              <a:rPr lang="en-US"/>
              <a:t>09e-BM/DT/FSOFT - ©FPT SOFTWARE – Fresher Academy - Internal Use</a:t>
            </a:r>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01844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789B-5D05-4E47-B9C1-C0FFAEB67DE3}"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
        <p:nvSpPr>
          <p:cNvPr id="6" name="Content Placeholder 2"/>
          <p:cNvSpPr>
            <a:spLocks noGrp="1"/>
          </p:cNvSpPr>
          <p:nvPr>
            <p:ph sz="half" idx="1"/>
          </p:nvPr>
        </p:nvSpPr>
        <p:spPr>
          <a:xfrm>
            <a:off x="278606" y="900113"/>
            <a:ext cx="4217194" cy="2221706"/>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p:cNvSpPr>
            <a:spLocks noGrp="1"/>
          </p:cNvSpPr>
          <p:nvPr>
            <p:ph sz="half" idx="2"/>
          </p:nvPr>
        </p:nvSpPr>
        <p:spPr>
          <a:xfrm>
            <a:off x="4648200" y="900113"/>
            <a:ext cx="4252912" cy="2221706"/>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p:nvPr>
        </p:nvSpPr>
        <p:spPr>
          <a:xfrm>
            <a:off x="278606" y="3258343"/>
            <a:ext cx="8622506" cy="1349375"/>
          </a:xfrm>
        </p:spPr>
        <p:txBody>
          <a:bodyPr>
            <a:noAutofit/>
          </a:bodyPr>
          <a:lstStyle>
            <a:lvl1pPr>
              <a:defRPr sz="2000"/>
            </a:lvl1pPr>
            <a:lvl2pPr marL="457200" indent="0">
              <a:buNone/>
              <a:defRPr sz="1800"/>
            </a:lvl2pPr>
            <a:lvl3pPr>
              <a:defRPr sz="16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184714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7162" y="55784"/>
            <a:ext cx="7100888" cy="54068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7161" y="858441"/>
            <a:ext cx="4271963" cy="47982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7161" y="1338261"/>
            <a:ext cx="4271963" cy="3276601"/>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00575" y="845344"/>
            <a:ext cx="4300537" cy="47982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00575" y="1325165"/>
            <a:ext cx="4300537" cy="328969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57163" y="4767263"/>
            <a:ext cx="1488758" cy="273844"/>
          </a:xfrm>
        </p:spPr>
        <p:txBody>
          <a:bodyPr/>
          <a:lstStyle/>
          <a:p>
            <a:fld id="{89809214-B0AA-40EF-B713-56DABC867509}" type="datetime1">
              <a:rPr lang="en-US" smtClean="0"/>
              <a:t>9/6/2026</a:t>
            </a:fld>
            <a:endParaRPr lang="en-US"/>
          </a:p>
        </p:txBody>
      </p:sp>
      <p:sp>
        <p:nvSpPr>
          <p:cNvPr id="8" name="Footer Placeholder 7"/>
          <p:cNvSpPr>
            <a:spLocks noGrp="1"/>
          </p:cNvSpPr>
          <p:nvPr>
            <p:ph type="ftr" sz="quarter" idx="11"/>
          </p:nvPr>
        </p:nvSpPr>
        <p:spPr/>
        <p:txBody>
          <a:bodyPr/>
          <a:lstStyle/>
          <a:p>
            <a:r>
              <a:rPr lang="en-US"/>
              <a:t>09e-BM/DT/FSOFT - ©FPT SOFTWARE – Fresher Academy - Internal Use</a:t>
            </a:r>
          </a:p>
        </p:txBody>
      </p:sp>
      <p:sp>
        <p:nvSpPr>
          <p:cNvPr id="9" name="Slide Number Placeholder 8"/>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371065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778E15-6A1B-4F98-93CA-BDA6731742CD}" type="datetime1">
              <a:rPr lang="en-US" smtClean="0"/>
              <a:t>9/6/2026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77462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Placeholder 1"/>
          <p:cNvSpPr>
            <a:spLocks noGrp="1"/>
          </p:cNvSpPr>
          <p:nvPr>
            <p:ph type="title"/>
          </p:nvPr>
        </p:nvSpPr>
        <p:spPr>
          <a:xfrm>
            <a:off x="278606" y="0"/>
            <a:ext cx="6885519" cy="644057"/>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278605" y="850106"/>
            <a:ext cx="8622507" cy="3744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8605" y="4767263"/>
            <a:ext cx="1367315"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276789B-5D05-4E47-B9C1-C0FFAEB67DE3}" type="datetime1">
              <a:rPr lang="en-US" smtClean="0"/>
              <a:t>9/6/2026</a:t>
            </a:fld>
            <a:endParaRPr lang="en-US"/>
          </a:p>
        </p:txBody>
      </p:sp>
      <p:sp>
        <p:nvSpPr>
          <p:cNvPr id="5" name="Footer Placeholder 4"/>
          <p:cNvSpPr>
            <a:spLocks noGrp="1"/>
          </p:cNvSpPr>
          <p:nvPr>
            <p:ph type="ftr" sz="quarter" idx="3"/>
          </p:nvPr>
        </p:nvSpPr>
        <p:spPr>
          <a:xfrm>
            <a:off x="1764506" y="4767263"/>
            <a:ext cx="6372225" cy="273844"/>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200">
                <a:solidFill>
                  <a:schemeClr val="tx1">
                    <a:tint val="75000"/>
                  </a:schemeClr>
                </a:solidFill>
              </a:defRPr>
            </a:lvl1pPr>
          </a:lstStyle>
          <a:p>
            <a:r>
              <a:rPr lang="en-US"/>
              <a:t>09e-BM/DT/FSOFT - ©FPT SOFTWARE – Fresher Academy - Internal Use</a:t>
            </a:r>
            <a:endParaRPr lang="en-US" dirty="0"/>
          </a:p>
        </p:txBody>
      </p:sp>
      <p:sp>
        <p:nvSpPr>
          <p:cNvPr id="6" name="Slide Number Placeholder 5"/>
          <p:cNvSpPr>
            <a:spLocks noGrp="1"/>
          </p:cNvSpPr>
          <p:nvPr>
            <p:ph type="sldNum" sz="quarter" idx="4"/>
          </p:nvPr>
        </p:nvSpPr>
        <p:spPr>
          <a:xfrm>
            <a:off x="8229600" y="4767263"/>
            <a:ext cx="671512"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3B08AF7-4237-6949-8335-F63F47C2C8CC}" type="slidenum">
              <a:rPr lang="en-US" smtClean="0"/>
              <a:t>‹#›</a:t>
            </a:fld>
            <a:endParaRPr lang="en-US"/>
          </a:p>
        </p:txBody>
      </p:sp>
    </p:spTree>
    <p:extLst>
      <p:ext uri="{BB962C8B-B14F-4D97-AF65-F5344CB8AC3E}">
        <p14:creationId xmlns:p14="http://schemas.microsoft.com/office/powerpoint/2010/main" val="2986712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51" r:id="rId4"/>
    <p:sldLayoutId id="2147483652" r:id="rId5"/>
    <p:sldLayoutId id="2147483660" r:id="rId6"/>
    <p:sldLayoutId id="2147483653" r:id="rId7"/>
    <p:sldLayoutId id="2147483658" r:id="rId8"/>
  </p:sldLayoutIdLst>
  <p:hf hdr="0"/>
  <p:txStyles>
    <p:titleStyle>
      <a:lvl1pPr algn="l" defTabSz="457200" rtl="0" eaLnBrk="1" latinLnBrk="0" hangingPunct="1">
        <a:spcBef>
          <a:spcPct val="0"/>
        </a:spcBef>
        <a:buNone/>
        <a:defRPr sz="32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Embedded Software Development</a:t>
            </a:r>
          </a:p>
        </p:txBody>
      </p:sp>
      <p:sp>
        <p:nvSpPr>
          <p:cNvPr id="4" name="Date Placeholder 3"/>
          <p:cNvSpPr>
            <a:spLocks noGrp="1"/>
          </p:cNvSpPr>
          <p:nvPr>
            <p:ph type="dt" sz="half" idx="10"/>
          </p:nvPr>
        </p:nvSpPr>
        <p:spPr/>
        <p:txBody>
          <a:bodyPr/>
          <a:lstStyle/>
          <a:p>
            <a:fld id="{1F45074E-53EC-4432-BF9B-A29996D62E7F}" type="datetime1">
              <a:rPr lang="en-US" smtClean="0"/>
              <a:t>9/6/2026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1</a:t>
            </a:fld>
            <a:endParaRPr lang="en-US"/>
          </a:p>
        </p:txBody>
      </p:sp>
      <p:sp>
        <p:nvSpPr>
          <p:cNvPr id="3" name="Subtitle 2">
            <a:extLst>
              <a:ext uri="{FF2B5EF4-FFF2-40B4-BE49-F238E27FC236}">
                <a16:creationId xmlns:a16="http://schemas.microsoft.com/office/drawing/2014/main" id="{563EC332-B247-95F7-1E4E-1A4A9372370C}"/>
              </a:ext>
            </a:extLst>
          </p:cNvPr>
          <p:cNvSpPr>
            <a:spLocks noGrp="1"/>
          </p:cNvSpPr>
          <p:nvPr>
            <p:ph type="subTitle" idx="1"/>
          </p:nvPr>
        </p:nvSpPr>
        <p:spPr/>
        <p:txBody>
          <a:bodyPr vert="horz" lIns="91440" tIns="45720" rIns="91440" bIns="45720" rtlCol="0" anchor="t">
            <a:normAutofit/>
          </a:bodyPr>
          <a:lstStyle/>
          <a:p>
            <a:endParaRPr lang="en-US" dirty="0"/>
          </a:p>
        </p:txBody>
      </p:sp>
    </p:spTree>
    <p:extLst>
      <p:ext uri="{BB962C8B-B14F-4D97-AF65-F5344CB8AC3E}">
        <p14:creationId xmlns:p14="http://schemas.microsoft.com/office/powerpoint/2010/main" val="47839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400" dirty="0">
                <a:latin typeface="Arial" panose="020B0604020202020204" pitchFamily="34" charset="0"/>
                <a:cs typeface="Arial" panose="020B0604020202020204" pitchFamily="34" charset="0"/>
              </a:rPr>
              <a:t>Lesson</a:t>
            </a:r>
            <a:r>
              <a:rPr lang="vi-VN"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O</a:t>
            </a:r>
            <a:r>
              <a:rPr lang="vi-VN" altLang="en-US" sz="2400" dirty="0">
                <a:latin typeface="Arial" panose="020B0604020202020204" pitchFamily="34" charset="0"/>
                <a:cs typeface="Arial" panose="020B0604020202020204" pitchFamily="34" charset="0"/>
              </a:rPr>
              <a:t>bjectives</a:t>
            </a: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000" i="1" dirty="0"/>
              <a:t>Embedded Software Overview</a:t>
            </a:r>
          </a:p>
          <a:p>
            <a:r>
              <a:rPr lang="en-US" sz="2000" i="1" dirty="0"/>
              <a:t>Embedded Software Development Flow </a:t>
            </a:r>
          </a:p>
          <a:p>
            <a:r>
              <a:rPr lang="en-US" sz="2000" i="1" dirty="0"/>
              <a:t>Software Flow</a:t>
            </a:r>
          </a:p>
          <a:p>
            <a:endParaRPr lang="en-US" sz="2000" i="1" dirty="0"/>
          </a:p>
        </p:txBody>
      </p:sp>
      <p:sp>
        <p:nvSpPr>
          <p:cNvPr id="4" name="Date Placeholder 3"/>
          <p:cNvSpPr>
            <a:spLocks noGrp="1"/>
          </p:cNvSpPr>
          <p:nvPr>
            <p:ph type="dt" sz="half" idx="10"/>
          </p:nvPr>
        </p:nvSpPr>
        <p:spPr/>
        <p:txBody>
          <a:bodyPr/>
          <a:lstStyle/>
          <a:p>
            <a:fld id="{6D833602-3032-40E0-910C-A05081070B9D}" type="datetime1">
              <a:rPr lang="en-US" smtClean="0"/>
              <a:t>9/6/2026</a:t>
            </a:fld>
            <a:endParaRPr lang="en-US"/>
          </a:p>
        </p:txBody>
      </p:sp>
      <p:sp>
        <p:nvSpPr>
          <p:cNvPr id="6"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a:t>
            </a:fld>
            <a:endParaRPr lang="en-US"/>
          </a:p>
        </p:txBody>
      </p:sp>
    </p:spTree>
    <p:extLst>
      <p:ext uri="{BB962C8B-B14F-4D97-AF65-F5344CB8AC3E}">
        <p14:creationId xmlns:p14="http://schemas.microsoft.com/office/powerpoint/2010/main" val="68382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vi-VN" sz="2400" b="0" cap="none" dirty="0">
                <a:solidFill>
                  <a:schemeClr val="tx1">
                    <a:lumMod val="95000"/>
                    <a:lumOff val="5000"/>
                  </a:schemeClr>
                </a:solidFill>
                <a:latin typeface="Arial" charset="0"/>
                <a:ea typeface="+mn-ea"/>
                <a:cs typeface="Arial" charset="0"/>
              </a:rPr>
              <a:t>Embedded Software Overview </a:t>
            </a:r>
            <a:endParaRPr lang="en-US" sz="4400" dirty="0">
              <a:solidFill>
                <a:schemeClr val="tx1">
                  <a:lumMod val="95000"/>
                  <a:lumOff val="5000"/>
                </a:schemeClr>
              </a:solidFill>
            </a:endParaRPr>
          </a:p>
        </p:txBody>
      </p:sp>
      <p:sp>
        <p:nvSpPr>
          <p:cNvPr id="6" name="Title 1"/>
          <p:cNvSpPr>
            <a:spLocks noGrp="1"/>
          </p:cNvSpPr>
          <p:nvPr>
            <p:ph type="body" idx="1"/>
          </p:nvPr>
        </p:nvSpPr>
        <p:spPr/>
        <p:txBody>
          <a:bodyPr/>
          <a:lstStyle/>
          <a:p>
            <a:pPr>
              <a:defRPr/>
            </a:pPr>
            <a:r>
              <a:rPr lang="en-GB" dirty="0">
                <a:latin typeface="Arial" charset="0"/>
                <a:cs typeface="Arial" charset="0"/>
              </a:rPr>
              <a:t>Section 1</a:t>
            </a:r>
            <a:endParaRPr lang="vi-VN" dirty="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9/6/2026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a:t>
            </a:fld>
            <a:endParaRPr lang="en-US"/>
          </a:p>
        </p:txBody>
      </p:sp>
    </p:spTree>
    <p:extLst>
      <p:ext uri="{BB962C8B-B14F-4D97-AF65-F5344CB8AC3E}">
        <p14:creationId xmlns:p14="http://schemas.microsoft.com/office/powerpoint/2010/main" val="757988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Embedded Software Overview </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altLang="en-US" i="1" dirty="0"/>
              <a:t>Definition</a:t>
            </a:r>
          </a:p>
          <a:p>
            <a:pPr algn="just"/>
            <a:r>
              <a:rPr lang="en-US" altLang="en-US" i="1" dirty="0"/>
              <a:t>Features</a:t>
            </a:r>
          </a:p>
          <a:p>
            <a:pPr algn="just"/>
            <a:r>
              <a:rPr lang="en-US" altLang="en-US" i="1" dirty="0"/>
              <a:t>Common Components</a:t>
            </a:r>
          </a:p>
          <a:p>
            <a:pPr algn="just"/>
            <a:r>
              <a:rPr lang="en-US" altLang="en-US" i="1" dirty="0"/>
              <a:t>What </a:t>
            </a:r>
            <a:r>
              <a:rPr lang="en-US" altLang="en-US" i="1"/>
              <a:t>Is Needed </a:t>
            </a:r>
            <a:r>
              <a:rPr lang="en-US" altLang="en-US" i="1" dirty="0"/>
              <a:t>to </a:t>
            </a:r>
            <a:r>
              <a:rPr lang="en-US" altLang="en-US" i="1"/>
              <a:t>Get Started</a:t>
            </a:r>
            <a:endParaRPr lang="en-US" altLang="en-US" i="1" dirty="0"/>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4</a:t>
            </a:fld>
            <a:endParaRPr lang="en-US"/>
          </a:p>
        </p:txBody>
      </p:sp>
    </p:spTree>
    <p:extLst>
      <p:ext uri="{BB962C8B-B14F-4D97-AF65-F5344CB8AC3E}">
        <p14:creationId xmlns:p14="http://schemas.microsoft.com/office/powerpoint/2010/main" val="411664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Definition</a:t>
            </a:r>
          </a:p>
        </p:txBody>
      </p:sp>
      <p:sp>
        <p:nvSpPr>
          <p:cNvPr id="6" name="Title 1"/>
          <p:cNvSpPr>
            <a:spLocks noGrp="1"/>
          </p:cNvSpPr>
          <p:nvPr>
            <p:ph idx="1"/>
          </p:nvPr>
        </p:nvSpPr>
        <p:spPr/>
        <p:txBody>
          <a:bodyPr>
            <a:normAutofit/>
          </a:bodyPr>
          <a:lstStyle/>
          <a:p>
            <a:pPr algn="just"/>
            <a:r>
              <a:rPr lang="en-US" altLang="en-US" i="1" dirty="0"/>
              <a:t>Embedded software is computer software, written to control machines or devices that are not typically thought of as computers. It is typically specialized for the particular hardware that it runs on and has time and memory constraints. This term is sometimes used interchangeably with firmware</a:t>
            </a:r>
          </a:p>
          <a:p>
            <a:pPr marL="0" indent="0" algn="just">
              <a:buNone/>
            </a:pPr>
            <a:r>
              <a:rPr lang="en-US" altLang="en-US" i="1" dirty="0"/>
              <a:t>                                                                                       (wiki)</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5</a:t>
            </a:fld>
            <a:endParaRPr lang="en-US"/>
          </a:p>
        </p:txBody>
      </p:sp>
    </p:spTree>
    <p:extLst>
      <p:ext uri="{BB962C8B-B14F-4D97-AF65-F5344CB8AC3E}">
        <p14:creationId xmlns:p14="http://schemas.microsoft.com/office/powerpoint/2010/main" val="3910703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Features</a:t>
            </a:r>
          </a:p>
        </p:txBody>
      </p:sp>
      <p:sp>
        <p:nvSpPr>
          <p:cNvPr id="6" name="Title 1"/>
          <p:cNvSpPr>
            <a:spLocks noGrp="1"/>
          </p:cNvSpPr>
          <p:nvPr>
            <p:ph idx="1"/>
          </p:nvPr>
        </p:nvSpPr>
        <p:spPr/>
        <p:txBody>
          <a:bodyPr>
            <a:normAutofit/>
          </a:bodyPr>
          <a:lstStyle/>
          <a:p>
            <a:pPr algn="just"/>
            <a:r>
              <a:rPr lang="en-US" altLang="en-US" i="1" dirty="0"/>
              <a:t>Acts directly with and on the hardware</a:t>
            </a:r>
          </a:p>
          <a:p>
            <a:pPr algn="just"/>
            <a:endParaRPr lang="en-US" altLang="en-US" i="1" dirty="0"/>
          </a:p>
          <a:p>
            <a:pPr algn="just"/>
            <a:r>
              <a:rPr lang="en-US" altLang="en-US" i="1"/>
              <a:t>Very </a:t>
            </a:r>
            <a:r>
              <a:rPr lang="en-US" altLang="en-US" i="1" dirty="0"/>
              <a:t>limited resources.</a:t>
            </a:r>
          </a:p>
          <a:p>
            <a:pPr algn="just"/>
            <a:endParaRPr lang="en-US" altLang="en-US" i="1" dirty="0"/>
          </a:p>
          <a:p>
            <a:pPr algn="just"/>
            <a:r>
              <a:rPr lang="en-US" altLang="en-US" i="1"/>
              <a:t>Uses </a:t>
            </a:r>
            <a:r>
              <a:rPr lang="en-US" altLang="en-US" i="1" dirty="0"/>
              <a:t>a “</a:t>
            </a:r>
            <a:r>
              <a:rPr lang="en-US" altLang="en-US" i="1"/>
              <a:t>non-hosted</a:t>
            </a:r>
            <a:r>
              <a:rPr lang="en-US" altLang="en-US" i="1" dirty="0"/>
              <a:t> environment”</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6</a:t>
            </a:fld>
            <a:endParaRPr lang="en-US"/>
          </a:p>
        </p:txBody>
      </p:sp>
    </p:spTree>
    <p:extLst>
      <p:ext uri="{BB962C8B-B14F-4D97-AF65-F5344CB8AC3E}">
        <p14:creationId xmlns:p14="http://schemas.microsoft.com/office/powerpoint/2010/main" val="3605942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anchor="ctr">
            <a:normAutofit/>
          </a:bodyPr>
          <a:lstStyle/>
          <a:p>
            <a:r>
              <a:rPr lang="en-US" altLang="en-US" dirty="0"/>
              <a:t>Common Components</a:t>
            </a:r>
          </a:p>
        </p:txBody>
      </p:sp>
      <p:sp>
        <p:nvSpPr>
          <p:cNvPr id="6" name="Title 1"/>
          <p:cNvSpPr>
            <a:spLocks noGrp="1"/>
          </p:cNvSpPr>
          <p:nvPr>
            <p:ph sz="half" idx="1"/>
          </p:nvPr>
        </p:nvSpPr>
        <p:spPr>
          <a:xfrm>
            <a:off x="278606" y="900113"/>
            <a:ext cx="4217194" cy="3771900"/>
          </a:xfrm>
        </p:spPr>
        <p:txBody>
          <a:bodyPr>
            <a:normAutofit/>
          </a:bodyPr>
          <a:lstStyle/>
          <a:p>
            <a:r>
              <a:rPr lang="en-US" altLang="en-US" i="1" dirty="0"/>
              <a:t>Reset vector</a:t>
            </a:r>
          </a:p>
          <a:p>
            <a:r>
              <a:rPr lang="en-US" altLang="en-US" i="1" dirty="0"/>
              <a:t>Startup code</a:t>
            </a:r>
          </a:p>
          <a:p>
            <a:r>
              <a:rPr lang="en-US" altLang="en-US" i="1" dirty="0"/>
              <a:t>Application code</a:t>
            </a:r>
          </a:p>
          <a:p>
            <a:r>
              <a:rPr lang="en-US" altLang="en-US" i="1" dirty="0"/>
              <a:t>Libraries</a:t>
            </a:r>
          </a:p>
          <a:p>
            <a:r>
              <a:rPr lang="en-US" altLang="en-US" i="1" dirty="0"/>
              <a:t>Interrupt/Exception </a:t>
            </a:r>
            <a:r>
              <a:rPr lang="en-US" altLang="en-US" i="1"/>
              <a:t>handlers</a:t>
            </a:r>
            <a:endParaRPr lang="en-US" altLang="en-US" i="1" dirty="0"/>
          </a:p>
        </p:txBody>
      </p:sp>
      <p:pic>
        <p:nvPicPr>
          <p:cNvPr id="7" name="Picture 2" descr="Diagram&#10;&#10;Description automatically generated">
            <a:extLst>
              <a:ext uri="{FF2B5EF4-FFF2-40B4-BE49-F238E27FC236}">
                <a16:creationId xmlns:a16="http://schemas.microsoft.com/office/drawing/2014/main" id="{C0D5D1A3-C80A-4552-A297-923AF6B40F8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01204" y="900113"/>
            <a:ext cx="3146904" cy="3771900"/>
          </a:xfrm>
          <a:prstGeom prst="rect">
            <a:avLst/>
          </a:prstGeom>
          <a:solidFill>
            <a:schemeClr val="accent1"/>
          </a:solidFill>
          <a:ln>
            <a:noFill/>
          </a:ln>
          <a:extLs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2879C26C-EA9B-46F9-9E85-988B19AAD8EA}" type="datetime1">
              <a:rPr lang="en-US" smtClean="0"/>
              <a:pPr>
                <a:lnSpc>
                  <a:spcPct val="90000"/>
                </a:lnSpc>
                <a:spcAft>
                  <a:spcPts val="600"/>
                </a:spcAft>
              </a:pPr>
              <a:t>9/6/2026</a:t>
            </a:fld>
            <a:endParaRPr lang="en-US"/>
          </a:p>
        </p:txBody>
      </p:sp>
      <p:sp>
        <p:nvSpPr>
          <p:cNvPr id="4"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7</a:t>
            </a:fld>
            <a:endParaRPr lang="en-US"/>
          </a:p>
        </p:txBody>
      </p:sp>
    </p:spTree>
    <p:extLst>
      <p:ext uri="{BB962C8B-B14F-4D97-AF65-F5344CB8AC3E}">
        <p14:creationId xmlns:p14="http://schemas.microsoft.com/office/powerpoint/2010/main" val="2818127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anchor="ctr">
            <a:normAutofit/>
          </a:bodyPr>
          <a:lstStyle/>
          <a:p>
            <a:r>
              <a:rPr lang="en-US" altLang="en-US" dirty="0"/>
              <a:t>What </a:t>
            </a:r>
            <a:r>
              <a:rPr lang="en-US" altLang="en-US"/>
              <a:t>Is Needed </a:t>
            </a:r>
            <a:r>
              <a:rPr lang="en-US" altLang="en-US" dirty="0"/>
              <a:t>to </a:t>
            </a:r>
            <a:r>
              <a:rPr lang="en-US" altLang="en-US"/>
              <a:t>Get Started</a:t>
            </a:r>
            <a:r>
              <a:rPr lang="en-US" altLang="en-US" dirty="0"/>
              <a:t>?</a:t>
            </a:r>
          </a:p>
        </p:txBody>
      </p:sp>
      <p:sp>
        <p:nvSpPr>
          <p:cNvPr id="6" name="Title 1"/>
          <p:cNvSpPr>
            <a:spLocks noGrp="1"/>
          </p:cNvSpPr>
          <p:nvPr>
            <p:ph sz="half" idx="1"/>
          </p:nvPr>
        </p:nvSpPr>
        <p:spPr>
          <a:xfrm>
            <a:off x="278605" y="900113"/>
            <a:ext cx="8345849" cy="3771900"/>
          </a:xfrm>
        </p:spPr>
        <p:txBody>
          <a:bodyPr>
            <a:normAutofit/>
          </a:bodyPr>
          <a:lstStyle/>
          <a:p>
            <a:r>
              <a:rPr lang="en-US" altLang="en-US" i="1" dirty="0"/>
              <a:t>Development suites</a:t>
            </a:r>
          </a:p>
          <a:p>
            <a:r>
              <a:rPr lang="en-US" altLang="en-US" i="1" dirty="0"/>
              <a:t>Development board</a:t>
            </a:r>
          </a:p>
          <a:p>
            <a:r>
              <a:rPr lang="en-US" altLang="en-US" i="1" dirty="0"/>
              <a:t>Debug </a:t>
            </a:r>
            <a:r>
              <a:rPr lang="en-US" altLang="en-US" i="1"/>
              <a:t>adapter</a:t>
            </a:r>
          </a:p>
          <a:p>
            <a:r>
              <a:rPr lang="en-US" altLang="en-US" i="1" dirty="0"/>
              <a:t>Software device </a:t>
            </a:r>
            <a:r>
              <a:rPr lang="en-US" altLang="en-US" i="1"/>
              <a:t>drivers</a:t>
            </a:r>
            <a:endParaRPr lang="en-US" altLang="en-US" i="1" dirty="0"/>
          </a:p>
          <a:p>
            <a:r>
              <a:rPr lang="en-US" altLang="en-US" i="1"/>
              <a:t>Documentation</a:t>
            </a:r>
            <a:r>
              <a:rPr lang="en-US" altLang="en-US" i="1" dirty="0"/>
              <a:t> and other resources.</a:t>
            </a:r>
          </a:p>
        </p:txBody>
      </p:sp>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2879C26C-EA9B-46F9-9E85-988B19AAD8EA}" type="datetime1">
              <a:rPr lang="en-US" smtClean="0"/>
              <a:pPr>
                <a:lnSpc>
                  <a:spcPct val="90000"/>
                </a:lnSpc>
                <a:spcAft>
                  <a:spcPts val="600"/>
                </a:spcAft>
              </a:pPr>
              <a:t>9/6/2026</a:t>
            </a:fld>
            <a:endParaRPr lang="en-US"/>
          </a:p>
        </p:txBody>
      </p:sp>
      <p:sp>
        <p:nvSpPr>
          <p:cNvPr id="4"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8</a:t>
            </a:fld>
            <a:endParaRPr lang="en-US"/>
          </a:p>
        </p:txBody>
      </p:sp>
    </p:spTree>
    <p:extLst>
      <p:ext uri="{BB962C8B-B14F-4D97-AF65-F5344CB8AC3E}">
        <p14:creationId xmlns:p14="http://schemas.microsoft.com/office/powerpoint/2010/main" val="85853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vi-VN" sz="2400" b="0" cap="none" dirty="0">
                <a:solidFill>
                  <a:schemeClr val="tx1">
                    <a:lumMod val="95000"/>
                    <a:lumOff val="5000"/>
                  </a:schemeClr>
                </a:solidFill>
                <a:latin typeface="Arial" charset="0"/>
                <a:ea typeface="+mn-ea"/>
                <a:cs typeface="Arial" charset="0"/>
              </a:rPr>
              <a:t>Embedded Software Development Flow</a:t>
            </a:r>
          </a:p>
        </p:txBody>
      </p:sp>
      <p:sp>
        <p:nvSpPr>
          <p:cNvPr id="6" name="Title 1"/>
          <p:cNvSpPr>
            <a:spLocks noGrp="1"/>
          </p:cNvSpPr>
          <p:nvPr>
            <p:ph type="body" idx="1"/>
          </p:nvPr>
        </p:nvSpPr>
        <p:spPr/>
        <p:txBody>
          <a:bodyPr/>
          <a:lstStyle/>
          <a:p>
            <a:pPr>
              <a:defRPr/>
            </a:pPr>
            <a:r>
              <a:rPr lang="en-GB" dirty="0">
                <a:latin typeface="Arial" charset="0"/>
                <a:cs typeface="Arial" charset="0"/>
              </a:rPr>
              <a:t>Section 2</a:t>
            </a:r>
            <a:endParaRPr lang="vi-VN" dirty="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9/6/2026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9</a:t>
            </a:fld>
            <a:endParaRPr lang="en-US"/>
          </a:p>
        </p:txBody>
      </p:sp>
    </p:spTree>
    <p:extLst>
      <p:ext uri="{BB962C8B-B14F-4D97-AF65-F5344CB8AC3E}">
        <p14:creationId xmlns:p14="http://schemas.microsoft.com/office/powerpoint/2010/main" val="4095333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Embedded Software Development Flow</a:t>
            </a:r>
          </a:p>
        </p:txBody>
      </p:sp>
      <p:sp>
        <p:nvSpPr>
          <p:cNvPr id="6" name="Title 1"/>
          <p:cNvSpPr>
            <a:spLocks noGrp="1"/>
          </p:cNvSpPr>
          <p:nvPr>
            <p:ph idx="1"/>
          </p:nvPr>
        </p:nvSpPr>
        <p:spPr/>
        <p:txBody>
          <a:bodyPr>
            <a:normAutofit/>
          </a:bodyPr>
          <a:lstStyle/>
          <a:p>
            <a:pPr algn="just"/>
            <a:r>
              <a:rPr lang="en-US" altLang="en-US" i="1" dirty="0"/>
              <a:t>Software Development Steps in </a:t>
            </a:r>
            <a:r>
              <a:rPr lang="en-US" altLang="en-US" i="1"/>
              <a:t>an </a:t>
            </a:r>
            <a:r>
              <a:rPr lang="en-US" altLang="en-US" i="1" dirty="0"/>
              <a:t>IDE</a:t>
            </a:r>
          </a:p>
          <a:p>
            <a:pPr algn="just"/>
            <a:r>
              <a:rPr lang="en-US" altLang="en-US" i="1" dirty="0"/>
              <a:t>Development Flow </a:t>
            </a:r>
          </a:p>
          <a:p>
            <a:pPr algn="just"/>
            <a:r>
              <a:rPr lang="en-US" altLang="en-US" i="1" dirty="0"/>
              <a:t>Compilation Flow </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10</a:t>
            </a:fld>
            <a:endParaRPr lang="en-US"/>
          </a:p>
        </p:txBody>
      </p:sp>
    </p:spTree>
    <p:extLst>
      <p:ext uri="{BB962C8B-B14F-4D97-AF65-F5344CB8AC3E}">
        <p14:creationId xmlns:p14="http://schemas.microsoft.com/office/powerpoint/2010/main" val="397832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Software Development Steps in </a:t>
            </a:r>
            <a:r>
              <a:rPr lang="en-US" altLang="en-US" sz="2400"/>
              <a:t>an </a:t>
            </a:r>
            <a:r>
              <a:rPr lang="en-US" altLang="en-US" sz="2400" dirty="0"/>
              <a:t>IDE</a:t>
            </a:r>
          </a:p>
        </p:txBody>
      </p:sp>
      <p:sp>
        <p:nvSpPr>
          <p:cNvPr id="6" name="Title 1"/>
          <p:cNvSpPr>
            <a:spLocks noGrp="1"/>
          </p:cNvSpPr>
          <p:nvPr>
            <p:ph idx="1"/>
          </p:nvPr>
        </p:nvSpPr>
        <p:spPr/>
        <p:txBody>
          <a:bodyPr>
            <a:normAutofit/>
          </a:bodyPr>
          <a:lstStyle/>
          <a:p>
            <a:pPr algn="just"/>
            <a:r>
              <a:rPr lang="en-US" altLang="en-US" i="1"/>
              <a:t>Create a </a:t>
            </a:r>
            <a:r>
              <a:rPr lang="en-US" altLang="en-US" i="1" dirty="0"/>
              <a:t>project</a:t>
            </a:r>
          </a:p>
          <a:p>
            <a:pPr algn="just"/>
            <a:r>
              <a:rPr lang="en-US" altLang="en-US" i="1"/>
              <a:t>Set up </a:t>
            </a:r>
            <a:r>
              <a:rPr lang="en-US" altLang="en-US" i="1" dirty="0"/>
              <a:t>project </a:t>
            </a:r>
            <a:r>
              <a:rPr lang="en-US" altLang="en-US" i="1"/>
              <a:t>options</a:t>
            </a:r>
            <a:endParaRPr lang="en-US" altLang="en-US" i="1" dirty="0"/>
          </a:p>
          <a:p>
            <a:pPr algn="just"/>
            <a:r>
              <a:rPr lang="en-US" altLang="en-US" i="1" dirty="0"/>
              <a:t>Compile &amp; </a:t>
            </a:r>
            <a:r>
              <a:rPr lang="en-US" altLang="en-US" i="1"/>
              <a:t>link</a:t>
            </a:r>
            <a:endParaRPr lang="en-US" altLang="en-US" i="1" dirty="0"/>
          </a:p>
          <a:p>
            <a:pPr algn="just"/>
            <a:r>
              <a:rPr lang="en-US" altLang="en-US" i="1" dirty="0"/>
              <a:t>Flash </a:t>
            </a:r>
            <a:r>
              <a:rPr lang="en-US" altLang="en-US" i="1"/>
              <a:t>the program </a:t>
            </a:r>
            <a:endParaRPr lang="en-US" altLang="en-US" i="1" dirty="0"/>
          </a:p>
          <a:p>
            <a:pPr algn="just"/>
            <a:r>
              <a:rPr lang="en-US" altLang="en-US" i="1" dirty="0"/>
              <a:t>Execute &amp; </a:t>
            </a:r>
            <a:r>
              <a:rPr lang="en-US" altLang="en-US" i="1"/>
              <a:t>debug</a:t>
            </a:r>
            <a:endParaRPr lang="en-US" altLang="en-US" i="1" dirty="0"/>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11</a:t>
            </a:fld>
            <a:endParaRPr lang="en-US"/>
          </a:p>
        </p:txBody>
      </p:sp>
    </p:spTree>
    <p:extLst>
      <p:ext uri="{BB962C8B-B14F-4D97-AF65-F5344CB8AC3E}">
        <p14:creationId xmlns:p14="http://schemas.microsoft.com/office/powerpoint/2010/main" val="2345980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Embedded Software Development Flow</a:t>
            </a:r>
          </a:p>
        </p:txBody>
      </p:sp>
      <p:sp>
        <p:nvSpPr>
          <p:cNvPr id="6" name="Title 1"/>
          <p:cNvSpPr>
            <a:spLocks noGrp="1"/>
          </p:cNvSpPr>
          <p:nvPr>
            <p:ph idx="1"/>
          </p:nvPr>
        </p:nvSpPr>
        <p:spPr/>
        <p:txBody>
          <a:bodyPr>
            <a:normAutofit/>
          </a:bodyPr>
          <a:lstStyle/>
          <a:p>
            <a:pPr marL="0" indent="0" algn="just">
              <a:buNone/>
            </a:pPr>
            <a:r>
              <a:rPr lang="en-US" altLang="en-US" b="1" dirty="0"/>
              <a:t>Development Flow</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12</a:t>
            </a:fld>
            <a:endParaRPr lang="en-US"/>
          </a:p>
        </p:txBody>
      </p:sp>
      <p:pic>
        <p:nvPicPr>
          <p:cNvPr id="9" name="Picture 8" descr="Diagram&#10;&#10;Description automatically generated">
            <a:extLst>
              <a:ext uri="{FF2B5EF4-FFF2-40B4-BE49-F238E27FC236}">
                <a16:creationId xmlns:a16="http://schemas.microsoft.com/office/drawing/2014/main" id="{434B8DA5-8745-4150-ACF2-9DFF7FEB316E}"/>
              </a:ext>
            </a:extLst>
          </p:cNvPr>
          <p:cNvPicPr>
            <a:picLocks noChangeAspect="1"/>
          </p:cNvPicPr>
          <p:nvPr/>
        </p:nvPicPr>
        <p:blipFill>
          <a:blip r:embed="rId3"/>
          <a:stretch>
            <a:fillRect/>
          </a:stretch>
        </p:blipFill>
        <p:spPr>
          <a:xfrm>
            <a:off x="820897" y="1363463"/>
            <a:ext cx="7315834" cy="3231160"/>
          </a:xfrm>
          <a:prstGeom prst="rect">
            <a:avLst/>
          </a:prstGeom>
        </p:spPr>
      </p:pic>
    </p:spTree>
    <p:extLst>
      <p:ext uri="{BB962C8B-B14F-4D97-AF65-F5344CB8AC3E}">
        <p14:creationId xmlns:p14="http://schemas.microsoft.com/office/powerpoint/2010/main" val="1083739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Embedded Software Development Flow</a:t>
            </a:r>
          </a:p>
        </p:txBody>
      </p:sp>
      <p:sp>
        <p:nvSpPr>
          <p:cNvPr id="6" name="Title 1"/>
          <p:cNvSpPr>
            <a:spLocks noGrp="1"/>
          </p:cNvSpPr>
          <p:nvPr>
            <p:ph idx="1"/>
          </p:nvPr>
        </p:nvSpPr>
        <p:spPr/>
        <p:txBody>
          <a:bodyPr>
            <a:normAutofit/>
          </a:bodyPr>
          <a:lstStyle/>
          <a:p>
            <a:pPr marL="0" indent="0" algn="just">
              <a:buNone/>
            </a:pPr>
            <a:r>
              <a:rPr lang="en-US" altLang="en-US" b="1" dirty="0"/>
              <a:t>Compilation Flow</a:t>
            </a:r>
            <a:endParaRPr lang="en-US" altLang="en-US" i="1" dirty="0"/>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13</a:t>
            </a:fld>
            <a:endParaRPr lang="en-US"/>
          </a:p>
        </p:txBody>
      </p:sp>
      <p:pic>
        <p:nvPicPr>
          <p:cNvPr id="8" name="Picture 7" descr="Diagram&#10;&#10;Description automatically generated">
            <a:extLst>
              <a:ext uri="{FF2B5EF4-FFF2-40B4-BE49-F238E27FC236}">
                <a16:creationId xmlns:a16="http://schemas.microsoft.com/office/drawing/2014/main" id="{BA9B022F-9E77-4563-AF7E-08852EC33824}"/>
              </a:ext>
            </a:extLst>
          </p:cNvPr>
          <p:cNvPicPr>
            <a:picLocks noChangeAspect="1"/>
          </p:cNvPicPr>
          <p:nvPr/>
        </p:nvPicPr>
        <p:blipFill>
          <a:blip r:embed="rId3"/>
          <a:stretch>
            <a:fillRect/>
          </a:stretch>
        </p:blipFill>
        <p:spPr>
          <a:xfrm>
            <a:off x="1024582" y="1508256"/>
            <a:ext cx="7094835" cy="3086367"/>
          </a:xfrm>
          <a:prstGeom prst="rect">
            <a:avLst/>
          </a:prstGeom>
        </p:spPr>
      </p:pic>
    </p:spTree>
    <p:extLst>
      <p:ext uri="{BB962C8B-B14F-4D97-AF65-F5344CB8AC3E}">
        <p14:creationId xmlns:p14="http://schemas.microsoft.com/office/powerpoint/2010/main" val="200582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Embedded Software Development Flow</a:t>
            </a:r>
          </a:p>
        </p:txBody>
      </p:sp>
      <p:sp>
        <p:nvSpPr>
          <p:cNvPr id="6" name="Title 1"/>
          <p:cNvSpPr>
            <a:spLocks noGrp="1"/>
          </p:cNvSpPr>
          <p:nvPr>
            <p:ph idx="1"/>
          </p:nvPr>
        </p:nvSpPr>
        <p:spPr/>
        <p:txBody>
          <a:bodyPr>
            <a:normAutofit/>
          </a:bodyPr>
          <a:lstStyle/>
          <a:p>
            <a:pPr marL="0" indent="0" algn="just">
              <a:buNone/>
            </a:pPr>
            <a:r>
              <a:rPr lang="en-US" altLang="en-US" b="1" dirty="0"/>
              <a:t>IAR Compilation Flow                     IAR Link Flow</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14</a:t>
            </a:fld>
            <a:endParaRPr lang="en-US"/>
          </a:p>
        </p:txBody>
      </p:sp>
      <p:pic>
        <p:nvPicPr>
          <p:cNvPr id="7" name="Picture 3">
            <a:extLst>
              <a:ext uri="{FF2B5EF4-FFF2-40B4-BE49-F238E27FC236}">
                <a16:creationId xmlns:a16="http://schemas.microsoft.com/office/drawing/2014/main" id="{A6084422-A96D-4564-8114-743E20877CE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4679" y="1663440"/>
            <a:ext cx="3122867" cy="29311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a:extLst>
              <a:ext uri="{FF2B5EF4-FFF2-40B4-BE49-F238E27FC236}">
                <a16:creationId xmlns:a16="http://schemas.microsoft.com/office/drawing/2014/main" id="{FE2A3C58-BA80-4FB8-BA37-77239927E51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051621" y="1663440"/>
            <a:ext cx="3077394" cy="29311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409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vi-VN" sz="2400" b="0" cap="none" dirty="0">
                <a:solidFill>
                  <a:schemeClr val="tx1">
                    <a:lumMod val="95000"/>
                    <a:lumOff val="5000"/>
                  </a:schemeClr>
                </a:solidFill>
                <a:latin typeface="Arial" charset="0"/>
                <a:ea typeface="+mn-ea"/>
                <a:cs typeface="Arial" charset="0"/>
              </a:rPr>
              <a:t>Software Flow</a:t>
            </a:r>
          </a:p>
        </p:txBody>
      </p:sp>
      <p:sp>
        <p:nvSpPr>
          <p:cNvPr id="6" name="Title 1"/>
          <p:cNvSpPr>
            <a:spLocks noGrp="1"/>
          </p:cNvSpPr>
          <p:nvPr>
            <p:ph type="body" idx="1"/>
          </p:nvPr>
        </p:nvSpPr>
        <p:spPr/>
        <p:txBody>
          <a:bodyPr/>
          <a:lstStyle/>
          <a:p>
            <a:pPr>
              <a:defRPr/>
            </a:pPr>
            <a:r>
              <a:rPr lang="en-GB" dirty="0">
                <a:latin typeface="Arial" charset="0"/>
                <a:cs typeface="Arial" charset="0"/>
              </a:rPr>
              <a:t>Section 3</a:t>
            </a:r>
            <a:endParaRPr lang="vi-VN" dirty="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9/6/2026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15</a:t>
            </a:fld>
            <a:endParaRPr lang="en-US"/>
          </a:p>
        </p:txBody>
      </p:sp>
    </p:spTree>
    <p:extLst>
      <p:ext uri="{BB962C8B-B14F-4D97-AF65-F5344CB8AC3E}">
        <p14:creationId xmlns:p14="http://schemas.microsoft.com/office/powerpoint/2010/main" val="4058222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Software Flow</a:t>
            </a:r>
          </a:p>
        </p:txBody>
      </p:sp>
      <p:sp>
        <p:nvSpPr>
          <p:cNvPr id="6" name="Title 1"/>
          <p:cNvSpPr>
            <a:spLocks noGrp="1"/>
          </p:cNvSpPr>
          <p:nvPr>
            <p:ph idx="1"/>
          </p:nvPr>
        </p:nvSpPr>
        <p:spPr/>
        <p:txBody>
          <a:bodyPr>
            <a:normAutofit/>
          </a:bodyPr>
          <a:lstStyle/>
          <a:p>
            <a:pPr algn="just"/>
            <a:r>
              <a:rPr lang="en-US" altLang="en-US" i="1" dirty="0"/>
              <a:t>Definition and Key Differences</a:t>
            </a:r>
          </a:p>
          <a:p>
            <a:pPr algn="just"/>
            <a:r>
              <a:rPr lang="en-US" altLang="en-US" i="1" dirty="0"/>
              <a:t>Advantages and </a:t>
            </a:r>
            <a:r>
              <a:rPr lang="en-US" altLang="en-US" i="1"/>
              <a:t>Disadvantages</a:t>
            </a:r>
            <a:endParaRPr lang="en-US" altLang="en-US" i="1" dirty="0"/>
          </a:p>
          <a:p>
            <a:pPr algn="just"/>
            <a:r>
              <a:rPr lang="en-US" altLang="en-US" i="1" dirty="0"/>
              <a:t>Interrupt Process</a:t>
            </a:r>
          </a:p>
          <a:p>
            <a:pPr algn="just"/>
            <a:r>
              <a:rPr lang="en-US" altLang="en-US" i="1" dirty="0"/>
              <a:t>Interrupt Handler Features</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16</a:t>
            </a:fld>
            <a:endParaRPr lang="en-US"/>
          </a:p>
        </p:txBody>
      </p:sp>
    </p:spTree>
    <p:extLst>
      <p:ext uri="{BB962C8B-B14F-4D97-AF65-F5344CB8AC3E}">
        <p14:creationId xmlns:p14="http://schemas.microsoft.com/office/powerpoint/2010/main" val="322064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anchor="ctr">
            <a:normAutofit/>
          </a:bodyPr>
          <a:lstStyle/>
          <a:p>
            <a:r>
              <a:rPr lang="en-US" altLang="en-US"/>
              <a:t>Definition and Key Differences</a:t>
            </a:r>
          </a:p>
        </p:txBody>
      </p:sp>
      <p:sp>
        <p:nvSpPr>
          <p:cNvPr id="6" name="Title 1"/>
          <p:cNvSpPr>
            <a:spLocks noGrp="1"/>
          </p:cNvSpPr>
          <p:nvPr>
            <p:ph sz="half" idx="1"/>
          </p:nvPr>
        </p:nvSpPr>
        <p:spPr>
          <a:xfrm>
            <a:off x="278606" y="900113"/>
            <a:ext cx="4217194" cy="3771900"/>
          </a:xfrm>
        </p:spPr>
        <p:txBody>
          <a:bodyPr>
            <a:normAutofit/>
          </a:bodyPr>
          <a:lstStyle/>
          <a:p>
            <a:pPr marL="0" indent="0">
              <a:buNone/>
            </a:pPr>
            <a:r>
              <a:rPr lang="en-US" altLang="en-US" b="1" dirty="0"/>
              <a:t>Polling</a:t>
            </a:r>
          </a:p>
          <a:p>
            <a:r>
              <a:rPr lang="en-US" altLang="en-US" i="1"/>
              <a:t>Polling </a:t>
            </a:r>
            <a:r>
              <a:rPr lang="en-US" altLang="en-US" i="1" dirty="0"/>
              <a:t>is not a hardware mechanism</a:t>
            </a:r>
            <a:r>
              <a:rPr lang="en-US" altLang="en-US" i="1"/>
              <a:t>; it is </a:t>
            </a:r>
            <a:r>
              <a:rPr lang="en-US" altLang="en-US" i="1" dirty="0"/>
              <a:t>a protocol in which </a:t>
            </a:r>
            <a:r>
              <a:rPr lang="en-US" altLang="en-US" i="1"/>
              <a:t>the </a:t>
            </a:r>
            <a:r>
              <a:rPr lang="en-US" altLang="en-US" i="1" dirty="0"/>
              <a:t>CPU </a:t>
            </a:r>
            <a:r>
              <a:rPr lang="en-US" altLang="en-US" i="1"/>
              <a:t>continuously checks </a:t>
            </a:r>
            <a:r>
              <a:rPr lang="en-US" altLang="en-US" i="1" dirty="0"/>
              <a:t>the status of a peripheral</a:t>
            </a:r>
            <a:r>
              <a:rPr lang="en-US" altLang="en-US" i="1"/>
              <a:t>, </a:t>
            </a:r>
            <a:r>
              <a:rPr lang="en-US" altLang="en-US" i="1" dirty="0"/>
              <a:t>e.g</a:t>
            </a:r>
            <a:r>
              <a:rPr lang="en-US" altLang="en-US" i="1"/>
              <a:t>., reading </a:t>
            </a:r>
            <a:r>
              <a:rPr lang="en-US" altLang="en-US" i="1" dirty="0"/>
              <a:t>data from </a:t>
            </a:r>
            <a:r>
              <a:rPr lang="en-US" altLang="en-US" i="1"/>
              <a:t>a </a:t>
            </a:r>
            <a:r>
              <a:rPr lang="en-US" altLang="en-US" i="1" dirty="0"/>
              <a:t>keyboard.</a:t>
            </a:r>
          </a:p>
          <a:p>
            <a:r>
              <a:rPr lang="en-US" altLang="en-US" i="1" dirty="0"/>
              <a:t>Polling is relatively straightforward </a:t>
            </a:r>
            <a:r>
              <a:rPr lang="en-US" altLang="en-US" i="1"/>
              <a:t>to </a:t>
            </a:r>
            <a:r>
              <a:rPr lang="en-US" altLang="en-US" i="1" dirty="0"/>
              <a:t>design and </a:t>
            </a:r>
            <a:r>
              <a:rPr lang="en-US" altLang="en-US" i="1"/>
              <a:t>program, but at </a:t>
            </a:r>
            <a:r>
              <a:rPr lang="en-US" altLang="en-US" i="1" dirty="0"/>
              <a:t>the </a:t>
            </a:r>
            <a:r>
              <a:rPr lang="en-US" altLang="en-US" i="1"/>
              <a:t>cost</a:t>
            </a:r>
            <a:r>
              <a:rPr lang="en-US" altLang="en-US" i="1" dirty="0"/>
              <a:t> of system performance.</a:t>
            </a:r>
          </a:p>
        </p:txBody>
      </p:sp>
      <p:pic>
        <p:nvPicPr>
          <p:cNvPr id="12" name="Picture 3">
            <a:extLst>
              <a:ext uri="{FF2B5EF4-FFF2-40B4-BE49-F238E27FC236}">
                <a16:creationId xmlns:a16="http://schemas.microsoft.com/office/drawing/2014/main" id="{44106918-AF00-4427-8560-E7554451A55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94656" y="900113"/>
            <a:ext cx="3959999" cy="3771900"/>
          </a:xfrm>
          <a:prstGeom prst="rect">
            <a:avLst/>
          </a:prstGeom>
          <a:solidFill>
            <a:schemeClr val="accent1"/>
          </a:solidFill>
          <a:ln>
            <a:noFill/>
          </a:ln>
          <a:extLs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2879C26C-EA9B-46F9-9E85-988B19AAD8EA}" type="datetime1">
              <a:rPr lang="en-US" smtClean="0"/>
              <a:pPr>
                <a:lnSpc>
                  <a:spcPct val="90000"/>
                </a:lnSpc>
                <a:spcAft>
                  <a:spcPts val="600"/>
                </a:spcAft>
              </a:pPr>
              <a:t>9/6/2026</a:t>
            </a:fld>
            <a:endParaRPr lang="en-US"/>
          </a:p>
        </p:txBody>
      </p:sp>
      <p:sp>
        <p:nvSpPr>
          <p:cNvPr id="4"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17</a:t>
            </a:fld>
            <a:endParaRPr lang="en-US"/>
          </a:p>
        </p:txBody>
      </p:sp>
    </p:spTree>
    <p:extLst>
      <p:ext uri="{BB962C8B-B14F-4D97-AF65-F5344CB8AC3E}">
        <p14:creationId xmlns:p14="http://schemas.microsoft.com/office/powerpoint/2010/main" val="2889564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anchor="ctr">
            <a:normAutofit/>
          </a:bodyPr>
          <a:lstStyle/>
          <a:p>
            <a:r>
              <a:rPr lang="en-US" altLang="en-US"/>
              <a:t>Definition and Key Differences</a:t>
            </a:r>
          </a:p>
        </p:txBody>
      </p:sp>
      <p:sp>
        <p:nvSpPr>
          <p:cNvPr id="6" name="Title 1"/>
          <p:cNvSpPr>
            <a:spLocks noGrp="1"/>
          </p:cNvSpPr>
          <p:nvPr>
            <p:ph sz="half" idx="1"/>
          </p:nvPr>
        </p:nvSpPr>
        <p:spPr>
          <a:xfrm>
            <a:off x="278606" y="900113"/>
            <a:ext cx="4217194" cy="3771900"/>
          </a:xfrm>
        </p:spPr>
        <p:txBody>
          <a:bodyPr>
            <a:normAutofit fontScale="92500"/>
          </a:bodyPr>
          <a:lstStyle/>
          <a:p>
            <a:pPr marL="0" indent="0">
              <a:buNone/>
            </a:pPr>
            <a:r>
              <a:rPr lang="en-US" altLang="en-US" b="1" dirty="0"/>
              <a:t>Interrupt</a:t>
            </a:r>
          </a:p>
          <a:p>
            <a:r>
              <a:rPr lang="en-US" altLang="en-US" i="1"/>
              <a:t>An interrupt </a:t>
            </a:r>
            <a:r>
              <a:rPr lang="en-US" altLang="en-US" i="1" dirty="0"/>
              <a:t>is a hardware mechanism </a:t>
            </a:r>
            <a:r>
              <a:rPr lang="en-US" altLang="en-US" i="1"/>
              <a:t>through </a:t>
            </a:r>
            <a:r>
              <a:rPr lang="en-US" altLang="en-US" i="1" dirty="0"/>
              <a:t>which</a:t>
            </a:r>
            <a:r>
              <a:rPr lang="en-US" altLang="en-US" i="1"/>
              <a:t> a </a:t>
            </a:r>
            <a:r>
              <a:rPr lang="en-US" altLang="en-US" i="1" dirty="0"/>
              <a:t>device </a:t>
            </a:r>
            <a:r>
              <a:rPr lang="en-US" altLang="en-US" i="1"/>
              <a:t>notifies </a:t>
            </a:r>
            <a:r>
              <a:rPr lang="en-US" altLang="en-US" i="1" dirty="0"/>
              <a:t>the CPU that it requires attention. </a:t>
            </a:r>
            <a:r>
              <a:rPr lang="en-US" altLang="en-US" i="1"/>
              <a:t>An interrupt </a:t>
            </a:r>
            <a:r>
              <a:rPr lang="en-US" altLang="en-US" i="1" dirty="0"/>
              <a:t>can </a:t>
            </a:r>
            <a:r>
              <a:rPr lang="en-US" altLang="en-US" i="1"/>
              <a:t>occur </a:t>
            </a:r>
            <a:r>
              <a:rPr lang="en-US" altLang="en-US" i="1" dirty="0"/>
              <a:t>at any time.</a:t>
            </a:r>
          </a:p>
          <a:p>
            <a:r>
              <a:rPr lang="en-US" altLang="en-US" i="1" dirty="0"/>
              <a:t>When </a:t>
            </a:r>
            <a:r>
              <a:rPr lang="en-US" altLang="en-US" i="1"/>
              <a:t>the </a:t>
            </a:r>
            <a:r>
              <a:rPr lang="en-US" altLang="en-US" i="1" dirty="0"/>
              <a:t>CPU </a:t>
            </a:r>
            <a:r>
              <a:rPr lang="en-US" altLang="en-US" i="1"/>
              <a:t>receives </a:t>
            </a:r>
            <a:r>
              <a:rPr lang="en-US" altLang="en-US" i="1" dirty="0"/>
              <a:t>an interrupt signal, </a:t>
            </a:r>
            <a:r>
              <a:rPr lang="en-US" altLang="en-US" i="1"/>
              <a:t>it pauses </a:t>
            </a:r>
            <a:r>
              <a:rPr lang="en-US" altLang="en-US" i="1" dirty="0"/>
              <a:t>the current process and </a:t>
            </a:r>
            <a:r>
              <a:rPr lang="en-US" altLang="en-US" i="1"/>
              <a:t>executes</a:t>
            </a:r>
            <a:r>
              <a:rPr lang="en-US" altLang="en-US" i="1" dirty="0"/>
              <a:t> a handler </a:t>
            </a:r>
            <a:r>
              <a:rPr lang="en-US" altLang="en-US" i="1"/>
              <a:t>that services </a:t>
            </a:r>
            <a:r>
              <a:rPr lang="en-US" altLang="en-US" i="1" dirty="0"/>
              <a:t>the interrupt. </a:t>
            </a:r>
            <a:r>
              <a:rPr lang="en-US" altLang="en-US" i="1"/>
              <a:t>The </a:t>
            </a:r>
            <a:r>
              <a:rPr lang="en-US" altLang="en-US" i="1" dirty="0"/>
              <a:t>CPU</a:t>
            </a:r>
            <a:r>
              <a:rPr lang="en-US" altLang="en-US" i="1"/>
              <a:t> then</a:t>
            </a:r>
            <a:r>
              <a:rPr lang="en-US" altLang="en-US" i="1" dirty="0"/>
              <a:t> returns to where it left off in the main program.</a:t>
            </a:r>
          </a:p>
        </p:txBody>
      </p:sp>
      <p:pic>
        <p:nvPicPr>
          <p:cNvPr id="8" name="Picture 2">
            <a:extLst>
              <a:ext uri="{FF2B5EF4-FFF2-40B4-BE49-F238E27FC236}">
                <a16:creationId xmlns:a16="http://schemas.microsoft.com/office/drawing/2014/main" id="{F719E682-D77E-4028-8C9F-5AAB47C7FED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48200" y="1217802"/>
            <a:ext cx="4252912" cy="3136522"/>
          </a:xfrm>
          <a:prstGeom prst="rect">
            <a:avLst/>
          </a:prstGeom>
          <a:solidFill>
            <a:schemeClr val="accent1"/>
          </a:solidFill>
          <a:ln>
            <a:noFill/>
          </a:ln>
          <a:extLs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2879C26C-EA9B-46F9-9E85-988B19AAD8EA}" type="datetime1">
              <a:rPr lang="en-US" smtClean="0"/>
              <a:pPr>
                <a:lnSpc>
                  <a:spcPct val="90000"/>
                </a:lnSpc>
                <a:spcAft>
                  <a:spcPts val="600"/>
                </a:spcAft>
              </a:pPr>
              <a:t>9/6/2026</a:t>
            </a:fld>
            <a:endParaRPr lang="en-US"/>
          </a:p>
        </p:txBody>
      </p:sp>
      <p:sp>
        <p:nvSpPr>
          <p:cNvPr id="4"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18</a:t>
            </a:fld>
            <a:endParaRPr lang="en-US"/>
          </a:p>
        </p:txBody>
      </p:sp>
    </p:spTree>
    <p:extLst>
      <p:ext uri="{BB962C8B-B14F-4D97-AF65-F5344CB8AC3E}">
        <p14:creationId xmlns:p14="http://schemas.microsoft.com/office/powerpoint/2010/main" val="29145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anchor="ctr">
            <a:normAutofit/>
          </a:bodyPr>
          <a:lstStyle/>
          <a:p>
            <a:r>
              <a:rPr lang="en-US" altLang="en-US" dirty="0"/>
              <a:t>Advantages and </a:t>
            </a:r>
            <a:r>
              <a:rPr lang="en-US" altLang="en-US"/>
              <a:t>Disadvantages</a:t>
            </a:r>
            <a:endParaRPr lang="en-US" altLang="en-US" dirty="0"/>
          </a:p>
        </p:txBody>
      </p:sp>
      <p:sp>
        <p:nvSpPr>
          <p:cNvPr id="6" name="Title 1"/>
          <p:cNvSpPr>
            <a:spLocks noGrp="1"/>
          </p:cNvSpPr>
          <p:nvPr>
            <p:ph sz="half" idx="1"/>
          </p:nvPr>
        </p:nvSpPr>
        <p:spPr>
          <a:xfrm>
            <a:off x="278606" y="900113"/>
            <a:ext cx="4217194" cy="3771900"/>
          </a:xfrm>
        </p:spPr>
        <p:txBody>
          <a:bodyPr>
            <a:normAutofit fontScale="92500" lnSpcReduction="20000"/>
          </a:bodyPr>
          <a:lstStyle/>
          <a:p>
            <a:pPr marL="0" indent="0">
              <a:buNone/>
            </a:pPr>
            <a:r>
              <a:rPr lang="en-US" altLang="en-US" sz="1600" b="1" dirty="0"/>
              <a:t>Polling</a:t>
            </a:r>
          </a:p>
          <a:p>
            <a:r>
              <a:rPr lang="en-US" altLang="en-US" sz="1600" dirty="0"/>
              <a:t>Advantages:</a:t>
            </a:r>
          </a:p>
          <a:p>
            <a:pPr marL="0" indent="0">
              <a:buNone/>
            </a:pPr>
            <a:r>
              <a:rPr lang="en-US" altLang="en-US" sz="1600" dirty="0"/>
              <a:t>	Easy to code</a:t>
            </a:r>
            <a:r>
              <a:rPr lang="en-US" altLang="en-US" sz="1600"/>
              <a:t>; suitable </a:t>
            </a:r>
            <a:r>
              <a:rPr lang="en-US" altLang="en-US" sz="1600" dirty="0"/>
              <a:t>for simple applications</a:t>
            </a:r>
          </a:p>
          <a:p>
            <a:pPr marL="0" indent="0">
              <a:buNone/>
            </a:pPr>
            <a:r>
              <a:rPr lang="en-US" altLang="en-US" sz="1600" dirty="0"/>
              <a:t>	Easy to debug, find errors, </a:t>
            </a:r>
            <a:r>
              <a:rPr lang="en-US" altLang="en-US" sz="1600"/>
              <a:t>and </a:t>
            </a:r>
            <a:r>
              <a:rPr lang="en-US" altLang="en-US" sz="1600" dirty="0"/>
              <a:t>monitor program</a:t>
            </a:r>
            <a:r>
              <a:rPr lang="en-US" altLang="en-US" sz="1600"/>
              <a:t> execution</a:t>
            </a:r>
            <a:endParaRPr lang="en-US" altLang="en-US" sz="1600" dirty="0"/>
          </a:p>
          <a:p>
            <a:pPr marL="0" indent="0">
              <a:buNone/>
            </a:pPr>
            <a:r>
              <a:rPr lang="en-US" altLang="en-US" sz="1600" dirty="0"/>
              <a:t>	</a:t>
            </a:r>
            <a:r>
              <a:rPr lang="en-US" altLang="en-US" sz="1600"/>
              <a:t>Program behavior </a:t>
            </a:r>
            <a:r>
              <a:rPr lang="en-US" altLang="en-US" sz="1600" dirty="0"/>
              <a:t>can be easily predicted</a:t>
            </a:r>
          </a:p>
          <a:p>
            <a:pPr marL="0" indent="0">
              <a:buNone/>
            </a:pPr>
            <a:r>
              <a:rPr lang="en-US" altLang="en-US" sz="1600" dirty="0"/>
              <a:t>	</a:t>
            </a:r>
            <a:r>
              <a:rPr lang="en-US" altLang="en-US" sz="1600"/>
              <a:t>Resource use and sharing among functions </a:t>
            </a:r>
            <a:r>
              <a:rPr lang="en-US" altLang="en-US" sz="1600" dirty="0"/>
              <a:t>are </a:t>
            </a:r>
            <a:r>
              <a:rPr lang="en-US" altLang="en-US" sz="1600"/>
              <a:t>clear</a:t>
            </a:r>
            <a:r>
              <a:rPr lang="en-US" altLang="en-US" sz="1600" dirty="0"/>
              <a:t>.</a:t>
            </a:r>
          </a:p>
          <a:p>
            <a:r>
              <a:rPr lang="en-US" altLang="en-US" sz="1600" dirty="0"/>
              <a:t>Disadvantages:</a:t>
            </a:r>
          </a:p>
          <a:p>
            <a:pPr marL="0" indent="0">
              <a:buNone/>
            </a:pPr>
            <a:r>
              <a:rPr lang="en-US" altLang="en-US" sz="1600" dirty="0"/>
              <a:t>	Difficult to </a:t>
            </a:r>
            <a:r>
              <a:rPr lang="en-US" altLang="en-US" sz="1600"/>
              <a:t>scale </a:t>
            </a:r>
            <a:r>
              <a:rPr lang="en-US" altLang="en-US" sz="1600" dirty="0"/>
              <a:t>for complex programs</a:t>
            </a:r>
          </a:p>
          <a:p>
            <a:pPr marL="0" indent="0">
              <a:buNone/>
            </a:pPr>
            <a:r>
              <a:rPr lang="en-US" altLang="en-US" sz="1600" dirty="0"/>
              <a:t>	Slow response to events</a:t>
            </a:r>
          </a:p>
          <a:p>
            <a:pPr marL="0" indent="0">
              <a:buNone/>
            </a:pPr>
            <a:r>
              <a:rPr lang="en-US" altLang="en-US" sz="1600" dirty="0"/>
              <a:t>	</a:t>
            </a:r>
            <a:r>
              <a:rPr lang="en-US" altLang="en-US" sz="1600"/>
              <a:t>Continuously consumes </a:t>
            </a:r>
            <a:r>
              <a:rPr lang="en-US" altLang="en-US" sz="1600" dirty="0"/>
              <a:t>energy at the highest level</a:t>
            </a:r>
          </a:p>
          <a:p>
            <a:pPr marL="0" indent="0">
              <a:buNone/>
            </a:pPr>
            <a:r>
              <a:rPr lang="en-US" altLang="en-US" sz="1600" dirty="0"/>
              <a:t>	</a:t>
            </a:r>
            <a:r>
              <a:rPr lang="en-US" altLang="en-US" sz="1600"/>
              <a:t>Wastes </a:t>
            </a:r>
            <a:r>
              <a:rPr lang="en-US" altLang="en-US" sz="1600" dirty="0"/>
              <a:t>microcontroller</a:t>
            </a:r>
            <a:r>
              <a:rPr lang="en-US" altLang="en-US" sz="1600"/>
              <a:t> resources and</a:t>
            </a:r>
            <a:r>
              <a:rPr lang="en-US" altLang="en-US" sz="1600" dirty="0"/>
              <a:t> capabilities.</a:t>
            </a:r>
          </a:p>
        </p:txBody>
      </p:sp>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2879C26C-EA9B-46F9-9E85-988B19AAD8EA}" type="datetime1">
              <a:rPr lang="en-US" smtClean="0"/>
              <a:pPr>
                <a:lnSpc>
                  <a:spcPct val="90000"/>
                </a:lnSpc>
                <a:spcAft>
                  <a:spcPts val="600"/>
                </a:spcAft>
              </a:pPr>
              <a:t>9/6/2026</a:t>
            </a:fld>
            <a:endParaRPr lang="en-US"/>
          </a:p>
        </p:txBody>
      </p:sp>
      <p:sp>
        <p:nvSpPr>
          <p:cNvPr id="4"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19</a:t>
            </a:fld>
            <a:endParaRPr lang="en-US"/>
          </a:p>
        </p:txBody>
      </p:sp>
      <p:sp>
        <p:nvSpPr>
          <p:cNvPr id="9" name="Title 1">
            <a:extLst>
              <a:ext uri="{FF2B5EF4-FFF2-40B4-BE49-F238E27FC236}">
                <a16:creationId xmlns:a16="http://schemas.microsoft.com/office/drawing/2014/main" id="{625A5E7F-0916-4A8A-8654-330F4AA4A67B}"/>
              </a:ext>
            </a:extLst>
          </p:cNvPr>
          <p:cNvSpPr txBox="1">
            <a:spLocks/>
          </p:cNvSpPr>
          <p:nvPr/>
        </p:nvSpPr>
        <p:spPr>
          <a:xfrm>
            <a:off x="4648202" y="903144"/>
            <a:ext cx="4217194" cy="37719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anose="05000000000000000000" pitchFamily="2" charset="2"/>
              <a:buChar char="ü"/>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altLang="en-US" sz="1600" b="1" dirty="0"/>
              <a:t>Interrupt</a:t>
            </a:r>
          </a:p>
          <a:p>
            <a:r>
              <a:rPr lang="en-US" altLang="en-US" sz="1600" dirty="0"/>
              <a:t>Advantages:</a:t>
            </a:r>
          </a:p>
          <a:p>
            <a:pPr marL="0" indent="0">
              <a:buNone/>
            </a:pPr>
            <a:r>
              <a:rPr lang="en-US" altLang="en-US" sz="1600" dirty="0"/>
              <a:t>	Faster response than polling</a:t>
            </a:r>
          </a:p>
          <a:p>
            <a:pPr marL="0" indent="0">
              <a:buNone/>
            </a:pPr>
            <a:r>
              <a:rPr lang="en-US" altLang="en-US" sz="1600" dirty="0"/>
              <a:t>	Can use </a:t>
            </a:r>
            <a:r>
              <a:rPr lang="en-US" altLang="en-US" sz="1600"/>
              <a:t>low-power </a:t>
            </a:r>
            <a:r>
              <a:rPr lang="en-US" altLang="en-US" sz="1600" dirty="0"/>
              <a:t>mode</a:t>
            </a:r>
            <a:r>
              <a:rPr lang="en-US" altLang="en-US" sz="1600"/>
              <a:t>; an</a:t>
            </a:r>
            <a:r>
              <a:rPr lang="en-US" altLang="en-US" sz="1600" dirty="0"/>
              <a:t> interrupt </a:t>
            </a:r>
            <a:r>
              <a:rPr lang="en-US" altLang="en-US" sz="1600"/>
              <a:t>wakes </a:t>
            </a:r>
            <a:r>
              <a:rPr lang="en-US" altLang="en-US" sz="1600" dirty="0"/>
              <a:t>the CPU</a:t>
            </a:r>
          </a:p>
          <a:p>
            <a:pPr marL="0" indent="0">
              <a:buNone/>
            </a:pPr>
            <a:r>
              <a:rPr lang="en-US" altLang="en-US" sz="1600" dirty="0"/>
              <a:t>	</a:t>
            </a:r>
            <a:r>
              <a:rPr lang="en-US" altLang="en-US" sz="1600"/>
              <a:t>Supports nested interrupts </a:t>
            </a:r>
            <a:r>
              <a:rPr lang="en-US" altLang="en-US" sz="1600" dirty="0"/>
              <a:t>(</a:t>
            </a:r>
            <a:r>
              <a:rPr lang="en-US" altLang="en-US" sz="1600"/>
              <a:t>a higher-priority </a:t>
            </a:r>
            <a:r>
              <a:rPr lang="en-US" altLang="en-US" sz="1600" dirty="0"/>
              <a:t>interrupt </a:t>
            </a:r>
            <a:r>
              <a:rPr lang="en-US" altLang="en-US" sz="1600"/>
              <a:t>can preempt a lower-priority </a:t>
            </a:r>
            <a:r>
              <a:rPr lang="en-US" altLang="en-US" sz="1600" dirty="0"/>
              <a:t>interrupt).</a:t>
            </a:r>
          </a:p>
          <a:p>
            <a:r>
              <a:rPr lang="en-US" altLang="en-US" sz="1600" dirty="0"/>
              <a:t>	Disadvantages:</a:t>
            </a:r>
          </a:p>
          <a:p>
            <a:pPr marL="0" indent="0">
              <a:buNone/>
            </a:pPr>
            <a:r>
              <a:rPr lang="en-US" altLang="en-US" sz="1600" dirty="0"/>
              <a:t>	</a:t>
            </a:r>
            <a:r>
              <a:rPr lang="en-US" altLang="en-US" sz="1600"/>
              <a:t>More </a:t>
            </a:r>
            <a:r>
              <a:rPr lang="en-US" altLang="en-US" sz="1600" dirty="0"/>
              <a:t>complicated</a:t>
            </a:r>
            <a:r>
              <a:rPr lang="en-US" altLang="en-US" sz="1600"/>
              <a:t> to debug</a:t>
            </a:r>
            <a:endParaRPr lang="en-US" altLang="en-US" sz="1600" dirty="0"/>
          </a:p>
          <a:p>
            <a:pPr marL="0" indent="0">
              <a:buNone/>
            </a:pPr>
            <a:r>
              <a:rPr lang="en-US" altLang="en-US" sz="1600" dirty="0"/>
              <a:t>	</a:t>
            </a:r>
            <a:r>
              <a:rPr lang="en-US" altLang="en-US" sz="1600"/>
              <a:t>Shared resources may </a:t>
            </a:r>
            <a:r>
              <a:rPr lang="en-US" altLang="en-US" sz="1600" dirty="0"/>
              <a:t>be </a:t>
            </a:r>
            <a:r>
              <a:rPr lang="en-US" altLang="en-US" sz="1600"/>
              <a:t>accessed unpredictably</a:t>
            </a:r>
            <a:r>
              <a:rPr lang="en-US" altLang="en-US" sz="1600" dirty="0"/>
              <a:t>. </a:t>
            </a:r>
          </a:p>
        </p:txBody>
      </p:sp>
    </p:spTree>
    <p:extLst>
      <p:ext uri="{BB962C8B-B14F-4D97-AF65-F5344CB8AC3E}">
        <p14:creationId xmlns:p14="http://schemas.microsoft.com/office/powerpoint/2010/main" val="2928248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Interrupt Process</a:t>
            </a:r>
          </a:p>
        </p:txBody>
      </p:sp>
      <p:sp>
        <p:nvSpPr>
          <p:cNvPr id="6" name="Title 1"/>
          <p:cNvSpPr>
            <a:spLocks noGrp="1"/>
          </p:cNvSpPr>
          <p:nvPr>
            <p:ph idx="1"/>
          </p:nvPr>
        </p:nvSpPr>
        <p:spPr/>
        <p:txBody>
          <a:bodyPr>
            <a:normAutofit/>
          </a:bodyPr>
          <a:lstStyle/>
          <a:p>
            <a:pPr algn="just"/>
            <a:r>
              <a:rPr lang="en-US" altLang="en-US"/>
              <a:t>The </a:t>
            </a:r>
            <a:r>
              <a:rPr lang="en-US" altLang="en-US" dirty="0"/>
              <a:t>CPU waits until the current instruction </a:t>
            </a:r>
            <a:r>
              <a:rPr lang="en-US" altLang="en-US"/>
              <a:t>finishes executing</a:t>
            </a:r>
            <a:r>
              <a:rPr lang="en-US" altLang="en-US" dirty="0"/>
              <a:t>.</a:t>
            </a:r>
          </a:p>
          <a:p>
            <a:pPr algn="just"/>
            <a:r>
              <a:rPr lang="en-US" altLang="en-US"/>
              <a:t>The CPU saves its </a:t>
            </a:r>
            <a:r>
              <a:rPr lang="en-US" altLang="en-US" dirty="0"/>
              <a:t>internal registers </a:t>
            </a:r>
            <a:r>
              <a:rPr lang="en-US" altLang="en-US"/>
              <a:t>and </a:t>
            </a:r>
            <a:r>
              <a:rPr lang="en-US" altLang="en-US" dirty="0"/>
              <a:t>the state information </a:t>
            </a:r>
            <a:r>
              <a:rPr lang="en-US" altLang="en-US"/>
              <a:t>in the control unit.</a:t>
            </a:r>
            <a:endParaRPr lang="en-US" altLang="en-US" dirty="0"/>
          </a:p>
          <a:p>
            <a:pPr algn="just"/>
            <a:r>
              <a:rPr lang="en-US" altLang="en-US" dirty="0"/>
              <a:t>The PC is loaded with </a:t>
            </a:r>
            <a:r>
              <a:rPr lang="en-US" altLang="en-US"/>
              <a:t>the </a:t>
            </a:r>
            <a:r>
              <a:rPr lang="en-US" altLang="en-US" dirty="0"/>
              <a:t>address of the Interrupt Service Routine (ISR</a:t>
            </a:r>
            <a:r>
              <a:rPr lang="en-US" altLang="en-US"/>
              <a:t>).</a:t>
            </a:r>
            <a:endParaRPr lang="en-US" altLang="en-US" dirty="0"/>
          </a:p>
          <a:p>
            <a:pPr algn="just"/>
            <a:r>
              <a:rPr lang="en-US" altLang="en-US"/>
              <a:t>The </a:t>
            </a:r>
            <a:r>
              <a:rPr lang="en-US" altLang="en-US" dirty="0"/>
              <a:t>ISR is executed.</a:t>
            </a:r>
          </a:p>
          <a:p>
            <a:pPr algn="just"/>
            <a:r>
              <a:rPr lang="en-US" altLang="en-US"/>
              <a:t>The </a:t>
            </a:r>
            <a:r>
              <a:rPr lang="en-US" altLang="en-US" dirty="0"/>
              <a:t>program </a:t>
            </a:r>
            <a:r>
              <a:rPr lang="en-US" altLang="en-US"/>
              <a:t>returns </a:t>
            </a:r>
            <a:r>
              <a:rPr lang="en-US" altLang="en-US" dirty="0"/>
              <a:t>from</a:t>
            </a:r>
            <a:r>
              <a:rPr lang="en-US" altLang="en-US"/>
              <a:t> the</a:t>
            </a:r>
            <a:r>
              <a:rPr lang="en-US" altLang="en-US" dirty="0"/>
              <a:t> interrupt.</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20</a:t>
            </a:fld>
            <a:endParaRPr lang="en-US"/>
          </a:p>
        </p:txBody>
      </p:sp>
    </p:spTree>
    <p:extLst>
      <p:ext uri="{BB962C8B-B14F-4D97-AF65-F5344CB8AC3E}">
        <p14:creationId xmlns:p14="http://schemas.microsoft.com/office/powerpoint/2010/main" val="3242589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Interrupt Handler Features</a:t>
            </a:r>
          </a:p>
        </p:txBody>
      </p:sp>
      <p:sp>
        <p:nvSpPr>
          <p:cNvPr id="6" name="Title 1"/>
          <p:cNvSpPr>
            <a:spLocks noGrp="1"/>
          </p:cNvSpPr>
          <p:nvPr>
            <p:ph idx="1"/>
          </p:nvPr>
        </p:nvSpPr>
        <p:spPr/>
        <p:txBody>
          <a:bodyPr>
            <a:normAutofit/>
          </a:bodyPr>
          <a:lstStyle/>
          <a:p>
            <a:pPr algn="just"/>
            <a:r>
              <a:rPr lang="en-US" altLang="en-US" dirty="0"/>
              <a:t>Differs from </a:t>
            </a:r>
            <a:r>
              <a:rPr lang="en-US" altLang="en-US"/>
              <a:t>a </a:t>
            </a:r>
            <a:r>
              <a:rPr lang="en-US" altLang="en-US" dirty="0"/>
              <a:t>subroutine because it </a:t>
            </a:r>
            <a:r>
              <a:rPr lang="en-US" altLang="en-US"/>
              <a:t>can execute </a:t>
            </a:r>
            <a:r>
              <a:rPr lang="en-US" altLang="en-US" dirty="0"/>
              <a:t>at any time </a:t>
            </a:r>
            <a:r>
              <a:rPr lang="en-US" altLang="en-US"/>
              <a:t>in response </a:t>
            </a:r>
            <a:r>
              <a:rPr lang="en-US" altLang="en-US" dirty="0"/>
              <a:t>to </a:t>
            </a:r>
            <a:r>
              <a:rPr lang="en-US" altLang="en-US"/>
              <a:t>an </a:t>
            </a:r>
            <a:r>
              <a:rPr lang="en-US" altLang="en-US" dirty="0"/>
              <a:t>interrupt, </a:t>
            </a:r>
            <a:r>
              <a:rPr lang="en-US" altLang="en-US"/>
              <a:t>rather than </a:t>
            </a:r>
            <a:r>
              <a:rPr lang="en-US" altLang="en-US" dirty="0"/>
              <a:t>due to </a:t>
            </a:r>
            <a:r>
              <a:rPr lang="en-US" altLang="en-US"/>
              <a:t>a function call</a:t>
            </a:r>
            <a:endParaRPr lang="en-US" altLang="en-US" dirty="0"/>
          </a:p>
          <a:p>
            <a:pPr algn="just"/>
            <a:endParaRPr lang="en-US" altLang="en-US" dirty="0"/>
          </a:p>
          <a:p>
            <a:pPr algn="just"/>
            <a:r>
              <a:rPr lang="en-US" altLang="en-US" dirty="0"/>
              <a:t>Should be </a:t>
            </a:r>
            <a:r>
              <a:rPr lang="en-US" altLang="en-US"/>
              <a:t>kept </a:t>
            </a:r>
            <a:r>
              <a:rPr lang="en-US" altLang="en-US" dirty="0"/>
              <a:t>as small as possible</a:t>
            </a:r>
          </a:p>
          <a:p>
            <a:pPr algn="just"/>
            <a:endParaRPr lang="en-US" altLang="en-US" dirty="0"/>
          </a:p>
          <a:p>
            <a:pPr algn="just"/>
            <a:r>
              <a:rPr lang="en-US" altLang="en-US" dirty="0"/>
              <a:t>Should </a:t>
            </a:r>
            <a:r>
              <a:rPr lang="en-US" altLang="en-US"/>
              <a:t>execute quickly</a:t>
            </a:r>
            <a:r>
              <a:rPr lang="en-US" altLang="en-US" dirty="0"/>
              <a:t>. </a:t>
            </a:r>
          </a:p>
        </p:txBody>
      </p:sp>
      <p:sp>
        <p:nvSpPr>
          <p:cNvPr id="3" name="Date Placeholder 2"/>
          <p:cNvSpPr>
            <a:spLocks noGrp="1"/>
          </p:cNvSpPr>
          <p:nvPr>
            <p:ph type="dt" sz="half" idx="10"/>
          </p:nvPr>
        </p:nvSpPr>
        <p:spPr/>
        <p:txBody>
          <a:bodyPr/>
          <a:lstStyle/>
          <a:p>
            <a:fld id="{2879C26C-EA9B-46F9-9E85-988B19AAD8EA}" type="datetime1">
              <a:rPr lang="en-US" smtClean="0"/>
              <a:t>9/6/2026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21</a:t>
            </a:fld>
            <a:endParaRPr lang="en-US"/>
          </a:p>
        </p:txBody>
      </p:sp>
    </p:spTree>
    <p:extLst>
      <p:ext uri="{BB962C8B-B14F-4D97-AF65-F5344CB8AC3E}">
        <p14:creationId xmlns:p14="http://schemas.microsoft.com/office/powerpoint/2010/main" val="180445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latin typeface="Arial" panose="020B0604020202020204" pitchFamily="34" charset="0"/>
                <a:cs typeface="Arial" panose="020B0604020202020204" pitchFamily="34" charset="0"/>
              </a:rPr>
              <a:t>Lesson Summary</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altLang="en-US" i="1" dirty="0"/>
              <a:t>Embedded </a:t>
            </a:r>
            <a:r>
              <a:rPr lang="en-US" altLang="en-US" i="1"/>
              <a:t>software</a:t>
            </a:r>
            <a:r>
              <a:rPr lang="en-US" altLang="en-US" i="1" dirty="0"/>
              <a:t>, or firmware, is </a:t>
            </a:r>
            <a:r>
              <a:rPr lang="en-US" altLang="en-US" i="1"/>
              <a:t>a </a:t>
            </a:r>
            <a:r>
              <a:rPr lang="en-US" altLang="en-US" i="1" dirty="0"/>
              <a:t>program specialized for </a:t>
            </a:r>
            <a:r>
              <a:rPr lang="en-US" altLang="en-US" i="1"/>
              <a:t>a </a:t>
            </a:r>
            <a:r>
              <a:rPr lang="en-US" altLang="en-US" i="1" dirty="0"/>
              <a:t>particular processor</a:t>
            </a:r>
            <a:r>
              <a:rPr lang="en-US" altLang="en-US" i="1"/>
              <a:t>.</a:t>
            </a:r>
            <a:endParaRPr lang="en-US" altLang="en-US" i="1" dirty="0"/>
          </a:p>
          <a:p>
            <a:pPr algn="just"/>
            <a:endParaRPr lang="en-US" altLang="en-US" i="1" dirty="0"/>
          </a:p>
          <a:p>
            <a:pPr algn="just"/>
            <a:r>
              <a:rPr lang="en-US" altLang="en-US" i="1" dirty="0"/>
              <a:t>Embedded software </a:t>
            </a:r>
            <a:r>
              <a:rPr lang="en-US" altLang="en-US" i="1"/>
              <a:t>development includes creating a </a:t>
            </a:r>
            <a:r>
              <a:rPr lang="en-US" altLang="en-US" i="1" dirty="0"/>
              <a:t>project, </a:t>
            </a:r>
            <a:r>
              <a:rPr lang="en-US" altLang="en-US" i="1"/>
              <a:t>compiling and linking </a:t>
            </a:r>
            <a:r>
              <a:rPr lang="en-US" altLang="en-US" i="1" dirty="0"/>
              <a:t>to generate </a:t>
            </a:r>
            <a:r>
              <a:rPr lang="en-US" altLang="en-US" i="1"/>
              <a:t>an executable image, and loading and debugging it on </a:t>
            </a:r>
            <a:r>
              <a:rPr lang="en-US" altLang="en-US" i="1" dirty="0"/>
              <a:t>hardware</a:t>
            </a:r>
            <a:r>
              <a:rPr lang="en-US" altLang="en-US" i="1"/>
              <a:t>.</a:t>
            </a:r>
            <a:endParaRPr lang="en-US" altLang="en-US" i="1" dirty="0"/>
          </a:p>
          <a:p>
            <a:pPr algn="just"/>
            <a:endParaRPr lang="en-US" altLang="en-US" i="1" dirty="0"/>
          </a:p>
          <a:p>
            <a:pPr algn="just"/>
            <a:r>
              <a:rPr lang="en-US" altLang="en-US" i="1" dirty="0"/>
              <a:t>There are two kinds of software flow: </a:t>
            </a:r>
            <a:r>
              <a:rPr lang="en-US" altLang="en-US" i="1"/>
              <a:t>polling and interrupt-driven execution</a:t>
            </a:r>
            <a:r>
              <a:rPr lang="en-US" altLang="en-US" i="1" dirty="0"/>
              <a:t>. </a:t>
            </a:r>
          </a:p>
        </p:txBody>
      </p:sp>
      <p:sp>
        <p:nvSpPr>
          <p:cNvPr id="3" name="Date Placeholder 2"/>
          <p:cNvSpPr>
            <a:spLocks noGrp="1"/>
          </p:cNvSpPr>
          <p:nvPr>
            <p:ph type="dt" sz="half" idx="10"/>
          </p:nvPr>
        </p:nvSpPr>
        <p:spPr/>
        <p:txBody>
          <a:bodyPr/>
          <a:lstStyle/>
          <a:p>
            <a:fld id="{EA9862C2-9A3A-4A99-B55C-4814DDFFAC13}" type="datetime1">
              <a:rPr lang="en-US" smtClean="0"/>
              <a:t>9/6/2026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22</a:t>
            </a:fld>
            <a:endParaRPr lang="en-US"/>
          </a:p>
        </p:txBody>
      </p:sp>
    </p:spTree>
    <p:extLst>
      <p:ext uri="{BB962C8B-B14F-4D97-AF65-F5344CB8AC3E}">
        <p14:creationId xmlns:p14="http://schemas.microsoft.com/office/powerpoint/2010/main" val="3016629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6600" dirty="0">
                <a:solidFill>
                  <a:schemeClr val="accent6">
                    <a:lumMod val="75000"/>
                  </a:schemeClr>
                </a:solidFill>
                <a:cs typeface="Arial"/>
              </a:rPr>
              <a:t>Thank you</a:t>
            </a:r>
          </a:p>
        </p:txBody>
      </p:sp>
      <p:sp>
        <p:nvSpPr>
          <p:cNvPr id="4" name="Subtitle 3"/>
          <p:cNvSpPr>
            <a:spLocks noGrp="1"/>
          </p:cNvSpPr>
          <p:nvPr>
            <p:ph type="subTitle" idx="1"/>
          </p:nvPr>
        </p:nvSpPr>
        <p:spPr/>
        <p:txBody>
          <a:bodyPr/>
          <a:lstStyle/>
          <a:p>
            <a:endParaRPr lang="en-US"/>
          </a:p>
        </p:txBody>
      </p:sp>
      <p:sp>
        <p:nvSpPr>
          <p:cNvPr id="3" name="Date Placeholder 2"/>
          <p:cNvSpPr>
            <a:spLocks noGrp="1"/>
          </p:cNvSpPr>
          <p:nvPr>
            <p:ph type="dt" sz="half" idx="10"/>
          </p:nvPr>
        </p:nvSpPr>
        <p:spPr/>
        <p:txBody>
          <a:bodyPr/>
          <a:lstStyle/>
          <a:p>
            <a:fld id="{A6E310CF-D8EB-4339-A038-1E0E0D4A410F}" type="datetime1">
              <a:rPr lang="en-US" smtClean="0"/>
              <a:t>9/6/2026</a:t>
            </a:fld>
            <a:endParaRPr lang="en-US"/>
          </a:p>
        </p:txBody>
      </p:sp>
      <p:sp>
        <p:nvSpPr>
          <p:cNvPr id="6"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23</a:t>
            </a:fld>
            <a:endParaRPr lang="en-US" dirty="0"/>
          </a:p>
        </p:txBody>
      </p:sp>
    </p:spTree>
    <p:extLst>
      <p:ext uri="{BB962C8B-B14F-4D97-AF65-F5344CB8AC3E}">
        <p14:creationId xmlns:p14="http://schemas.microsoft.com/office/powerpoint/2010/main" val="3906525621"/>
      </p:ext>
    </p:extLst>
  </p:cSld>
  <p:clrMapOvr>
    <a:masterClrMapping/>
  </p:clrMapOvr>
</p:sld>
</file>

<file path=ppt/theme/theme1.xml><?xml version="1.0" encoding="utf-8"?>
<a:theme xmlns:a="http://schemas.openxmlformats.org/drawingml/2006/main" name="Template_Internal_Cou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D0E3C0644D30A47B7553174789F2086" ma:contentTypeVersion="12" ma:contentTypeDescription="Create a new document." ma:contentTypeScope="" ma:versionID="e9690466216033ae3cb1a371bbcd7ff4">
  <xsd:schema xmlns:xsd="http://www.w3.org/2001/XMLSchema" xmlns:xs="http://www.w3.org/2001/XMLSchema" xmlns:p="http://schemas.microsoft.com/office/2006/metadata/properties" xmlns:ns3="fbeeca5f-b98a-47ac-acdc-cb0c690cd06b" xmlns:ns4="f9df24d8-8c62-4f60-b8e3-66b7bd45152e" targetNamespace="http://schemas.microsoft.com/office/2006/metadata/properties" ma:root="true" ma:fieldsID="2fba7e56455423793922b8bcbab41249" ns3:_="" ns4:_="">
    <xsd:import namespace="fbeeca5f-b98a-47ac-acdc-cb0c690cd06b"/>
    <xsd:import namespace="f9df24d8-8c62-4f60-b8e3-66b7bd45152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eca5f-b98a-47ac-acdc-cb0c690cd0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df24d8-8c62-4f60-b8e3-66b7bd45152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26155B-B0B2-4DBB-B08B-44F1DC833304}">
  <ds:schemaRefs>
    <ds:schemaRef ds:uri="http://purl.org/dc/dcmitype/"/>
    <ds:schemaRef ds:uri="fbeeca5f-b98a-47ac-acdc-cb0c690cd06b"/>
    <ds:schemaRef ds:uri="http://schemas.microsoft.com/office/2006/documentManagement/types"/>
    <ds:schemaRef ds:uri="http://purl.org/dc/terms/"/>
    <ds:schemaRef ds:uri="http://schemas.openxmlformats.org/package/2006/metadata/core-properties"/>
    <ds:schemaRef ds:uri="http://www.w3.org/XML/1998/namespace"/>
    <ds:schemaRef ds:uri="http://purl.org/dc/elements/1.1/"/>
    <ds:schemaRef ds:uri="http://schemas.microsoft.com/office/infopath/2007/PartnerControls"/>
    <ds:schemaRef ds:uri="f9df24d8-8c62-4f60-b8e3-66b7bd45152e"/>
    <ds:schemaRef ds:uri="http://schemas.microsoft.com/office/2006/metadata/properties"/>
  </ds:schemaRefs>
</ds:datastoreItem>
</file>

<file path=customXml/itemProps2.xml><?xml version="1.0" encoding="utf-8"?>
<ds:datastoreItem xmlns:ds="http://schemas.openxmlformats.org/officeDocument/2006/customXml" ds:itemID="{E40A3C5A-C6CE-4843-83FE-DCCB7506A3F3}">
  <ds:schemaRefs>
    <ds:schemaRef ds:uri="http://schemas.microsoft.com/sharepoint/v3/contenttype/forms"/>
  </ds:schemaRefs>
</ds:datastoreItem>
</file>

<file path=customXml/itemProps3.xml><?xml version="1.0" encoding="utf-8"?>
<ds:datastoreItem xmlns:ds="http://schemas.openxmlformats.org/officeDocument/2006/customXml" ds:itemID="{1D2467ED-D74B-40E1-8C8E-B312BE9F8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eca5f-b98a-47ac-acdc-cb0c690cd06b"/>
    <ds:schemaRef ds:uri="f9df24d8-8c62-4f60-b8e3-66b7bd4515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b512a4e-bb54-4328-ad34-d43205aaa1ec}" enabled="1" method="Standard" siteId="{f01e930a-b52e-42b1-b70f-a8882b5d043b}" contentBits="0" removed="0"/>
</clbl:labelList>
</file>

<file path=docProps/app.xml><?xml version="1.0" encoding="utf-8"?>
<Properties xmlns="http://schemas.openxmlformats.org/officeDocument/2006/extended-properties" xmlns:vt="http://schemas.openxmlformats.org/officeDocument/2006/docPropsVTypes">
  <Template>Template_Internal_Course</Template>
  <TotalTime>4626</TotalTime>
  <Words>2344</Words>
  <Application>Microsoft Office PowerPoint</Application>
  <PresentationFormat>On-screen Show (16:9)</PresentationFormat>
  <Paragraphs>261</Paragraphs>
  <Slides>23</Slides>
  <Notes>21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Template_Internal_Course</vt:lpstr>
      <vt:lpstr>Embedded Software Development</vt:lpstr>
      <vt:lpstr>Lesson Objectives</vt:lpstr>
      <vt:lpstr>Embedded Software Overview </vt:lpstr>
      <vt:lpstr>Embedded Software Overview </vt:lpstr>
      <vt:lpstr>Definition</vt:lpstr>
      <vt:lpstr>Features</vt:lpstr>
      <vt:lpstr>Common Components</vt:lpstr>
      <vt:lpstr>What Is Needed to Get Started?</vt:lpstr>
      <vt:lpstr>Embedded Software Development Flow</vt:lpstr>
      <vt:lpstr>Embedded Software Development Flow</vt:lpstr>
      <vt:lpstr>Software Development Steps in an IDE</vt:lpstr>
      <vt:lpstr>Embedded Software Development Flow</vt:lpstr>
      <vt:lpstr>Embedded Software Development Flow</vt:lpstr>
      <vt:lpstr>Embedded Software Development Flow</vt:lpstr>
      <vt:lpstr>Software Flow</vt:lpstr>
      <vt:lpstr>Software Flow</vt:lpstr>
      <vt:lpstr>Definition and Key Differences</vt:lpstr>
      <vt:lpstr>Definition and Key Differences</vt:lpstr>
      <vt:lpstr>Advantages and Disadvantages</vt:lpstr>
      <vt:lpstr>Interrupt Process</vt:lpstr>
      <vt:lpstr>Interrupt Handler Features</vt:lpstr>
      <vt:lpstr>Lesson 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 Tuan Linh (FHO.FWA)</dc:creator>
  <cp:lastModifiedBy>Hung Phan Quoc</cp:lastModifiedBy>
  <cp:revision>66</cp:revision>
  <dcterms:created xsi:type="dcterms:W3CDTF">2015-08-31T01:44:46Z</dcterms:created>
  <dcterms:modified xsi:type="dcterms:W3CDTF">2026-09-07T03:09:14Z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0x010100AD0E3C0644D30A47B7553174789F2086</vt:lpwstr>
  </property>
</Properties>
</file>