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7"/>
  </p:notesMasterIdLst>
  <p:handoutMasterIdLst>
    <p:handoutMasterId r:id="rId38"/>
  </p:handoutMasterIdLst>
  <p:sldIdLst>
    <p:sldId id="270" r:id="rId5"/>
    <p:sldId id="259" r:id="rId6"/>
    <p:sldId id="295" r:id="rId7"/>
    <p:sldId id="262" r:id="rId8"/>
    <p:sldId id="264" r:id="rId9"/>
    <p:sldId id="265" r:id="rId10"/>
    <p:sldId id="272" r:id="rId11"/>
    <p:sldId id="273" r:id="rId12"/>
    <p:sldId id="274" r:id="rId13"/>
    <p:sldId id="275" r:id="rId14"/>
    <p:sldId id="276" r:id="rId15"/>
    <p:sldId id="277" r:id="rId16"/>
    <p:sldId id="278" r:id="rId17"/>
    <p:sldId id="279" r:id="rId18"/>
    <p:sldId id="280" r:id="rId19"/>
    <p:sldId id="281" r:id="rId20"/>
    <p:sldId id="282" r:id="rId21"/>
    <p:sldId id="288" r:id="rId22"/>
    <p:sldId id="284" r:id="rId23"/>
    <p:sldId id="283" r:id="rId24"/>
    <p:sldId id="286" r:id="rId25"/>
    <p:sldId id="285" r:id="rId26"/>
    <p:sldId id="294" r:id="rId27"/>
    <p:sldId id="289" r:id="rId28"/>
    <p:sldId id="287" r:id="rId29"/>
    <p:sldId id="296" r:id="rId30"/>
    <p:sldId id="290" r:id="rId31"/>
    <p:sldId id="291" r:id="rId32"/>
    <p:sldId id="292" r:id="rId33"/>
    <p:sldId id="293" r:id="rId34"/>
    <p:sldId id="267" r:id="rId35"/>
    <p:sldId id="258" r:id="rId3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E83B7-0CF4-0A76-E7F8-8ADE0BF66C83}" v="6" dt="2026-08-26T03:42:56.8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505" autoAdjust="0"/>
    <p:restoredTop sz="68970" autoAdjust="0"/>
  </p:normalViewPr>
  <p:slideViewPr>
    <p:cSldViewPr snapToGrid="0" snapToObjects="1" showGuides="1">
      <p:cViewPr>
        <p:scale>
          <a:sx n="66" d="100"/>
          <a:sy n="66" d="100"/>
        </p:scale>
        <p:origin x="666" y="648"/>
      </p:cViewPr>
      <p:guideLst>
        <p:guide orient="horz" pos="1620"/>
        <p:guide pos="2880"/>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en Ho Gia" userId="S::kienhg@fpt.com::5c095885-f972-41df-96f3-2c4737d58d9e" providerId="AD" clId="Web-{AB5E83B7-0CF4-0A76-E7F8-8ADE0BF66C83}"/>
    <pc:docChg chg="sldOrd">
      <pc:chgData name="Kien Ho Gia" userId="S::kienhg@fpt.com::5c095885-f972-41df-96f3-2c4737d58d9e" providerId="AD" clId="Web-{AB5E83B7-0CF4-0A76-E7F8-8ADE0BF66C83}" dt="2026-08-26T03:42:56.888" v="5"/>
      <pc:docMkLst>
        <pc:docMk/>
      </pc:docMkLst>
      <pc:sldChg chg="ord">
        <pc:chgData name="Kien Ho Gia" userId="S::kienhg@fpt.com::5c095885-f972-41df-96f3-2c4737d58d9e" providerId="AD" clId="Web-{AB5E83B7-0CF4-0A76-E7F8-8ADE0BF66C83}" dt="2026-08-26T03:42:56.888" v="5"/>
        <pc:sldMkLst>
          <pc:docMk/>
          <pc:sldMk cId="3900016930"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DF6B2F8-E390-BD4F-9ACD-789C35D23CE3}" type="datetimeFigureOut">
              <a:rPr lang="en-US" smtClean="0"/>
              <a:t>8/25/2026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D0A0C1-BF67-B440-B7AD-B68AAB032928}" type="slidenum">
              <a:rPr lang="en-US" smtClean="0"/>
              <a:t>‹#›</a:t>
            </a:fld>
            <a:endParaRPr lang="en-US"/>
          </a:p>
        </p:txBody>
      </p:sp>
    </p:spTree>
    <p:extLst>
      <p:ext uri="{BB962C8B-B14F-4D97-AF65-F5344CB8AC3E}">
        <p14:creationId xmlns:p14="http://schemas.microsoft.com/office/powerpoint/2010/main" val="5220041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781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Trao</a:t>
            </a:r>
            <a:r>
              <a:rPr lang="en-US" baseline="0" dirty="0"/>
              <a:t> </a:t>
            </a:r>
            <a:r>
              <a:rPr lang="en-US" baseline="0" dirty="0" err="1"/>
              <a:t>đổi</a:t>
            </a:r>
            <a:r>
              <a:rPr lang="en-US" baseline="0" dirty="0"/>
              <a:t> </a:t>
            </a:r>
            <a:r>
              <a:rPr lang="en-US" baseline="0" dirty="0" err="1"/>
              <a:t>với</a:t>
            </a:r>
            <a:r>
              <a:rPr lang="en-US" baseline="0" dirty="0"/>
              <a:t> </a:t>
            </a:r>
            <a:r>
              <a:rPr lang="en-US" baseline="0" dirty="0" err="1"/>
              <a:t>học</a:t>
            </a:r>
            <a:r>
              <a:rPr lang="en-US" baseline="0" dirty="0"/>
              <a:t> </a:t>
            </a:r>
            <a:r>
              <a:rPr lang="en-US" baseline="0" dirty="0" err="1"/>
              <a:t>viên</a:t>
            </a:r>
            <a:r>
              <a:rPr lang="en-US" baseline="0" dirty="0"/>
              <a:t> </a:t>
            </a:r>
            <a:r>
              <a:rPr lang="en-US" baseline="0" dirty="0" err="1"/>
              <a:t>một</a:t>
            </a:r>
            <a:r>
              <a:rPr lang="en-US" baseline="0" dirty="0"/>
              <a:t> </a:t>
            </a:r>
            <a:r>
              <a:rPr lang="en-US" baseline="0" dirty="0" err="1"/>
              <a:t>số</a:t>
            </a:r>
            <a:r>
              <a:rPr lang="en-US" baseline="0" dirty="0"/>
              <a:t> </a:t>
            </a:r>
            <a:r>
              <a:rPr lang="en-US" baseline="0" dirty="0" err="1"/>
              <a:t>thông</a:t>
            </a:r>
            <a:r>
              <a:rPr lang="en-US" baseline="0" dirty="0"/>
              <a:t> tin </a:t>
            </a:r>
            <a:r>
              <a:rPr lang="en-US" baseline="0" dirty="0" err="1"/>
              <a:t>về</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nhúng</a:t>
            </a:r>
            <a:r>
              <a:rPr lang="en-US" baseline="0" dirty="0"/>
              <a:t>/ vi </a:t>
            </a:r>
            <a:r>
              <a:rPr lang="en-US" baseline="0" dirty="0" err="1"/>
              <a:t>điều</a:t>
            </a:r>
            <a:r>
              <a:rPr lang="en-US" baseline="0" dirty="0"/>
              <a:t> </a:t>
            </a:r>
            <a:r>
              <a:rPr lang="en-US" baseline="0" dirty="0" err="1"/>
              <a:t>khiển</a:t>
            </a:r>
            <a:r>
              <a:rPr lang="en-US" baseline="0" dirty="0"/>
              <a:t>:</a:t>
            </a:r>
          </a:p>
          <a:p>
            <a:pPr marL="0" indent="0">
              <a:buFontTx/>
              <a:buNone/>
            </a:pPr>
            <a:r>
              <a:rPr lang="en-US" baseline="0" dirty="0"/>
              <a:t>                + </a:t>
            </a:r>
            <a:r>
              <a:rPr lang="en-US" baseline="0" dirty="0" err="1"/>
              <a:t>Thảo</a:t>
            </a:r>
            <a:r>
              <a:rPr lang="en-US" baseline="0" dirty="0"/>
              <a:t> </a:t>
            </a:r>
            <a:r>
              <a:rPr lang="en-US" baseline="0" dirty="0" err="1"/>
              <a:t>luận</a:t>
            </a:r>
            <a:r>
              <a:rPr lang="en-US" baseline="0" dirty="0"/>
              <a:t> </a:t>
            </a:r>
            <a:r>
              <a:rPr lang="en-US" baseline="0" dirty="0" err="1"/>
              <a:t>với</a:t>
            </a:r>
            <a:r>
              <a:rPr lang="en-US" baseline="0" dirty="0"/>
              <a:t> </a:t>
            </a:r>
            <a:r>
              <a:rPr lang="en-US" baseline="0" dirty="0" err="1"/>
              <a:t>học</a:t>
            </a:r>
            <a:r>
              <a:rPr lang="en-US" baseline="0" dirty="0"/>
              <a:t> </a:t>
            </a:r>
            <a:r>
              <a:rPr lang="en-US" baseline="0" dirty="0" err="1"/>
              <a:t>viên</a:t>
            </a:r>
            <a:r>
              <a:rPr lang="en-US" baseline="0" dirty="0"/>
              <a:t> </a:t>
            </a:r>
            <a:r>
              <a:rPr lang="en-US" baseline="0" dirty="0" err="1"/>
              <a:t>về</a:t>
            </a:r>
            <a:r>
              <a:rPr lang="en-US" baseline="0" dirty="0"/>
              <a:t> </a:t>
            </a:r>
            <a:r>
              <a:rPr lang="en-US" baseline="0" dirty="0" err="1"/>
              <a:t>một</a:t>
            </a:r>
            <a:r>
              <a:rPr lang="en-US" baseline="0" dirty="0"/>
              <a:t> </a:t>
            </a:r>
            <a:r>
              <a:rPr lang="en-US" baseline="0" dirty="0" err="1"/>
              <a:t>số</a:t>
            </a:r>
            <a:r>
              <a:rPr lang="en-US" baseline="0" dirty="0"/>
              <a:t> </a:t>
            </a:r>
            <a:r>
              <a:rPr lang="en-US" baseline="0" dirty="0" err="1"/>
              <a:t>loại</a:t>
            </a:r>
            <a:r>
              <a:rPr lang="en-US" baseline="0" dirty="0"/>
              <a:t> microcontroller </a:t>
            </a:r>
            <a:r>
              <a:rPr lang="en-US" baseline="0" dirty="0" err="1"/>
              <a:t>thông</a:t>
            </a:r>
            <a:r>
              <a:rPr lang="en-US" baseline="0" dirty="0"/>
              <a:t> </a:t>
            </a:r>
            <a:r>
              <a:rPr lang="en-US" baseline="0" dirty="0" err="1"/>
              <a:t>dụng</a:t>
            </a:r>
            <a:r>
              <a:rPr lang="en-US" baseline="0" dirty="0"/>
              <a:t> (ARM, PIC, AVR,…)/ </a:t>
            </a:r>
          </a:p>
          <a:p>
            <a:pPr marL="0" indent="0">
              <a:buFontTx/>
              <a:buNone/>
            </a:pPr>
            <a:r>
              <a:rPr lang="en-US" baseline="0" dirty="0"/>
              <a:t>                +  </a:t>
            </a:r>
            <a:r>
              <a:rPr lang="en-US" baseline="0" dirty="0" err="1"/>
              <a:t>Ứng</a:t>
            </a:r>
            <a:r>
              <a:rPr lang="en-US" baseline="0" dirty="0"/>
              <a:t> </a:t>
            </a:r>
            <a:r>
              <a:rPr lang="en-US" baseline="0" dirty="0" err="1"/>
              <a:t>dụng</a:t>
            </a:r>
            <a:r>
              <a:rPr lang="en-US" baseline="0" dirty="0"/>
              <a:t> </a:t>
            </a:r>
            <a:r>
              <a:rPr lang="en-US" baseline="0" dirty="0" err="1"/>
              <a:t>của</a:t>
            </a:r>
            <a:r>
              <a:rPr lang="en-US" baseline="0" dirty="0"/>
              <a:t> embedded system. </a:t>
            </a:r>
            <a:r>
              <a:rPr lang="en-US" baseline="0" dirty="0" err="1"/>
              <a:t>Sự</a:t>
            </a:r>
            <a:r>
              <a:rPr lang="en-US" baseline="0" dirty="0"/>
              <a:t> </a:t>
            </a:r>
            <a:r>
              <a:rPr lang="en-US" baseline="0" dirty="0" err="1"/>
              <a:t>khác</a:t>
            </a:r>
            <a:r>
              <a:rPr lang="en-US" baseline="0" dirty="0"/>
              <a:t> </a:t>
            </a:r>
            <a:r>
              <a:rPr lang="en-US" baseline="0" dirty="0" err="1"/>
              <a:t>nhau</a:t>
            </a:r>
            <a:r>
              <a:rPr lang="en-US" baseline="0" dirty="0"/>
              <a:t> </a:t>
            </a:r>
            <a:r>
              <a:rPr lang="en-US" baseline="0" dirty="0" err="1"/>
              <a:t>giữa</a:t>
            </a:r>
            <a:r>
              <a:rPr lang="en-US" baseline="0" dirty="0"/>
              <a:t> personal computer/ computer system  </a:t>
            </a:r>
            <a:r>
              <a:rPr lang="en-US" baseline="0" dirty="0" err="1"/>
              <a:t>và</a:t>
            </a:r>
            <a:r>
              <a:rPr lang="en-US" baseline="0" dirty="0"/>
              <a:t> embedded system/ </a:t>
            </a:r>
            <a:r>
              <a:rPr lang="en-US" baseline="0" dirty="0" err="1"/>
              <a:t>Phân</a:t>
            </a:r>
            <a:r>
              <a:rPr lang="en-US" baseline="0" dirty="0"/>
              <a:t> </a:t>
            </a:r>
            <a:r>
              <a:rPr lang="en-US" baseline="0" dirty="0" err="1"/>
              <a:t>biệt</a:t>
            </a:r>
            <a:r>
              <a:rPr lang="en-US" baseline="0" dirty="0"/>
              <a:t> </a:t>
            </a:r>
            <a:r>
              <a:rPr lang="en-US" baseline="0" dirty="0" err="1"/>
              <a:t>giữa</a:t>
            </a:r>
            <a:r>
              <a:rPr lang="en-US" baseline="0" dirty="0"/>
              <a:t> </a:t>
            </a:r>
            <a:r>
              <a:rPr lang="en-US" baseline="0" dirty="0" err="1"/>
              <a:t>các</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và</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cho</a:t>
            </a:r>
            <a:r>
              <a:rPr lang="en-US" baseline="0" dirty="0"/>
              <a:t> embedded system</a:t>
            </a:r>
          </a:p>
          <a:p>
            <a:pPr marL="0" indent="0">
              <a:buFontTx/>
              <a:buNone/>
            </a:pPr>
            <a:r>
              <a:rPr lang="en-US" baseline="0" dirty="0"/>
              <a:t>                 + </a:t>
            </a:r>
            <a:r>
              <a:rPr lang="en-US" baseline="0" dirty="0" err="1"/>
              <a:t>Mục</a:t>
            </a:r>
            <a:r>
              <a:rPr lang="en-US" baseline="0" dirty="0"/>
              <a:t> </a:t>
            </a:r>
            <a:r>
              <a:rPr lang="en-US" baseline="0" dirty="0" err="1"/>
              <a:t>đích</a:t>
            </a:r>
            <a:r>
              <a:rPr lang="en-US" baseline="0" dirty="0"/>
              <a:t> </a:t>
            </a:r>
            <a:r>
              <a:rPr lang="en-US" baseline="0" dirty="0" err="1"/>
              <a:t>của</a:t>
            </a:r>
            <a:r>
              <a:rPr lang="en-US" baseline="0" dirty="0"/>
              <a:t> </a:t>
            </a:r>
            <a:r>
              <a:rPr lang="en-US" baseline="0" dirty="0" err="1"/>
              <a:t>khóa</a:t>
            </a:r>
            <a:r>
              <a:rPr lang="en-US" baseline="0" dirty="0"/>
              <a:t> </a:t>
            </a:r>
            <a:r>
              <a:rPr lang="en-US" baseline="0" dirty="0" err="1"/>
              <a:t>học</a:t>
            </a:r>
            <a:r>
              <a:rPr lang="en-US" baseline="0" dirty="0"/>
              <a:t>. Sau </a:t>
            </a:r>
            <a:r>
              <a:rPr lang="en-US" baseline="0" dirty="0" err="1"/>
              <a:t>khi</a:t>
            </a:r>
            <a:r>
              <a:rPr lang="en-US" baseline="0" dirty="0"/>
              <a:t> </a:t>
            </a:r>
            <a:r>
              <a:rPr lang="en-US" baseline="0" dirty="0" err="1"/>
              <a:t>kết</a:t>
            </a:r>
            <a:r>
              <a:rPr lang="en-US" baseline="0" dirty="0"/>
              <a:t> </a:t>
            </a:r>
            <a:r>
              <a:rPr lang="en-US" baseline="0" dirty="0" err="1"/>
              <a:t>thúc</a:t>
            </a:r>
            <a:r>
              <a:rPr lang="en-US" baseline="0" dirty="0"/>
              <a:t> </a:t>
            </a:r>
            <a:r>
              <a:rPr lang="en-US" baseline="0" dirty="0" err="1"/>
              <a:t>khóa</a:t>
            </a:r>
            <a:r>
              <a:rPr lang="en-US" baseline="0" dirty="0"/>
              <a:t> training, </a:t>
            </a:r>
            <a:r>
              <a:rPr lang="en-US" baseline="0" dirty="0" err="1"/>
              <a:t>học</a:t>
            </a:r>
            <a:r>
              <a:rPr lang="en-US" baseline="0" dirty="0"/>
              <a:t> </a:t>
            </a:r>
            <a:r>
              <a:rPr lang="en-US" baseline="0" dirty="0" err="1"/>
              <a:t>viên</a:t>
            </a:r>
            <a:r>
              <a:rPr lang="en-US" baseline="0" dirty="0"/>
              <a:t> </a:t>
            </a:r>
            <a:r>
              <a:rPr lang="en-US" baseline="0" dirty="0" err="1"/>
              <a:t>sẽ</a:t>
            </a:r>
            <a:r>
              <a:rPr lang="en-US" baseline="0" dirty="0"/>
              <a:t> </a:t>
            </a:r>
            <a:r>
              <a:rPr lang="en-US" baseline="0" dirty="0" err="1"/>
              <a:t>nắm</a:t>
            </a:r>
            <a:r>
              <a:rPr lang="en-US" baseline="0" dirty="0"/>
              <a:t> </a:t>
            </a:r>
            <a:r>
              <a:rPr lang="en-US" baseline="0" dirty="0" err="1"/>
              <a:t>được</a:t>
            </a:r>
            <a:r>
              <a:rPr lang="en-US" baseline="0" dirty="0"/>
              <a:t> </a:t>
            </a:r>
            <a:r>
              <a:rPr lang="en-US" baseline="0" dirty="0" err="1"/>
              <a:t>quy</a:t>
            </a:r>
            <a:r>
              <a:rPr lang="en-US" baseline="0" dirty="0"/>
              <a:t> </a:t>
            </a:r>
            <a:r>
              <a:rPr lang="en-US" baseline="0" dirty="0" err="1"/>
              <a:t>trình</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mềm</a:t>
            </a:r>
            <a:r>
              <a:rPr lang="en-US" baseline="0" dirty="0"/>
              <a:t> </a:t>
            </a:r>
            <a:r>
              <a:rPr lang="en-US" baseline="0" dirty="0" err="1"/>
              <a:t>nhúng</a:t>
            </a:r>
            <a:r>
              <a:rPr lang="en-US" baseline="0" dirty="0"/>
              <a:t>. </a:t>
            </a:r>
            <a:r>
              <a:rPr lang="en-US" baseline="0" dirty="0" err="1"/>
              <a:t>Có</a:t>
            </a:r>
            <a:r>
              <a:rPr lang="en-US" baseline="0" dirty="0"/>
              <a:t> </a:t>
            </a:r>
            <a:r>
              <a:rPr lang="en-US" baseline="0" dirty="0" err="1"/>
              <a:t>khả</a:t>
            </a:r>
            <a:r>
              <a:rPr lang="en-US" baseline="0" dirty="0"/>
              <a:t> </a:t>
            </a:r>
            <a:r>
              <a:rPr lang="en-US" baseline="0" dirty="0" err="1"/>
              <a:t>năng</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được</a:t>
            </a:r>
            <a:r>
              <a:rPr lang="en-US" baseline="0" dirty="0"/>
              <a:t> </a:t>
            </a:r>
            <a:r>
              <a:rPr lang="en-US" baseline="0" dirty="0" err="1"/>
              <a:t>các</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sử</a:t>
            </a:r>
            <a:r>
              <a:rPr lang="en-US" baseline="0" dirty="0"/>
              <a:t> </a:t>
            </a:r>
            <a:r>
              <a:rPr lang="en-US" baseline="0" dirty="0" err="1"/>
              <a:t>dụng</a:t>
            </a:r>
            <a:r>
              <a:rPr lang="en-US" baseline="0" dirty="0"/>
              <a:t> vi </a:t>
            </a:r>
            <a:r>
              <a:rPr lang="en-US" baseline="0" dirty="0" err="1"/>
              <a:t>điều</a:t>
            </a:r>
            <a:r>
              <a:rPr lang="en-US" baseline="0" dirty="0"/>
              <a:t> </a:t>
            </a:r>
            <a:r>
              <a:rPr lang="en-US" baseline="0" dirty="0" err="1"/>
              <a:t>khiển</a:t>
            </a:r>
            <a:r>
              <a:rPr lang="en-US" baseline="0" dirty="0"/>
              <a:t> ARM cortex.</a:t>
            </a:r>
          </a:p>
          <a:p>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a:t>
            </a:fld>
            <a:endParaRPr lang="en-US"/>
          </a:p>
        </p:txBody>
      </p:sp>
    </p:spTree>
    <p:extLst>
      <p:ext uri="{BB962C8B-B14F-4D97-AF65-F5344CB8AC3E}">
        <p14:creationId xmlns:p14="http://schemas.microsoft.com/office/powerpoint/2010/main" val="4132354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4</a:t>
            </a:fld>
            <a:endParaRPr lang="en-US"/>
          </a:p>
        </p:txBody>
      </p:sp>
    </p:spTree>
    <p:extLst>
      <p:ext uri="{BB962C8B-B14F-4D97-AF65-F5344CB8AC3E}">
        <p14:creationId xmlns:p14="http://schemas.microsoft.com/office/powerpoint/2010/main" val="905210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nhúng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hiểu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đơn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giản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một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máy</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tính</a:t>
            </a:r>
            <a:r>
              <a:rPr lang="en-US" sz="1200" b="1" i="0" kern="1200" dirty="0">
                <a:solidFill>
                  <a:schemeClr val="tx1"/>
                </a:solidFill>
                <a:effectLst/>
                <a:latin typeface="+mn-lt"/>
                <a:ea typeface="+mn-ea"/>
                <a:cs typeface="+mn-cs"/>
              </a:rPr>
              <a:t>/vi </a:t>
            </a:r>
            <a:r>
              <a:rPr lang="en-US" sz="1200" b="1" i="0" kern="1200" dirty="0" err="1">
                <a:solidFill>
                  <a:schemeClr val="tx1"/>
                </a:solidFill>
                <a:effectLst/>
                <a:latin typeface="+mn-lt"/>
                <a:ea typeface="+mn-ea"/>
                <a:cs typeface="+mn-cs"/>
              </a:rPr>
              <a:t>điều</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khiển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được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tích</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hợp</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vào</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một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thiết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bị</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được</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thiết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kế</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để</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thực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hiện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một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chức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năng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cụ</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thay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vì</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chạy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mục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đích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như</a:t>
            </a:r>
            <a:r>
              <a:rPr lang="en-US" sz="1200" b="0" i="0" kern="1200" dirty="0">
                <a:solidFill>
                  <a:schemeClr val="tx1"/>
                </a:solidFill>
                <a:effectLst/>
                <a:latin typeface="+mn-lt"/>
                <a:ea typeface="+mn-ea"/>
                <a:cs typeface="+mn-cs"/>
              </a:rPr>
              <a:t> PC.</a:t>
            </a:r>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Ứng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dụng</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rất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rộng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dụng</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công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nghiệp</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hàng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vũ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trụ</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Đặc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trưng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thường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time constraint/real-time</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độ</a:t>
            </a:r>
            <a:r>
              <a:rPr lang="en-US" sz="1200" b="1" i="0" kern="1200" dirty="0">
                <a:solidFill>
                  <a:schemeClr val="tx1"/>
                </a:solidFill>
                <a:effectLst/>
                <a:latin typeface="+mn-lt"/>
                <a:ea typeface="+mn-ea"/>
                <a:cs typeface="+mn-cs"/>
              </a:rPr>
              <a:t> tin </a:t>
            </a:r>
            <a:r>
              <a:rPr lang="en-US" sz="1200" b="1" i="0" kern="1200" dirty="0" err="1">
                <a:solidFill>
                  <a:schemeClr val="tx1"/>
                </a:solidFill>
                <a:effectLst/>
                <a:latin typeface="+mn-lt"/>
                <a:ea typeface="+mn-ea"/>
                <a:cs typeface="+mn-cs"/>
              </a:rPr>
              <a:t>cậy</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cao</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tài</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nguyên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hạn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chế</a:t>
            </a:r>
            <a:endParaRPr lang="en-US" sz="1200" b="0" i="0" kern="1200" dirty="0">
              <a:solidFill>
                <a:schemeClr val="tx1"/>
              </a:solidFill>
              <a:effectLst/>
              <a:latin typeface="+mn-lt"/>
              <a:ea typeface="+mn-ea"/>
              <a:cs typeface="+mn-cs"/>
            </a:endParaRPr>
          </a:p>
          <a:p>
            <a:pPr marL="0" indent="0">
              <a:buFontTx/>
              <a:buNone/>
            </a:pP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5</a:t>
            </a:fld>
            <a:endParaRPr lang="en-US"/>
          </a:p>
        </p:txBody>
      </p:sp>
    </p:spTree>
    <p:extLst>
      <p:ext uri="{BB962C8B-B14F-4D97-AF65-F5344CB8AC3E}">
        <p14:creationId xmlns:p14="http://schemas.microsoft.com/office/powerpoint/2010/main" val="2245374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 - </a:t>
            </a:r>
            <a:r>
              <a:rPr lang="en-US" baseline="0" dirty="0" err="1"/>
              <a:t>Hệ</a:t>
            </a:r>
            <a:r>
              <a:rPr lang="en-US" baseline="0" dirty="0"/>
              <a:t> </a:t>
            </a:r>
            <a:r>
              <a:rPr lang="en-US" baseline="0" dirty="0" err="1"/>
              <a:t>thống</a:t>
            </a:r>
            <a:r>
              <a:rPr lang="en-US" baseline="0" dirty="0"/>
              <a:t> </a:t>
            </a:r>
            <a:r>
              <a:rPr lang="en-US" baseline="0" dirty="0" err="1"/>
              <a:t>nhúng</a:t>
            </a:r>
            <a:r>
              <a:rPr lang="en-US" baseline="0" dirty="0"/>
              <a:t> </a:t>
            </a:r>
            <a:r>
              <a:rPr lang="en-US" baseline="0" dirty="0" err="1"/>
              <a:t>gồm</a:t>
            </a:r>
            <a:r>
              <a:rPr lang="en-US" baseline="0" dirty="0"/>
              <a:t> </a:t>
            </a:r>
            <a:r>
              <a:rPr lang="en-US" baseline="0" dirty="0" err="1"/>
              <a:t>ít</a:t>
            </a:r>
            <a:r>
              <a:rPr lang="en-US" baseline="0" dirty="0"/>
              <a:t> </a:t>
            </a:r>
            <a:r>
              <a:rPr lang="en-US" baseline="0" dirty="0" err="1"/>
              <a:t>nhất</a:t>
            </a:r>
            <a:r>
              <a:rPr lang="en-US" baseline="0" dirty="0"/>
              <a:t> </a:t>
            </a:r>
            <a:r>
              <a:rPr lang="en-US" baseline="0" dirty="0" err="1"/>
              <a:t>nhân</a:t>
            </a:r>
            <a:r>
              <a:rPr lang="en-US" baseline="0" dirty="0"/>
              <a:t> </a:t>
            </a:r>
            <a:r>
              <a:rPr lang="en-US" baseline="0" dirty="0" err="1"/>
              <a:t>xử</a:t>
            </a:r>
            <a:r>
              <a:rPr lang="en-US" baseline="0" dirty="0"/>
              <a:t> </a:t>
            </a:r>
            <a:r>
              <a:rPr lang="en-US" baseline="0" dirty="0" err="1"/>
              <a:t>lý</a:t>
            </a:r>
            <a:r>
              <a:rPr lang="en-US" baseline="0" dirty="0"/>
              <a:t>, </a:t>
            </a:r>
            <a:r>
              <a:rPr lang="en-US" baseline="0" dirty="0" err="1"/>
              <a:t>thường</a:t>
            </a:r>
            <a:r>
              <a:rPr lang="en-US" baseline="0" dirty="0"/>
              <a:t> </a:t>
            </a:r>
            <a:r>
              <a:rPr lang="en-US" baseline="0" dirty="0" err="1"/>
              <a:t>là</a:t>
            </a:r>
            <a:r>
              <a:rPr lang="en-US" baseline="0" dirty="0"/>
              <a:t> vi </a:t>
            </a:r>
            <a:r>
              <a:rPr lang="en-US" baseline="0" dirty="0" err="1"/>
              <a:t>điều</a:t>
            </a:r>
            <a:r>
              <a:rPr lang="en-US" baseline="0" dirty="0"/>
              <a:t> </a:t>
            </a:r>
            <a:r>
              <a:rPr lang="en-US" baseline="0" dirty="0" err="1"/>
              <a:t>khiển</a:t>
            </a:r>
            <a:r>
              <a:rPr lang="en-US" baseline="0" dirty="0"/>
              <a:t> </a:t>
            </a:r>
            <a:r>
              <a:rPr lang="en-US" baseline="0" dirty="0" err="1"/>
              <a:t>hoặc</a:t>
            </a:r>
            <a:r>
              <a:rPr lang="en-US" baseline="0" dirty="0"/>
              <a:t> DSP (</a:t>
            </a:r>
            <a:r>
              <a:rPr lang="en-US" baseline="0" dirty="0" err="1"/>
              <a:t>bộ</a:t>
            </a:r>
            <a:r>
              <a:rPr lang="en-US" baseline="0" dirty="0"/>
              <a:t> </a:t>
            </a:r>
            <a:r>
              <a:rPr lang="en-US" baseline="0" dirty="0" err="1"/>
              <a:t>xử</a:t>
            </a:r>
            <a:r>
              <a:rPr lang="en-US" baseline="0" dirty="0"/>
              <a:t> </a:t>
            </a:r>
            <a:r>
              <a:rPr lang="en-US" baseline="0" dirty="0" err="1"/>
              <a:t>lý</a:t>
            </a:r>
            <a:r>
              <a:rPr lang="en-US" baseline="0" dirty="0"/>
              <a:t> </a:t>
            </a:r>
            <a:r>
              <a:rPr lang="en-US" baseline="0" dirty="0" err="1"/>
              <a:t>số</a:t>
            </a:r>
            <a:r>
              <a:rPr lang="en-US" baseline="0" dirty="0"/>
              <a:t> </a:t>
            </a:r>
            <a:r>
              <a:rPr lang="en-US" baseline="0" dirty="0" err="1"/>
              <a:t>tín</a:t>
            </a:r>
            <a:r>
              <a:rPr lang="en-US" baseline="0" dirty="0"/>
              <a:t> </a:t>
            </a:r>
            <a:r>
              <a:rPr lang="en-US" baseline="0" dirty="0" err="1"/>
              <a:t>hiệu</a:t>
            </a:r>
            <a:r>
              <a:rPr lang="en-US" baseline="0" dirty="0"/>
              <a:t>).</a:t>
            </a:r>
          </a:p>
          <a:p>
            <a:endParaRPr lang="en-US" baseline="0" dirty="0"/>
          </a:p>
          <a:p>
            <a:r>
              <a:rPr lang="en-US" baseline="0" dirty="0"/>
              <a:t>   - </a:t>
            </a:r>
            <a:r>
              <a:rPr lang="en-US" baseline="0" dirty="0" err="1"/>
              <a:t>Phân</a:t>
            </a:r>
            <a:r>
              <a:rPr lang="en-US" baseline="0" dirty="0"/>
              <a:t> </a:t>
            </a:r>
            <a:r>
              <a:rPr lang="en-US" baseline="0" dirty="0" err="1"/>
              <a:t>biệt</a:t>
            </a:r>
            <a:r>
              <a:rPr lang="en-US" baseline="0" dirty="0"/>
              <a:t> </a:t>
            </a:r>
            <a:r>
              <a:rPr lang="en-US" baseline="0" dirty="0" err="1"/>
              <a:t>các</a:t>
            </a:r>
            <a:r>
              <a:rPr lang="en-US" baseline="0" dirty="0"/>
              <a:t> </a:t>
            </a:r>
            <a:r>
              <a:rPr lang="en-US" baseline="0" dirty="0" err="1"/>
              <a:t>khái</a:t>
            </a:r>
            <a:r>
              <a:rPr lang="en-US" baseline="0" dirty="0"/>
              <a:t> </a:t>
            </a:r>
            <a:r>
              <a:rPr lang="en-US" baseline="0" dirty="0" err="1"/>
              <a:t>niệm</a:t>
            </a:r>
            <a:r>
              <a:rPr lang="en-US" baseline="0" dirty="0"/>
              <a:t>:  </a:t>
            </a:r>
            <a:r>
              <a:rPr lang="en-US" sz="1200" b="1" i="0" kern="1200" dirty="0">
                <a:solidFill>
                  <a:schemeClr val="tx1"/>
                </a:solidFill>
                <a:effectLst/>
                <a:latin typeface="+mn-lt"/>
                <a:ea typeface="+mn-ea"/>
                <a:cs typeface="+mn-cs"/>
              </a:rPr>
              <a:t>Hard real-time / Firm real-time / Soft real-time</a:t>
            </a:r>
            <a:endParaRPr lang="en-US" baseline="0" dirty="0"/>
          </a:p>
          <a:p>
            <a:r>
              <a:rPr lang="en-US" baseline="0" dirty="0"/>
              <a:t>           (hard-time: </a:t>
            </a:r>
            <a:r>
              <a:rPr lang="en-US" baseline="0" dirty="0" err="1"/>
              <a:t>Là</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đòi</a:t>
            </a:r>
            <a:r>
              <a:rPr lang="en-US" baseline="0" dirty="0"/>
              <a:t> </a:t>
            </a:r>
            <a:r>
              <a:rPr lang="en-US" baseline="0" dirty="0" err="1"/>
              <a:t>hỏi</a:t>
            </a:r>
            <a:r>
              <a:rPr lang="en-US" baseline="0" dirty="0"/>
              <a:t> </a:t>
            </a:r>
            <a:r>
              <a:rPr lang="en-US" baseline="0" dirty="0" err="1"/>
              <a:t>kết</a:t>
            </a:r>
            <a:r>
              <a:rPr lang="en-US" baseline="0" dirty="0"/>
              <a:t> </a:t>
            </a:r>
            <a:r>
              <a:rPr lang="en-US" baseline="0" dirty="0" err="1"/>
              <a:t>quả</a:t>
            </a:r>
            <a:r>
              <a:rPr lang="en-US" baseline="0" dirty="0"/>
              <a:t> </a:t>
            </a:r>
            <a:r>
              <a:rPr lang="en-US" baseline="0" dirty="0" err="1"/>
              <a:t>phải</a:t>
            </a:r>
            <a:r>
              <a:rPr lang="en-US" baseline="0" dirty="0"/>
              <a:t> </a:t>
            </a:r>
            <a:r>
              <a:rPr lang="en-US" baseline="0" dirty="0" err="1"/>
              <a:t>luôn</a:t>
            </a:r>
            <a:r>
              <a:rPr lang="en-US" baseline="0" dirty="0"/>
              <a:t> ra </a:t>
            </a:r>
            <a:r>
              <a:rPr lang="en-US" baseline="0" dirty="0" err="1"/>
              <a:t>đúng</a:t>
            </a:r>
            <a:r>
              <a:rPr lang="en-US" baseline="0" dirty="0"/>
              <a:t> </a:t>
            </a:r>
            <a:r>
              <a:rPr lang="en-US" baseline="0" dirty="0" err="1"/>
              <a:t>trước</a:t>
            </a:r>
            <a:r>
              <a:rPr lang="en-US" baseline="0" dirty="0"/>
              <a:t> </a:t>
            </a:r>
            <a:r>
              <a:rPr lang="en-US" baseline="0" dirty="0" err="1"/>
              <a:t>hoặc</a:t>
            </a:r>
            <a:r>
              <a:rPr lang="en-US" baseline="0" dirty="0"/>
              <a:t> </a:t>
            </a:r>
            <a:r>
              <a:rPr lang="en-US" baseline="0" dirty="0" err="1"/>
              <a:t>cùng</a:t>
            </a:r>
            <a:r>
              <a:rPr lang="en-US" baseline="0" dirty="0"/>
              <a:t> </a:t>
            </a:r>
            <a:r>
              <a:rPr lang="en-US" baseline="0" dirty="0" err="1"/>
              <a:t>thời</a:t>
            </a:r>
            <a:r>
              <a:rPr lang="en-US" baseline="0" dirty="0"/>
              <a:t> </a:t>
            </a:r>
            <a:r>
              <a:rPr lang="en-US" baseline="0" dirty="0" err="1"/>
              <a:t>điểm</a:t>
            </a:r>
            <a:r>
              <a:rPr lang="en-US" baseline="0" dirty="0"/>
              <a:t> deadline </a:t>
            </a:r>
            <a:r>
              <a:rPr lang="en-US" baseline="0" dirty="0" err="1"/>
              <a:t>của</a:t>
            </a:r>
            <a:r>
              <a:rPr lang="en-US" baseline="0" dirty="0"/>
              <a:t> task. </a:t>
            </a:r>
            <a:r>
              <a:rPr lang="en-US" baseline="0" dirty="0" err="1"/>
              <a:t>Ví</a:t>
            </a:r>
            <a:r>
              <a:rPr lang="en-US" baseline="0" dirty="0"/>
              <a:t> </a:t>
            </a:r>
            <a:r>
              <a:rPr lang="en-US" baseline="0" dirty="0" err="1"/>
              <a:t>dụ</a:t>
            </a:r>
            <a:r>
              <a:rPr lang="en-US" baseline="0" dirty="0"/>
              <a:t> </a:t>
            </a:r>
            <a:r>
              <a:rPr lang="en-US" baseline="0" dirty="0" err="1"/>
              <a:t>như</a:t>
            </a:r>
            <a:r>
              <a:rPr lang="en-US" baseline="0" dirty="0"/>
              <a:t> </a:t>
            </a:r>
            <a:r>
              <a:rPr lang="en-US" baseline="0" dirty="0" err="1"/>
              <a:t>các</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giám</a:t>
            </a:r>
            <a:r>
              <a:rPr lang="en-US" baseline="0" dirty="0"/>
              <a:t> </a:t>
            </a:r>
            <a:r>
              <a:rPr lang="en-US" baseline="0" dirty="0" err="1"/>
              <a:t>sát</a:t>
            </a:r>
            <a:r>
              <a:rPr lang="en-US" baseline="0" dirty="0"/>
              <a:t> </a:t>
            </a:r>
            <a:r>
              <a:rPr lang="en-US" baseline="0" dirty="0" err="1"/>
              <a:t>thử</a:t>
            </a:r>
            <a:r>
              <a:rPr lang="en-US" baseline="0" dirty="0"/>
              <a:t> </a:t>
            </a:r>
            <a:r>
              <a:rPr lang="en-US" baseline="0" dirty="0" err="1"/>
              <a:t>hạt</a:t>
            </a:r>
            <a:r>
              <a:rPr lang="en-US" baseline="0" dirty="0"/>
              <a:t> </a:t>
            </a:r>
            <a:r>
              <a:rPr lang="en-US" baseline="0" dirty="0" err="1"/>
              <a:t>nhân</a:t>
            </a:r>
            <a:r>
              <a:rPr lang="en-US" baseline="0" dirty="0"/>
              <a:t>, </a:t>
            </a:r>
            <a:r>
              <a:rPr lang="en-US" baseline="0" dirty="0" err="1"/>
              <a:t>phóng</a:t>
            </a:r>
            <a:r>
              <a:rPr lang="en-US" baseline="0" dirty="0"/>
              <a:t> </a:t>
            </a:r>
            <a:r>
              <a:rPr lang="en-US" baseline="0" dirty="0" err="1"/>
              <a:t>tên</a:t>
            </a:r>
            <a:r>
              <a:rPr lang="en-US" baseline="0" dirty="0"/>
              <a:t> </a:t>
            </a:r>
            <a:r>
              <a:rPr lang="en-US" baseline="0" dirty="0" err="1"/>
              <a:t>lửa</a:t>
            </a:r>
            <a:r>
              <a:rPr lang="en-US" baseline="0" dirty="0"/>
              <a:t>,….. Ko </a:t>
            </a:r>
            <a:r>
              <a:rPr lang="en-US" baseline="0" dirty="0" err="1"/>
              <a:t>chấp</a:t>
            </a:r>
            <a:r>
              <a:rPr lang="en-US" baseline="0" dirty="0"/>
              <a:t> </a:t>
            </a:r>
            <a:r>
              <a:rPr lang="en-US" baseline="0" dirty="0" err="1"/>
              <a:t>nhận</a:t>
            </a:r>
            <a:r>
              <a:rPr lang="en-US" baseline="0" dirty="0"/>
              <a:t> </a:t>
            </a:r>
            <a:r>
              <a:rPr lang="en-US" baseline="0" dirty="0" err="1"/>
              <a:t>kết</a:t>
            </a:r>
            <a:r>
              <a:rPr lang="en-US" baseline="0" dirty="0"/>
              <a:t> </a:t>
            </a:r>
            <a:r>
              <a:rPr lang="en-US" baseline="0" dirty="0" err="1"/>
              <a:t>quả</a:t>
            </a:r>
            <a:r>
              <a:rPr lang="en-US" baseline="0" dirty="0"/>
              <a:t> </a:t>
            </a:r>
            <a:r>
              <a:rPr lang="en-US" baseline="0" dirty="0" err="1"/>
              <a:t>sai</a:t>
            </a:r>
            <a:r>
              <a:rPr lang="en-US" baseline="0" dirty="0"/>
              <a:t>, </a:t>
            </a:r>
            <a:r>
              <a:rPr lang="en-US" baseline="0" dirty="0" err="1"/>
              <a:t>hoặc</a:t>
            </a:r>
            <a:r>
              <a:rPr lang="en-US" baseline="0" dirty="0"/>
              <a:t> </a:t>
            </a:r>
            <a:r>
              <a:rPr lang="en-US" baseline="0" dirty="0" err="1"/>
              <a:t>kết</a:t>
            </a:r>
            <a:r>
              <a:rPr lang="en-US" baseline="0" dirty="0"/>
              <a:t> </a:t>
            </a:r>
            <a:r>
              <a:rPr lang="en-US" baseline="0" dirty="0" err="1"/>
              <a:t>quả</a:t>
            </a:r>
            <a:r>
              <a:rPr lang="en-US" baseline="0" dirty="0"/>
              <a:t> </a:t>
            </a:r>
            <a:r>
              <a:rPr lang="en-US" baseline="0" dirty="0" err="1"/>
              <a:t>đưa</a:t>
            </a:r>
            <a:r>
              <a:rPr lang="en-US" baseline="0" dirty="0"/>
              <a:t> ra </a:t>
            </a:r>
            <a:r>
              <a:rPr lang="en-US" baseline="0" dirty="0" err="1"/>
              <a:t>chậm</a:t>
            </a:r>
            <a:r>
              <a:rPr lang="en-US" baseline="0" dirty="0"/>
              <a:t> deadline) (give true result at right time)</a:t>
            </a:r>
          </a:p>
          <a:p>
            <a:r>
              <a:rPr lang="en-US" baseline="0" dirty="0"/>
              <a:t>            Firm-time: </a:t>
            </a:r>
            <a:r>
              <a:rPr lang="en-US" baseline="0" dirty="0" err="1"/>
              <a:t>Là</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chấp</a:t>
            </a:r>
            <a:r>
              <a:rPr lang="en-US" baseline="0" dirty="0"/>
              <a:t> </a:t>
            </a:r>
            <a:r>
              <a:rPr lang="en-US" baseline="0" dirty="0" err="1"/>
              <a:t>nhận</a:t>
            </a:r>
            <a:r>
              <a:rPr lang="en-US" baseline="0" dirty="0"/>
              <a:t> </a:t>
            </a:r>
            <a:r>
              <a:rPr lang="en-US" baseline="0" dirty="0" err="1"/>
              <a:t>một</a:t>
            </a:r>
            <a:r>
              <a:rPr lang="en-US" baseline="0" dirty="0"/>
              <a:t> </a:t>
            </a:r>
            <a:r>
              <a:rPr lang="en-US" baseline="0" dirty="0" err="1"/>
              <a:t>số</a:t>
            </a:r>
            <a:r>
              <a:rPr lang="en-US" baseline="0" dirty="0"/>
              <a:t> </a:t>
            </a:r>
            <a:r>
              <a:rPr lang="en-US" baseline="0" dirty="0" err="1"/>
              <a:t>trường</a:t>
            </a:r>
            <a:r>
              <a:rPr lang="en-US" baseline="0" dirty="0"/>
              <a:t> </a:t>
            </a:r>
            <a:r>
              <a:rPr lang="en-US" baseline="0" dirty="0" err="1"/>
              <a:t>hợp</a:t>
            </a:r>
            <a:r>
              <a:rPr lang="en-US" baseline="0" dirty="0"/>
              <a:t> </a:t>
            </a:r>
            <a:r>
              <a:rPr lang="en-US" baseline="0" dirty="0" err="1"/>
              <a:t>kết</a:t>
            </a:r>
            <a:r>
              <a:rPr lang="en-US" baseline="0" dirty="0"/>
              <a:t> </a:t>
            </a:r>
            <a:r>
              <a:rPr lang="en-US" baseline="0" dirty="0" err="1"/>
              <a:t>quả</a:t>
            </a:r>
            <a:r>
              <a:rPr lang="en-US" baseline="0" dirty="0"/>
              <a:t> ko ra </a:t>
            </a:r>
            <a:r>
              <a:rPr lang="en-US" baseline="0" dirty="0" err="1"/>
              <a:t>đúng</a:t>
            </a:r>
            <a:r>
              <a:rPr lang="en-US" baseline="0" dirty="0"/>
              <a:t> </a:t>
            </a:r>
            <a:r>
              <a:rPr lang="en-US" baseline="0" dirty="0" err="1"/>
              <a:t>thời</a:t>
            </a:r>
            <a:r>
              <a:rPr lang="en-US" baseline="0" dirty="0"/>
              <a:t> </a:t>
            </a:r>
            <a:r>
              <a:rPr lang="en-US" baseline="0" dirty="0" err="1"/>
              <a:t>điểm</a:t>
            </a:r>
            <a:r>
              <a:rPr lang="en-US" baseline="0" dirty="0"/>
              <a:t> (</a:t>
            </a:r>
            <a:r>
              <a:rPr lang="en-US" baseline="0" dirty="0" err="1"/>
              <a:t>thường</a:t>
            </a:r>
            <a:r>
              <a:rPr lang="en-US" baseline="0" dirty="0"/>
              <a:t> </a:t>
            </a:r>
            <a:r>
              <a:rPr lang="en-US" baseline="0" dirty="0" err="1"/>
              <a:t>sai</a:t>
            </a:r>
            <a:r>
              <a:rPr lang="en-US" baseline="0" dirty="0"/>
              <a:t> </a:t>
            </a:r>
            <a:r>
              <a:rPr lang="en-US" baseline="0" dirty="0" err="1"/>
              <a:t>số</a:t>
            </a:r>
            <a:r>
              <a:rPr lang="en-US" baseline="0" dirty="0"/>
              <a:t> </a:t>
            </a:r>
            <a:r>
              <a:rPr lang="en-US" baseline="0" dirty="0" err="1"/>
              <a:t>chấp</a:t>
            </a:r>
            <a:r>
              <a:rPr lang="en-US" baseline="0" dirty="0"/>
              <a:t> </a:t>
            </a:r>
            <a:r>
              <a:rPr lang="en-US" baseline="0" dirty="0" err="1"/>
              <a:t>nhận</a:t>
            </a:r>
            <a:r>
              <a:rPr lang="en-US" baseline="0" dirty="0"/>
              <a:t> </a:t>
            </a:r>
            <a:r>
              <a:rPr lang="en-US" baseline="0" dirty="0" err="1"/>
              <a:t>khoảng</a:t>
            </a:r>
            <a:r>
              <a:rPr lang="en-US" baseline="0" dirty="0"/>
              <a:t> 5%)</a:t>
            </a:r>
          </a:p>
          <a:p>
            <a:r>
              <a:rPr lang="en-US" baseline="0" dirty="0"/>
              <a:t>            Soft-time: </a:t>
            </a:r>
            <a:r>
              <a:rPr lang="en-US" baseline="0" dirty="0" err="1"/>
              <a:t>là</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cố</a:t>
            </a:r>
            <a:r>
              <a:rPr lang="en-US" baseline="0" dirty="0"/>
              <a:t> </a:t>
            </a:r>
            <a:r>
              <a:rPr lang="en-US" baseline="0" dirty="0" err="1"/>
              <a:t>gắng</a:t>
            </a:r>
            <a:r>
              <a:rPr lang="en-US" baseline="0" dirty="0"/>
              <a:t> </a:t>
            </a:r>
            <a:r>
              <a:rPr lang="en-US" baseline="0" dirty="0" err="1"/>
              <a:t>đạt</a:t>
            </a:r>
            <a:r>
              <a:rPr lang="en-US" baseline="0" dirty="0"/>
              <a:t> </a:t>
            </a:r>
            <a:r>
              <a:rPr lang="en-US" baseline="0" dirty="0" err="1"/>
              <a:t>được</a:t>
            </a:r>
            <a:r>
              <a:rPr lang="en-US" baseline="0" dirty="0"/>
              <a:t> deadline </a:t>
            </a:r>
            <a:r>
              <a:rPr lang="en-US" baseline="0" dirty="0" err="1"/>
              <a:t>càng</a:t>
            </a:r>
            <a:r>
              <a:rPr lang="en-US" baseline="0" dirty="0"/>
              <a:t> </a:t>
            </a:r>
            <a:r>
              <a:rPr lang="en-US" baseline="0" dirty="0" err="1"/>
              <a:t>nhiều</a:t>
            </a:r>
            <a:r>
              <a:rPr lang="en-US" baseline="0" dirty="0"/>
              <a:t> </a:t>
            </a:r>
            <a:r>
              <a:rPr lang="en-US" baseline="0" dirty="0" err="1"/>
              <a:t>càng</a:t>
            </a:r>
            <a:r>
              <a:rPr lang="en-US" baseline="0" dirty="0"/>
              <a:t> </a:t>
            </a:r>
            <a:r>
              <a:rPr lang="en-US" baseline="0" dirty="0" err="1"/>
              <a:t>tốt</a:t>
            </a:r>
            <a:r>
              <a:rPr lang="en-US" baseline="0" dirty="0"/>
              <a:t>. </a:t>
            </a:r>
            <a:r>
              <a:rPr lang="en-US" baseline="0" dirty="0" err="1"/>
              <a:t>Ví</a:t>
            </a:r>
            <a:r>
              <a:rPr lang="en-US" baseline="0" dirty="0"/>
              <a:t> </a:t>
            </a:r>
            <a:r>
              <a:rPr lang="en-US" baseline="0" dirty="0" err="1"/>
              <a:t>dụ</a:t>
            </a:r>
            <a:r>
              <a:rPr lang="en-US" baseline="0" dirty="0"/>
              <a:t>: </a:t>
            </a:r>
            <a:r>
              <a:rPr lang="en-US" baseline="0" dirty="0" err="1"/>
              <a:t>hệ</a:t>
            </a:r>
            <a:r>
              <a:rPr lang="en-US" baseline="0" dirty="0"/>
              <a:t> </a:t>
            </a:r>
            <a:r>
              <a:rPr lang="en-US" baseline="0" dirty="0" err="1"/>
              <a:t>thống</a:t>
            </a:r>
            <a:r>
              <a:rPr lang="en-US" baseline="0" dirty="0"/>
              <a:t> multimedia….</a:t>
            </a:r>
          </a:p>
          <a:p>
            <a:endParaRPr lang="en-US" baseline="0" dirty="0"/>
          </a:p>
          <a:p>
            <a:r>
              <a:rPr lang="en-US" baseline="0" dirty="0">
                <a:sym typeface="Wingdings" panose="05000000000000000000" pitchFamily="2" charset="2"/>
              </a:rPr>
              <a:t>- Topic </a:t>
            </a:r>
            <a:r>
              <a:rPr lang="en-US" baseline="0" dirty="0" err="1">
                <a:sym typeface="Wingdings" panose="05000000000000000000" pitchFamily="2" charset="2"/>
              </a:rPr>
              <a:t>thảo</a:t>
            </a:r>
            <a:r>
              <a:rPr lang="en-US" baseline="0" dirty="0">
                <a:sym typeface="Wingdings" panose="05000000000000000000" pitchFamily="2" charset="2"/>
              </a:rPr>
              <a:t> </a:t>
            </a:r>
            <a:r>
              <a:rPr lang="en-US" baseline="0" dirty="0" err="1">
                <a:sym typeface="Wingdings" panose="05000000000000000000" pitchFamily="2" charset="2"/>
              </a:rPr>
              <a:t>luận</a:t>
            </a:r>
            <a:r>
              <a:rPr lang="en-US" baseline="0" dirty="0">
                <a:sym typeface="Wingdings" panose="05000000000000000000" pitchFamily="2" charset="2"/>
              </a:rPr>
              <a:t>: </a:t>
            </a:r>
            <a:r>
              <a:rPr lang="en-US" baseline="0" dirty="0" err="1">
                <a:sym typeface="Wingdings" panose="05000000000000000000" pitchFamily="2" charset="2"/>
              </a:rPr>
              <a:t>Sự</a:t>
            </a:r>
            <a:r>
              <a:rPr lang="en-US" baseline="0" dirty="0">
                <a:sym typeface="Wingdings" panose="05000000000000000000" pitchFamily="2" charset="2"/>
              </a:rPr>
              <a:t> </a:t>
            </a:r>
            <a:r>
              <a:rPr lang="en-US" baseline="0" dirty="0" err="1">
                <a:sym typeface="Wingdings" panose="05000000000000000000" pitchFamily="2" charset="2"/>
              </a:rPr>
              <a:t>khác</a:t>
            </a:r>
            <a:r>
              <a:rPr lang="en-US" baseline="0" dirty="0">
                <a:sym typeface="Wingdings" panose="05000000000000000000" pitchFamily="2" charset="2"/>
              </a:rPr>
              <a:t> </a:t>
            </a:r>
            <a:r>
              <a:rPr lang="en-US" baseline="0" dirty="0" err="1">
                <a:sym typeface="Wingdings" panose="05000000000000000000" pitchFamily="2" charset="2"/>
              </a:rPr>
              <a:t>nhau</a:t>
            </a:r>
            <a:r>
              <a:rPr lang="en-US" baseline="0" dirty="0">
                <a:sym typeface="Wingdings" panose="05000000000000000000" pitchFamily="2" charset="2"/>
              </a:rPr>
              <a:t> </a:t>
            </a:r>
            <a:r>
              <a:rPr lang="en-US" baseline="0" dirty="0" err="1">
                <a:sym typeface="Wingdings" panose="05000000000000000000" pitchFamily="2" charset="2"/>
              </a:rPr>
              <a:t>khi</a:t>
            </a:r>
            <a:r>
              <a:rPr lang="en-US" baseline="0" dirty="0">
                <a:sym typeface="Wingdings" panose="05000000000000000000" pitchFamily="2" charset="2"/>
              </a:rPr>
              <a:t> </a:t>
            </a:r>
            <a:r>
              <a:rPr lang="en-US" baseline="0" dirty="0" err="1">
                <a:sym typeface="Wingdings" panose="05000000000000000000" pitchFamily="2" charset="2"/>
              </a:rPr>
              <a:t>thiết</a:t>
            </a:r>
            <a:r>
              <a:rPr lang="en-US" baseline="0" dirty="0">
                <a:sym typeface="Wingdings" panose="05000000000000000000" pitchFamily="2" charset="2"/>
              </a:rPr>
              <a:t> </a:t>
            </a:r>
            <a:r>
              <a:rPr lang="en-US" baseline="0" dirty="0" err="1">
                <a:sym typeface="Wingdings" panose="05000000000000000000" pitchFamily="2" charset="2"/>
              </a:rPr>
              <a:t>kế</a:t>
            </a:r>
            <a:r>
              <a:rPr lang="en-US" baseline="0" dirty="0">
                <a:sym typeface="Wingdings" panose="05000000000000000000" pitchFamily="2" charset="2"/>
              </a:rPr>
              <a:t> + test </a:t>
            </a:r>
            <a:r>
              <a:rPr lang="en-US" baseline="0" dirty="0" err="1">
                <a:sym typeface="Wingdings" panose="05000000000000000000" pitchFamily="2" charset="2"/>
              </a:rPr>
              <a:t>của</a:t>
            </a:r>
            <a:r>
              <a:rPr lang="en-US" baseline="0" dirty="0">
                <a:sym typeface="Wingdings" panose="05000000000000000000" pitchFamily="2" charset="2"/>
              </a:rPr>
              <a:t> </a:t>
            </a:r>
            <a:r>
              <a:rPr lang="en-US" baseline="0" dirty="0" err="1">
                <a:sym typeface="Wingdings" panose="05000000000000000000" pitchFamily="2" charset="2"/>
              </a:rPr>
              <a:t>các</a:t>
            </a:r>
            <a:r>
              <a:rPr lang="en-US" baseline="0" dirty="0">
                <a:sym typeface="Wingdings" panose="05000000000000000000" pitchFamily="2" charset="2"/>
              </a:rPr>
              <a:t> </a:t>
            </a:r>
            <a:r>
              <a:rPr lang="en-US" baseline="0" dirty="0" err="1">
                <a:sym typeface="Wingdings" panose="05000000000000000000" pitchFamily="2" charset="2"/>
              </a:rPr>
              <a:t>hệ</a:t>
            </a:r>
            <a:r>
              <a:rPr lang="en-US" baseline="0" dirty="0">
                <a:sym typeface="Wingdings" panose="05000000000000000000" pitchFamily="2" charset="2"/>
              </a:rPr>
              <a:t> </a:t>
            </a:r>
            <a:r>
              <a:rPr lang="en-US" baseline="0" dirty="0" err="1">
                <a:sym typeface="Wingdings" panose="05000000000000000000" pitchFamily="2" charset="2"/>
              </a:rPr>
              <a:t>thống</a:t>
            </a:r>
            <a:r>
              <a:rPr lang="en-US" baseline="0" dirty="0">
                <a:sym typeface="Wingdings" panose="05000000000000000000" pitchFamily="2" charset="2"/>
              </a:rPr>
              <a:t> (hard time/ firm time/ soft time) </a:t>
            </a:r>
            <a:r>
              <a:rPr lang="en-US" baseline="0" dirty="0" err="1">
                <a:sym typeface="Wingdings" panose="05000000000000000000" pitchFamily="2" charset="2"/>
              </a:rPr>
              <a:t>như</a:t>
            </a:r>
            <a:r>
              <a:rPr lang="en-US" baseline="0" dirty="0">
                <a:sym typeface="Wingdings" panose="05000000000000000000" pitchFamily="2" charset="2"/>
              </a:rPr>
              <a:t> </a:t>
            </a:r>
            <a:r>
              <a:rPr lang="en-US" baseline="0" dirty="0" err="1">
                <a:sym typeface="Wingdings" panose="05000000000000000000" pitchFamily="2" charset="2"/>
              </a:rPr>
              <a:t>thế</a:t>
            </a:r>
            <a:r>
              <a:rPr lang="en-US" baseline="0" dirty="0">
                <a:sym typeface="Wingdings" panose="05000000000000000000" pitchFamily="2" charset="2"/>
              </a:rPr>
              <a:t> </a:t>
            </a:r>
            <a:r>
              <a:rPr lang="en-US" baseline="0" dirty="0" err="1">
                <a:sym typeface="Wingdings" panose="05000000000000000000" pitchFamily="2" charset="2"/>
              </a:rPr>
              <a:t>nào</a:t>
            </a:r>
            <a:r>
              <a:rPr lang="en-US" baseline="0" dirty="0">
                <a:sym typeface="Wingdings" panose="05000000000000000000" pitchFamily="2" charset="2"/>
              </a:rPr>
              <a:t> ?</a:t>
            </a: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6</a:t>
            </a:fld>
            <a:endParaRPr lang="en-US"/>
          </a:p>
        </p:txBody>
      </p:sp>
    </p:spTree>
    <p:extLst>
      <p:ext uri="{BB962C8B-B14F-4D97-AF65-F5344CB8AC3E}">
        <p14:creationId xmlns:p14="http://schemas.microsoft.com/office/powerpoint/2010/main" val="710925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vi-VN" altLang="en-US" dirty="0"/>
              <a:t>Năm 1960, hệ thống nhúng đầu tiên được Charles Stark Draper giới thiệu, và mục tiêu chính của nó là phát triển Hệ thống hướng dẫn Apollo.</a:t>
            </a:r>
          </a:p>
          <a:p>
            <a:pPr algn="just"/>
            <a:r>
              <a:rPr lang="vi-VN" altLang="en-US" dirty="0"/>
              <a:t>Năm 1965, hệ thống nhúng thứ hai là D-17B được tích hợp vào hệ thống dẫn đường tên lửa Minuteman.</a:t>
            </a:r>
            <a:endParaRPr lang="en-US" altLang="en-US" dirty="0"/>
          </a:p>
          <a:p>
            <a:pPr algn="just"/>
            <a:r>
              <a:rPr lang="vi-VN" altLang="en-US" dirty="0"/>
              <a:t>Năm 1968, hệ thống nhúng đầu tiên được phát hành cho xe</a:t>
            </a:r>
            <a:r>
              <a:rPr lang="en-US" altLang="en-US" dirty="0"/>
              <a:t> </a:t>
            </a:r>
            <a:r>
              <a:rPr lang="en-US" altLang="en-US" dirty="0" err="1"/>
              <a:t>hơi</a:t>
            </a:r>
            <a:endParaRPr lang="vi-VN" altLang="en-US" dirty="0"/>
          </a:p>
          <a:p>
            <a:pPr algn="just"/>
            <a:r>
              <a:rPr lang="vi-VN" altLang="en-US" dirty="0"/>
              <a:t>Năm 1971, bộ vi điều khiển đầu tiên được phát triển bởi Texas Instruments.</a:t>
            </a:r>
          </a:p>
          <a:p>
            <a:pPr algn="just"/>
            <a:r>
              <a:rPr lang="vi-VN" altLang="en-US" dirty="0"/>
              <a:t>Năm 1987, hệ điều hành nhúng đầu tiên (VxWorks) được giới thiệu bởi Wind River.</a:t>
            </a:r>
          </a:p>
          <a:p>
            <a:pPr algn="just"/>
            <a:r>
              <a:rPr lang="vi-VN" altLang="en-US" dirty="0"/>
              <a:t>Năm 1990, hệ thống Linux nhúng đầu tiên được giới thiệu.</a:t>
            </a:r>
            <a:endParaRPr lang="en-US" alt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7</a:t>
            </a:fld>
            <a:endParaRPr lang="en-US"/>
          </a:p>
        </p:txBody>
      </p:sp>
    </p:spTree>
    <p:extLst>
      <p:ext uri="{BB962C8B-B14F-4D97-AF65-F5344CB8AC3E}">
        <p14:creationId xmlns:p14="http://schemas.microsoft.com/office/powerpoint/2010/main" val="1801783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en-US" dirty="0"/>
              <a:t>All Embedded Systems are task specific.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nhúng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đều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nhiệm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thể</a:t>
            </a:r>
            <a:r>
              <a:rPr lang="en-US" sz="1200" b="0" i="0" kern="1200" dirty="0">
                <a:solidFill>
                  <a:schemeClr val="tx1"/>
                </a:solidFill>
                <a:effectLst/>
                <a:latin typeface="+mn-lt"/>
                <a:ea typeface="+mn-ea"/>
                <a:cs typeface="+mn-cs"/>
              </a:rPr>
              <a:t>.</a:t>
            </a:r>
            <a:r>
              <a:rPr lang="en-US" altLang="en-US" dirty="0"/>
              <a:t> </a:t>
            </a:r>
            <a:r>
              <a:rPr lang="en-US" sz="1200" b="0" i="0" kern="1200" dirty="0" err="1">
                <a:solidFill>
                  <a:schemeClr val="tx1"/>
                </a:solidFill>
                <a:effectLst/>
                <a:latin typeface="+mn-lt"/>
                <a:ea typeface="+mn-ea"/>
                <a:cs typeface="+mn-cs"/>
              </a:rPr>
              <a:t>Chúng</a:t>
            </a:r>
            <a:r>
              <a:rPr lang="vi-VN" sz="1200" b="0" i="0" kern="1200" dirty="0">
                <a:solidFill>
                  <a:schemeClr val="tx1"/>
                </a:solidFill>
                <a:effectLst/>
                <a:latin typeface="+mn-lt"/>
                <a:ea typeface="+mn-ea"/>
                <a:cs typeface="+mn-cs"/>
              </a:rPr>
              <a:t> làm cùng một nhiệm vụ lặp đi lặp lại</a:t>
            </a:r>
            <a:r>
              <a:rPr lang="en-US" sz="1200" b="0"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liên tục trong suốt cuộc đời của </a:t>
            </a:r>
            <a:r>
              <a:rPr lang="en-US" sz="1200" b="0" i="0" kern="1200" dirty="0" err="1">
                <a:solidFill>
                  <a:schemeClr val="tx1"/>
                </a:solidFill>
                <a:effectLst/>
                <a:latin typeface="+mn-lt"/>
                <a:ea typeface="+mn-ea"/>
                <a:cs typeface="+mn-cs"/>
              </a:rPr>
              <a:t>chúng</a:t>
            </a:r>
            <a:r>
              <a:rPr lang="vi-VN" sz="1200" b="0" i="0" kern="1200" dirty="0">
                <a:solidFill>
                  <a:schemeClr val="tx1"/>
                </a:solidFill>
                <a:effectLst/>
                <a:latin typeface="+mn-lt"/>
                <a:ea typeface="+mn-ea"/>
                <a:cs typeface="+mn-cs"/>
              </a:rPr>
              <a:t>. Máy nghe nhạc mp3 sẽ chỉ hoạt động như một máy nghe nhạc mp3.</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Embedded systems are created to perform the task within a certain time frame. </a:t>
            </a:r>
            <a:r>
              <a:rPr lang="vi-VN" sz="1200" b="0" i="0" kern="1200" dirty="0">
                <a:solidFill>
                  <a:schemeClr val="tx1"/>
                </a:solidFill>
                <a:effectLst/>
                <a:latin typeface="+mn-lt"/>
                <a:ea typeface="+mn-ea"/>
                <a:cs typeface="+mn-cs"/>
              </a:rPr>
              <a:t>Hệ thống nhúng được tạo ra để thực hiện nhiệm vụ trong một khung thời gian nhất định. Do đó, nó phải hoạt động đủ nhanh. Hệ thống phanh của ô tô, nếu vượt quá thời hạn cho phép, có thể gây ra tai nạn.</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Embedded systems are not always standalone devices. </a:t>
            </a:r>
            <a:r>
              <a:rPr lang="vi-VN" sz="1200" b="0" i="0" kern="1200" dirty="0">
                <a:solidFill>
                  <a:schemeClr val="tx1"/>
                </a:solidFill>
                <a:effectLst/>
                <a:latin typeface="+mn-lt"/>
                <a:ea typeface="+mn-ea"/>
                <a:cs typeface="+mn-cs"/>
              </a:rPr>
              <a:t>Hệ thống nhúng không phải lúc nào cũng là thiết bị độc lập. Nhiều hệ thống nhúng bao gồm các bộ phận nhỏ trong một thiết bị lớn hơn phục vụ mục đích chung hơn. </a:t>
            </a:r>
            <a:r>
              <a:rPr lang="en-US" sz="1200" b="0" i="0" kern="1200" dirty="0">
                <a:solidFill>
                  <a:schemeClr val="tx1"/>
                </a:solidFill>
                <a:effectLst/>
                <a:latin typeface="+mn-lt"/>
                <a:ea typeface="+mn-ea"/>
                <a:cs typeface="+mn-cs"/>
              </a:rPr>
              <a:t>M</a:t>
            </a:r>
            <a:r>
              <a:rPr lang="vi-VN" sz="1200" b="0" i="0" kern="1200" dirty="0">
                <a:solidFill>
                  <a:schemeClr val="tx1"/>
                </a:solidFill>
                <a:effectLst/>
                <a:latin typeface="+mn-lt"/>
                <a:ea typeface="+mn-ea"/>
                <a:cs typeface="+mn-cs"/>
              </a:rPr>
              <a:t>ột hệ thống nhúng trong ô tô cung cấp một chức năng cụ thể như một hệ thống con của chính ô tô.</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t>Embedded systems are built to achieve certain efficiency levels. </a:t>
            </a:r>
            <a:r>
              <a:rPr lang="vi-VN" sz="1200" b="0" i="0" kern="1200" dirty="0">
                <a:solidFill>
                  <a:schemeClr val="tx1"/>
                </a:solidFill>
                <a:effectLst/>
                <a:latin typeface="+mn-lt"/>
                <a:ea typeface="+mn-ea"/>
                <a:cs typeface="+mn-cs"/>
              </a:rPr>
              <a:t>Hệ thống nhúng được xây dựng để đạt được các mức hiệu quả nhất định. Chúng có kích thước nhỏ, có thể hoạt động với ít điện năng hơn và không quá đắt. </a:t>
            </a:r>
            <a:br>
              <a:rPr lang="vi-VN" dirty="0"/>
            </a:br>
            <a:r>
              <a:rPr lang="en-US" altLang="en-US" dirty="0"/>
              <a:t>Embedded systems must rank high on reliability and stability. </a:t>
            </a:r>
            <a:r>
              <a:rPr lang="vi-VN" sz="1200" b="0" i="0" kern="1200" dirty="0">
                <a:solidFill>
                  <a:schemeClr val="tx1"/>
                </a:solidFill>
                <a:effectLst/>
                <a:latin typeface="+mn-lt"/>
                <a:ea typeface="+mn-ea"/>
                <a:cs typeface="+mn-cs"/>
              </a:rPr>
              <a:t>Người dùng không thể thay đổi hoặc nâng cấp hệ thống nhúng. Do đó, chúng phải xếp hạng cao về độ tin cậy và ổn định. Chúng dự kiến ​​sẽ hoạt động trong thời gian dài mà người dùng không gặp bất kỳ khó khăn nào. </a:t>
            </a:r>
            <a:br>
              <a:rPr lang="vi-VN" dirty="0"/>
            </a:br>
            <a:endParaRPr lang="en-US" alt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8</a:t>
            </a:fld>
            <a:endParaRPr lang="en-US"/>
          </a:p>
        </p:txBody>
      </p:sp>
    </p:spTree>
    <p:extLst>
      <p:ext uri="{BB962C8B-B14F-4D97-AF65-F5344CB8AC3E}">
        <p14:creationId xmlns:p14="http://schemas.microsoft.com/office/powerpoint/2010/main" val="2200378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en-US" b="1" dirty="0"/>
              <a:t>Real Time Embedded Systems: </a:t>
            </a:r>
            <a:r>
              <a:rPr lang="vi-VN" altLang="en-US" b="1" dirty="0"/>
              <a:t> </a:t>
            </a:r>
            <a:r>
              <a:rPr lang="en-US" altLang="en-US" dirty="0"/>
              <a:t>Đ</a:t>
            </a:r>
            <a:r>
              <a:rPr lang="vi-VN" altLang="en-US" dirty="0"/>
              <a:t>ược sử dụng </a:t>
            </a:r>
            <a:r>
              <a:rPr lang="en-US" altLang="en-US" dirty="0" err="1"/>
              <a:t>cho</a:t>
            </a:r>
            <a:r>
              <a:rPr lang="en-US" altLang="en-US" dirty="0"/>
              <a:t> </a:t>
            </a:r>
            <a:r>
              <a:rPr lang="en-US" altLang="en-US" dirty="0" err="1"/>
              <a:t>các</a:t>
            </a:r>
            <a:r>
              <a:rPr lang="en-US" altLang="en-US" dirty="0"/>
              <a:t> </a:t>
            </a:r>
            <a:r>
              <a:rPr lang="en-US" altLang="en-US" dirty="0" err="1"/>
              <a:t>yêu</a:t>
            </a:r>
            <a:r>
              <a:rPr lang="en-US" altLang="en-US" dirty="0"/>
              <a:t> </a:t>
            </a:r>
            <a:r>
              <a:rPr lang="en-US" altLang="en-US" dirty="0" err="1"/>
              <a:t>cầu</a:t>
            </a:r>
            <a:r>
              <a:rPr lang="en-US" altLang="en-US" dirty="0"/>
              <a:t> </a:t>
            </a:r>
            <a:r>
              <a:rPr lang="vi-VN" altLang="en-US" dirty="0"/>
              <a:t>cần kết quả tại một khoảng thời gian cụ thể. Vì vậy, </a:t>
            </a:r>
            <a:r>
              <a:rPr lang="en-US" altLang="en-US" dirty="0"/>
              <a:t>Real Time Embedded Systems </a:t>
            </a:r>
            <a:r>
              <a:rPr lang="vi-VN" altLang="en-US" dirty="0"/>
              <a:t>được sử dụng trong các lĩnh vực quân sự, y tế và công nghiệp.</a:t>
            </a:r>
            <a:r>
              <a:rPr lang="en-US" altLang="en-US" dirty="0"/>
              <a:t> VD: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kiểm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soát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giao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theo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dõi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bệnh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nhân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trị</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tế</a:t>
            </a:r>
            <a:r>
              <a:rPr lang="en-US" sz="1200" b="0" i="0" kern="1200" dirty="0">
                <a:solidFill>
                  <a:schemeClr val="tx1"/>
                </a:solidFill>
                <a:effectLst/>
                <a:latin typeface="+mn-lt"/>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1" dirty="0"/>
              <a:t>Stand-Alone Embedded Systems: </a:t>
            </a:r>
            <a:r>
              <a:rPr lang="en-US" sz="1200" b="0" i="0" kern="1200" dirty="0">
                <a:solidFill>
                  <a:schemeClr val="tx1"/>
                </a:solidFill>
                <a:effectLst/>
                <a:latin typeface="+mn-lt"/>
                <a:ea typeface="+mn-ea"/>
                <a:cs typeface="+mn-cs"/>
              </a:rPr>
              <a:t>L</a:t>
            </a:r>
            <a:r>
              <a:rPr lang="vi-VN" sz="1200" b="0" i="0" kern="1200" dirty="0">
                <a:solidFill>
                  <a:schemeClr val="tx1"/>
                </a:solidFill>
                <a:effectLst/>
                <a:latin typeface="+mn-lt"/>
                <a:ea typeface="+mn-ea"/>
                <a:cs typeface="+mn-cs"/>
              </a:rPr>
              <a:t>à những hệ thống có thể tự hoạt động, tức là chúng tự cung cấp và không phụ thuộc vào hệ thống máy chủ. Các hệ thống nhúng độc lập được tạo ra theo cách mà một đầu vào được nhận, xử lý và sau đó đầu ra mong muốn được tạo ra. Đầu vào có thể được nhận thông qua cảm biến</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hoặc nút nhấn.</a:t>
            </a:r>
            <a:r>
              <a:rPr lang="en-US" sz="1200" b="0" i="0" kern="1200" dirty="0">
                <a:solidFill>
                  <a:schemeClr val="tx1"/>
                </a:solidFill>
                <a:effectLst/>
                <a:latin typeface="+mn-lt"/>
                <a:ea typeface="+mn-ea"/>
                <a:cs typeface="+mn-cs"/>
              </a:rPr>
              <a:t> VD: </a:t>
            </a:r>
            <a:r>
              <a:rPr lang="en-US" sz="1200" b="0" i="0" kern="1200" dirty="0" err="1">
                <a:solidFill>
                  <a:schemeClr val="tx1"/>
                </a:solidFill>
                <a:effectLst/>
                <a:latin typeface="+mn-lt"/>
                <a:ea typeface="+mn-ea"/>
                <a:cs typeface="+mn-cs"/>
              </a:rPr>
              <a:t>Máy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giặt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lò</a:t>
            </a:r>
            <a:r>
              <a:rPr lang="en-US" sz="1200" b="0" i="0" kern="1200" dirty="0">
                <a:solidFill>
                  <a:schemeClr val="tx1"/>
                </a:solidFill>
                <a:effectLst/>
                <a:latin typeface="+mn-lt"/>
                <a:ea typeface="+mn-ea"/>
                <a:cs typeface="+mn-cs"/>
              </a:rPr>
              <a:t> vi </a:t>
            </a:r>
            <a:r>
              <a:rPr lang="en-US" sz="1200" b="0" i="0" kern="1200" dirty="0" err="1">
                <a:solidFill>
                  <a:schemeClr val="tx1"/>
                </a:solidFill>
                <a:effectLst/>
                <a:latin typeface="+mn-lt"/>
                <a:ea typeface="+mn-ea"/>
                <a:cs typeface="+mn-cs"/>
              </a:rPr>
              <a:t>sóng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vì</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chúng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máy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vận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thiết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bị</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đó</a:t>
            </a:r>
            <a:r>
              <a:rPr lang="en-US" sz="1200" b="0" i="0" kern="1200" dirty="0">
                <a:solidFill>
                  <a:schemeClr val="tx1"/>
                </a:solidFill>
                <a:effectLst/>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1" dirty="0"/>
              <a:t>Networked Embedded Systems: </a:t>
            </a:r>
            <a:r>
              <a:rPr lang="en-US" altLang="en-US" dirty="0" err="1"/>
              <a:t>Hệ</a:t>
            </a:r>
            <a:r>
              <a:rPr lang="en-US" altLang="en-US" dirty="0"/>
              <a:t> </a:t>
            </a:r>
            <a:r>
              <a:rPr lang="en-US" altLang="en-US" dirty="0" err="1"/>
              <a:t>thống</a:t>
            </a:r>
            <a:r>
              <a:rPr lang="en-US" altLang="en-US" dirty="0"/>
              <a:t> </a:t>
            </a:r>
            <a:r>
              <a:rPr lang="en-US" altLang="en-US" dirty="0" err="1"/>
              <a:t>này</a:t>
            </a:r>
            <a:r>
              <a:rPr lang="en-US" altLang="en-US" dirty="0"/>
              <a:t> </a:t>
            </a:r>
            <a:r>
              <a:rPr lang="vi-VN" sz="1200" b="0" i="0" kern="1200" dirty="0">
                <a:solidFill>
                  <a:schemeClr val="tx1"/>
                </a:solidFill>
                <a:effectLst/>
                <a:latin typeface="+mn-lt"/>
                <a:ea typeface="+mn-ea"/>
                <a:cs typeface="+mn-cs"/>
              </a:rPr>
              <a:t>phụ thuộc vào kết nối </a:t>
            </a:r>
            <a:r>
              <a:rPr lang="en-US" sz="1200" b="0" i="0" kern="1200" dirty="0" err="1">
                <a:solidFill>
                  <a:schemeClr val="tx1"/>
                </a:solidFill>
                <a:effectLst/>
                <a:latin typeface="+mn-lt"/>
                <a:ea typeface="+mn-ea"/>
                <a:cs typeface="+mn-cs"/>
              </a:rPr>
              <a:t>mạng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thiết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phải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mạng</a:t>
            </a:r>
            <a:r>
              <a:rPr lang="en-US" sz="1200" b="0" i="0" kern="1200" dirty="0">
                <a:solidFill>
                  <a:schemeClr val="tx1"/>
                </a:solidFill>
                <a:effectLst/>
                <a:latin typeface="+mn-lt"/>
                <a:ea typeface="+mn-ea"/>
                <a:cs typeface="+mn-cs"/>
              </a:rPr>
              <a:t> internet) </a:t>
            </a:r>
            <a:r>
              <a:rPr lang="vi-VN" sz="1200" b="0" i="0" kern="1200" dirty="0">
                <a:solidFill>
                  <a:schemeClr val="tx1"/>
                </a:solidFill>
                <a:effectLst/>
                <a:latin typeface="+mn-lt"/>
                <a:ea typeface="+mn-ea"/>
                <a:cs typeface="+mn-cs"/>
              </a:rPr>
              <a:t>để thực hiện các nhiệm vụ được giao.</a:t>
            </a:r>
            <a:r>
              <a:rPr lang="en-US" sz="1200" b="0" i="0" kern="1200" dirty="0">
                <a:solidFill>
                  <a:schemeClr val="tx1"/>
                </a:solidFill>
                <a:effectLst/>
                <a:latin typeface="+mn-lt"/>
                <a:ea typeface="+mn-ea"/>
                <a:cs typeface="+mn-cs"/>
              </a:rPr>
              <a:t> VD: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an </a:t>
            </a:r>
            <a:r>
              <a:rPr lang="en-US" sz="1200" b="0" i="0" kern="1200" dirty="0" err="1">
                <a:solidFill>
                  <a:schemeClr val="tx1"/>
                </a:solidFill>
                <a:effectLst/>
                <a:latin typeface="+mn-lt"/>
                <a:ea typeface="+mn-ea"/>
                <a:cs typeface="+mn-cs"/>
              </a:rPr>
              <a:t>ninh</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b="1" dirty="0"/>
              <a:t>Mobile Embedded Systems: </a:t>
            </a:r>
            <a:r>
              <a:rPr lang="vi-VN" sz="1200" b="0" i="0" kern="1200" dirty="0">
                <a:solidFill>
                  <a:schemeClr val="tx1"/>
                </a:solidFill>
                <a:effectLst/>
                <a:latin typeface="+mn-lt"/>
                <a:ea typeface="+mn-ea"/>
                <a:cs typeface="+mn-cs"/>
              </a:rPr>
              <a:t>Tất cả các thiết bị có thể di động (không giới hạn thời gian và địa điểm) và hoạt động tự do, được gọi là “</a:t>
            </a:r>
            <a:r>
              <a:rPr lang="en-US" altLang="en-US" dirty="0"/>
              <a:t>Mobile Embedded Systems</a:t>
            </a:r>
            <a:r>
              <a:rPr lang="vi-VN" sz="1200" b="0" i="0" kern="1200" dirty="0">
                <a:solidFill>
                  <a:schemeClr val="tx1"/>
                </a:solidFill>
                <a:effectLst/>
                <a:latin typeface="+mn-lt"/>
                <a:ea typeface="+mn-ea"/>
                <a:cs typeface="+mn-cs"/>
              </a:rPr>
              <a:t>”. Chúng bị giới hạn về bộ nhớ và chức năng.</a:t>
            </a:r>
            <a:r>
              <a:rPr lang="en-US" sz="1200" b="0" i="0" kern="1200" dirty="0">
                <a:solidFill>
                  <a:schemeClr val="tx1"/>
                </a:solidFill>
                <a:effectLst/>
                <a:latin typeface="+mn-lt"/>
                <a:ea typeface="+mn-ea"/>
                <a:cs typeface="+mn-cs"/>
              </a:rPr>
              <a:t> VD: </a:t>
            </a:r>
            <a:r>
              <a:rPr lang="en-US" sz="1200" b="0" i="0" kern="1200" dirty="0" err="1">
                <a:solidFill>
                  <a:schemeClr val="tx1"/>
                </a:solidFill>
                <a:effectLst/>
                <a:latin typeface="+mn-lt"/>
                <a:ea typeface="+mn-ea"/>
                <a:cs typeface="+mn-cs"/>
              </a:rPr>
              <a:t>Máy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huyết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áp</a:t>
            </a:r>
            <a:r>
              <a:rPr lang="en-US" sz="1200" b="0" i="0" kern="1200" dirty="0">
                <a:solidFill>
                  <a:schemeClr val="tx1"/>
                </a:solidFill>
                <a:effectLst/>
                <a:latin typeface="+mn-lt"/>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lvl="0" algn="just"/>
            <a:r>
              <a:rPr lang="en-US" altLang="en-US" b="1" dirty="0"/>
              <a:t>Small Scale Embedded Systems:</a:t>
            </a:r>
            <a:r>
              <a:rPr lang="en-US" altLang="en-US" dirty="0"/>
              <a:t> L</a:t>
            </a:r>
            <a:r>
              <a:rPr lang="vi-VN" sz="1200" b="0" i="0" kern="1200" dirty="0">
                <a:solidFill>
                  <a:schemeClr val="tx1"/>
                </a:solidFill>
                <a:effectLst/>
                <a:latin typeface="+mn-lt"/>
                <a:ea typeface="+mn-ea"/>
                <a:cs typeface="+mn-cs"/>
              </a:rPr>
              <a:t>à hệ thống cấp đầu tiên và chúng sử dụng bộ xử lý 8 bit hoặc 16 bit. Trong đó sử dụng bộ vi xử lý, nhằm hạn chế tài nguyên như ROM, RAM và tốc độ xử lý.</a:t>
            </a:r>
            <a:r>
              <a:rPr lang="en-US" sz="1200" b="0" i="0" kern="1200" dirty="0">
                <a:solidFill>
                  <a:schemeClr val="tx1"/>
                </a:solidFill>
                <a:effectLst/>
                <a:latin typeface="+mn-lt"/>
                <a:ea typeface="+mn-ea"/>
                <a:cs typeface="+mn-cs"/>
              </a:rPr>
              <a:t> VD: </a:t>
            </a:r>
            <a:r>
              <a:rPr lang="en-US" sz="1200" b="0" i="0" kern="1200" dirty="0" err="1">
                <a:solidFill>
                  <a:schemeClr val="tx1"/>
                </a:solidFill>
                <a:effectLst/>
                <a:latin typeface="+mn-lt"/>
                <a:ea typeface="+mn-ea"/>
                <a:cs typeface="+mn-cs"/>
              </a:rPr>
              <a:t>máy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giặt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lò</a:t>
            </a:r>
            <a:r>
              <a:rPr lang="en-US" sz="1200" b="0" i="0" kern="1200" dirty="0">
                <a:solidFill>
                  <a:schemeClr val="tx1"/>
                </a:solidFill>
                <a:effectLst/>
                <a:latin typeface="+mn-lt"/>
                <a:ea typeface="+mn-ea"/>
                <a:cs typeface="+mn-cs"/>
              </a:rPr>
              <a:t> vi song, …</a:t>
            </a:r>
            <a:endParaRPr lang="en-US" altLang="en-US" dirty="0"/>
          </a:p>
          <a:p>
            <a:pPr lvl="0" algn="just"/>
            <a:r>
              <a:rPr lang="en-US" altLang="en-US" b="1" dirty="0"/>
              <a:t>Medium Scale Embedded Systems: </a:t>
            </a:r>
            <a:r>
              <a:rPr lang="en-US" altLang="en-US" dirty="0" err="1"/>
              <a:t>Là</a:t>
            </a:r>
            <a:r>
              <a:rPr lang="en-US" altLang="en-US" dirty="0"/>
              <a:t> </a:t>
            </a:r>
            <a:r>
              <a:rPr lang="en-US" altLang="en-US" dirty="0" err="1"/>
              <a:t>hệ</a:t>
            </a:r>
            <a:r>
              <a:rPr lang="en-US" altLang="en-US" dirty="0"/>
              <a:t> </a:t>
            </a:r>
            <a:r>
              <a:rPr lang="en-US" altLang="en-US" dirty="0" err="1"/>
              <a:t>thống</a:t>
            </a:r>
            <a:r>
              <a:rPr lang="en-US" altLang="en-US" dirty="0"/>
              <a:t> </a:t>
            </a:r>
            <a:r>
              <a:rPr lang="vi-VN" sz="1200" b="0" i="0" kern="1200" dirty="0">
                <a:solidFill>
                  <a:schemeClr val="tx1"/>
                </a:solidFill>
                <a:effectLst/>
                <a:latin typeface="+mn-lt"/>
                <a:ea typeface="+mn-ea"/>
                <a:cs typeface="+mn-cs"/>
              </a:rPr>
              <a:t>sử dụng một bộ vi điều khiển 16 bit hoặc 32 bit hoặc nhiều bộ vi điều khiển được liên kết với nhau. </a:t>
            </a:r>
            <a:endParaRPr lang="en-US" altLang="en-US" dirty="0"/>
          </a:p>
          <a:p>
            <a:pPr lvl="0" algn="just"/>
            <a:r>
              <a:rPr lang="en-US" altLang="en-US" b="1" dirty="0"/>
              <a:t>Sophisticated Embedded Systems: </a:t>
            </a:r>
            <a:r>
              <a:rPr lang="en-US" altLang="en-US" dirty="0" err="1"/>
              <a:t>Là</a:t>
            </a:r>
            <a:r>
              <a:rPr lang="en-US" altLang="en-US" dirty="0"/>
              <a:t> </a:t>
            </a:r>
            <a:r>
              <a:rPr lang="en-US" altLang="en-US" dirty="0" err="1"/>
              <a:t>hệ</a:t>
            </a:r>
            <a:r>
              <a:rPr lang="en-US" altLang="en-US" dirty="0"/>
              <a:t> </a:t>
            </a:r>
            <a:r>
              <a:rPr lang="en-US" altLang="en-US" dirty="0" err="1"/>
              <a:t>thống</a:t>
            </a:r>
            <a:r>
              <a:rPr lang="en-US" altLang="en-US" dirty="0"/>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hiện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lớn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việc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dụng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nhiều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bộ</a:t>
            </a:r>
            <a:r>
              <a:rPr lang="en-US" sz="1200" b="0" i="0" kern="1200" dirty="0">
                <a:solidFill>
                  <a:schemeClr val="tx1"/>
                </a:solidFill>
                <a:effectLst/>
                <a:latin typeface="+mn-lt"/>
                <a:ea typeface="+mn-ea"/>
                <a:cs typeface="+mn-cs"/>
              </a:rPr>
              <a:t> vi </a:t>
            </a:r>
            <a:r>
              <a:rPr lang="en-US" sz="1200" b="0" i="0" kern="1200" dirty="0" err="1">
                <a:solidFill>
                  <a:schemeClr val="tx1"/>
                </a:solidFill>
                <a:effectLst/>
                <a:latin typeface="+mn-lt"/>
                <a:ea typeface="+mn-ea"/>
                <a:cs typeface="+mn-cs"/>
              </a:rPr>
              <a:t>xử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lý</a:t>
            </a:r>
            <a:r>
              <a:rPr lang="en-US" sz="1200" b="0" i="0" kern="1200" dirty="0">
                <a:solidFill>
                  <a:schemeClr val="tx1"/>
                </a:solidFill>
                <a:effectLst/>
                <a:latin typeface="+mn-lt"/>
                <a:ea typeface="+mn-ea"/>
                <a:cs typeface="+mn-cs"/>
              </a:rPr>
              <a:t> 32 bit </a:t>
            </a:r>
            <a:r>
              <a:rPr lang="en-US" sz="1200" b="0" i="0" kern="1200" dirty="0" err="1">
                <a:solidFill>
                  <a:schemeClr val="tx1"/>
                </a:solidFill>
                <a:effectLst/>
                <a:latin typeface="+mn-lt"/>
                <a:ea typeface="+mn-ea"/>
                <a:cs typeface="+mn-cs"/>
              </a:rPr>
              <a:t>hoặc</a:t>
            </a:r>
            <a:r>
              <a:rPr lang="en-US" sz="1200" b="0" i="0" kern="1200" dirty="0">
                <a:solidFill>
                  <a:schemeClr val="tx1"/>
                </a:solidFill>
                <a:effectLst/>
                <a:latin typeface="+mn-lt"/>
                <a:ea typeface="+mn-ea"/>
                <a:cs typeface="+mn-cs"/>
              </a:rPr>
              <a:t> 64 bit.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thống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chứa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nhiều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mềm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cứng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phức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tạp</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2B3067B3-3AE6-DD4A-9E3D-C999AB3971A1}" type="slidenum">
              <a:rPr lang="en-US" smtClean="0"/>
              <a:t>9</a:t>
            </a:fld>
            <a:endParaRPr lang="en-US"/>
          </a:p>
        </p:txBody>
      </p:sp>
    </p:spTree>
    <p:extLst>
      <p:ext uri="{BB962C8B-B14F-4D97-AF65-F5344CB8AC3E}">
        <p14:creationId xmlns:p14="http://schemas.microsoft.com/office/powerpoint/2010/main" val="45041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B3067B3-3AE6-DD4A-9E3D-C999AB3971A1}" type="slidenum">
              <a:rPr lang="en-US" smtClean="0"/>
              <a:t>10</a:t>
            </a:fld>
            <a:endParaRPr lang="en-US"/>
          </a:p>
        </p:txBody>
      </p:sp>
    </p:spTree>
    <p:extLst>
      <p:ext uri="{BB962C8B-B14F-4D97-AF65-F5344CB8AC3E}">
        <p14:creationId xmlns:p14="http://schemas.microsoft.com/office/powerpoint/2010/main" val="15481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12</a:t>
            </a:fld>
            <a:endParaRPr lang="en-US"/>
          </a:p>
        </p:txBody>
      </p:sp>
    </p:spTree>
    <p:extLst>
      <p:ext uri="{BB962C8B-B14F-4D97-AF65-F5344CB8AC3E}">
        <p14:creationId xmlns:p14="http://schemas.microsoft.com/office/powerpoint/2010/main" val="3021376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1" i="0" kern="1200" dirty="0">
                <a:solidFill>
                  <a:schemeClr val="tx1"/>
                </a:solidFill>
                <a:effectLst/>
                <a:latin typeface="+mn-lt"/>
                <a:ea typeface="+mn-ea"/>
                <a:cs typeface="+mn-cs"/>
              </a:rPr>
              <a:t>Vi điều khiển </a:t>
            </a:r>
            <a:r>
              <a:rPr lang="vi-VN" sz="1200" b="0" i="0" kern="1200" dirty="0">
                <a:solidFill>
                  <a:schemeClr val="tx1"/>
                </a:solidFill>
                <a:effectLst/>
                <a:latin typeface="+mn-lt"/>
                <a:ea typeface="+mn-ea"/>
                <a:cs typeface="+mn-cs"/>
              </a:rPr>
              <a:t>là một mạch tích hợp nhỏ gọn được thiết kế để điều khiển một hoạt động cụ thể trong một hệ thống nhúng.</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Đôi khi được gọi là microcontroller unit (MCU), bộ vi điều khiển được tìm thấy trong xe cộ, thiết bị y tế, bộ thu phát vô tuyến di động, máy bán hàng tự động và thiết bị gia dụng cùng với các thiết bị khác.</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Vi </a:t>
            </a:r>
            <a:r>
              <a:rPr lang="vi-VN" sz="1200" b="1" i="0" kern="1200" dirty="0">
                <a:solidFill>
                  <a:schemeClr val="tx1"/>
                </a:solidFill>
                <a:effectLst/>
                <a:latin typeface="+mn-lt"/>
                <a:ea typeface="+mn-ea"/>
                <a:cs typeface="+mn-cs"/>
              </a:rPr>
              <a:t>xử lý </a:t>
            </a:r>
            <a:r>
              <a:rPr lang="vi-VN" sz="1200" b="0" i="0" kern="1200" dirty="0">
                <a:solidFill>
                  <a:schemeClr val="tx1"/>
                </a:solidFill>
                <a:effectLst/>
                <a:latin typeface="+mn-lt"/>
                <a:ea typeface="+mn-ea"/>
                <a:cs typeface="+mn-cs"/>
              </a:rPr>
              <a:t>là một bộ phận điều khiển của một máy tính vi mô được bọc bên trong một con chip nhỏ. Nó thực hiện các hoạt động Đơn vị logic số học (ALU) và giao tiếp với các thiết bị khác được kết nối với nó.</a:t>
            </a: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13</a:t>
            </a:fld>
            <a:endParaRPr lang="en-US"/>
          </a:p>
        </p:txBody>
      </p:sp>
    </p:spTree>
    <p:extLst>
      <p:ext uri="{BB962C8B-B14F-4D97-AF65-F5344CB8AC3E}">
        <p14:creationId xmlns:p14="http://schemas.microsoft.com/office/powerpoint/2010/main" val="1670056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14</a:t>
            </a:fld>
            <a:endParaRPr lang="en-US"/>
          </a:p>
        </p:txBody>
      </p:sp>
    </p:spTree>
    <p:extLst>
      <p:ext uri="{BB962C8B-B14F-4D97-AF65-F5344CB8AC3E}">
        <p14:creationId xmlns:p14="http://schemas.microsoft.com/office/powerpoint/2010/main" val="3028004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b="1" dirty="0"/>
              <a:t>Scalar and Superscalar Processors</a:t>
            </a:r>
            <a:r>
              <a:rPr lang="en-US" dirty="0"/>
              <a:t>: Scalar processors </a:t>
            </a:r>
            <a:r>
              <a:rPr lang="vi-VN" sz="1200" b="0" i="0" kern="1200" dirty="0">
                <a:solidFill>
                  <a:schemeClr val="tx1"/>
                </a:solidFill>
                <a:effectLst/>
                <a:latin typeface="+mn-lt"/>
                <a:ea typeface="+mn-ea"/>
                <a:cs typeface="+mn-cs"/>
              </a:rPr>
              <a:t>có thể thực hiện nhiều nhất một lệnh duy nhất trên mỗi chu kỳ </a:t>
            </a:r>
            <a:r>
              <a:rPr lang="en-US" sz="1200" b="0" i="0" kern="1200" dirty="0">
                <a:solidFill>
                  <a:schemeClr val="tx1"/>
                </a:solidFill>
                <a:effectLst/>
                <a:latin typeface="+mn-lt"/>
                <a:ea typeface="+mn-ea"/>
                <a:cs typeface="+mn-cs"/>
              </a:rPr>
              <a:t>clock</a:t>
            </a:r>
            <a:r>
              <a:rPr lang="vi-VN" sz="1200" b="0" i="0" kern="1200" dirty="0">
                <a:solidFill>
                  <a:schemeClr val="tx1"/>
                </a:solidFill>
                <a:effectLst/>
                <a:latin typeface="+mn-lt"/>
                <a:ea typeface="+mn-ea"/>
                <a:cs typeface="+mn-cs"/>
              </a:rPr>
              <a:t>,</a:t>
            </a:r>
            <a:r>
              <a:rPr lang="en-US" dirty="0"/>
              <a:t> Superscalar Processors </a:t>
            </a:r>
            <a:r>
              <a:rPr lang="vi-VN" sz="1200" b="0" i="0" kern="1200" dirty="0">
                <a:solidFill>
                  <a:schemeClr val="tx1"/>
                </a:solidFill>
                <a:effectLst/>
                <a:latin typeface="+mn-lt"/>
                <a:ea typeface="+mn-ea"/>
                <a:cs typeface="+mn-cs"/>
              </a:rPr>
              <a:t>có thể thực hiện nhiều lệnh trong một chu kỳ đồng hồ bằng cách gửi đồng thời nhiều lệnh đến các đơn vị thực thi khác nhau trên bộ xử lý.</a:t>
            </a:r>
            <a:endParaRPr lang="en-US" dirty="0"/>
          </a:p>
          <a:p>
            <a:pPr lvl="0" algn="just"/>
            <a:r>
              <a:rPr lang="en-US" b="1" dirty="0"/>
              <a:t>Vector Processors</a:t>
            </a:r>
            <a:r>
              <a:rPr lang="en-US" dirty="0"/>
              <a:t>: </a:t>
            </a:r>
            <a:r>
              <a:rPr lang="en-US" sz="1200" b="0" i="0" kern="1200" dirty="0">
                <a:solidFill>
                  <a:schemeClr val="tx1"/>
                </a:solidFill>
                <a:effectLst/>
                <a:latin typeface="+mn-lt"/>
                <a:ea typeface="+mn-ea"/>
                <a:cs typeface="+mn-cs"/>
              </a:rPr>
              <a:t>Đ</a:t>
            </a:r>
            <a:r>
              <a:rPr lang="vi-VN" sz="1200" b="0" i="0" kern="1200" dirty="0">
                <a:solidFill>
                  <a:schemeClr val="tx1"/>
                </a:solidFill>
                <a:effectLst/>
                <a:latin typeface="+mn-lt"/>
                <a:ea typeface="+mn-ea"/>
                <a:cs typeface="+mn-cs"/>
              </a:rPr>
              <a:t>ược thiết kế để tính toán vectơ và nó là một mảng các toán hạng. Đó là quá trình sử dụng vectơ để lưu trữ một số lượng lớn các biến để xử lý dữ liệu cường độ cao.</a:t>
            </a:r>
            <a:endParaRPr lang="en-US" dirty="0"/>
          </a:p>
          <a:p>
            <a:pPr lvl="0" algn="just"/>
            <a:r>
              <a:rPr lang="en-US" b="1" dirty="0"/>
              <a:t>Array processor</a:t>
            </a:r>
            <a:r>
              <a:rPr lang="en-US" dirty="0"/>
              <a:t>: C</a:t>
            </a:r>
            <a:r>
              <a:rPr lang="vi-VN" dirty="0"/>
              <a:t>ũng được thiết kế để tính toán vectơ và nó là bộ xử lý đa dữ liệu (SIMD) theo lệnh đơn. Các ứng dụng của SIMD bao gồm xử lý hình ảnh, dựng hình 3d, nhận dạng giọng nói,</a:t>
            </a:r>
            <a:r>
              <a:rPr lang="en-US" dirty="0"/>
              <a:t>..</a:t>
            </a:r>
          </a:p>
          <a:p>
            <a:pPr lvl="0" algn="just"/>
            <a:r>
              <a:rPr lang="en-US" b="1" dirty="0"/>
              <a:t>Digital Signal Processors</a:t>
            </a:r>
            <a:r>
              <a:rPr lang="en-US" dirty="0"/>
              <a:t>: </a:t>
            </a:r>
            <a:r>
              <a:rPr lang="en-US" sz="1200" b="0" i="0" kern="1200" dirty="0">
                <a:solidFill>
                  <a:schemeClr val="tx1"/>
                </a:solidFill>
                <a:effectLst/>
                <a:latin typeface="+mn-lt"/>
                <a:ea typeface="+mn-ea"/>
                <a:cs typeface="+mn-cs"/>
              </a:rPr>
              <a:t>Đ</a:t>
            </a:r>
            <a:r>
              <a:rPr lang="vi-VN" sz="1200" b="0" i="0" kern="1200" dirty="0">
                <a:solidFill>
                  <a:schemeClr val="tx1"/>
                </a:solidFill>
                <a:effectLst/>
                <a:latin typeface="+mn-lt"/>
                <a:ea typeface="+mn-ea"/>
                <a:cs typeface="+mn-cs"/>
              </a:rPr>
              <a:t>ược sử dụng để xử lý tín hiệu ở dạng kỹ thuật số. Các ứng dụng của DSP là xử lý tín hiệu âm thanh, xử lý hình ảnh kỹ thuật số, nén video, nén âm thanh, xử lý và nhận dạng giọng nói,</a:t>
            </a:r>
            <a:r>
              <a:rPr lang="en-US" sz="1200" b="0" i="0" kern="1200" dirty="0">
                <a:solidFill>
                  <a:schemeClr val="tx1"/>
                </a:solidFill>
                <a:effectLst/>
                <a:latin typeface="+mn-lt"/>
                <a:ea typeface="+mn-ea"/>
                <a:cs typeface="+mn-cs"/>
              </a:rPr>
              <a:t>..</a:t>
            </a:r>
            <a:endParaRPr lang="en-US" dirty="0"/>
          </a:p>
          <a:p>
            <a:pPr lvl="0" algn="just"/>
            <a:r>
              <a:rPr lang="en-US" dirty="0"/>
              <a:t>RISC Processors: </a:t>
            </a:r>
          </a:p>
          <a:p>
            <a:pPr lvl="0" algn="just"/>
            <a:r>
              <a:rPr lang="en-US" dirty="0"/>
              <a:t>CISC Processors: </a:t>
            </a:r>
          </a:p>
          <a:p>
            <a:pPr lvl="0" algn="just"/>
            <a:r>
              <a:rPr lang="en-US" b="1" dirty="0"/>
              <a:t>ASIC Processors</a:t>
            </a:r>
            <a:r>
              <a:rPr lang="en-US" dirty="0"/>
              <a:t>: </a:t>
            </a:r>
            <a:r>
              <a:rPr lang="vi-VN" sz="1200" b="0" i="0" kern="1200" dirty="0">
                <a:solidFill>
                  <a:schemeClr val="tx1"/>
                </a:solidFill>
                <a:effectLst/>
                <a:latin typeface="+mn-lt"/>
                <a:ea typeface="+mn-ea"/>
                <a:cs typeface="+mn-cs"/>
              </a:rPr>
              <a:t>ASIC là viết tắt của </a:t>
            </a:r>
            <a:r>
              <a:rPr lang="en-US" sz="1200" b="0" i="0" kern="1200" dirty="0">
                <a:solidFill>
                  <a:schemeClr val="tx1"/>
                </a:solidFill>
                <a:effectLst/>
                <a:latin typeface="+mn-lt"/>
                <a:ea typeface="+mn-ea"/>
                <a:cs typeface="+mn-cs"/>
              </a:rPr>
              <a:t>‘application-specific integrated circuits’ (</a:t>
            </a:r>
            <a:r>
              <a:rPr lang="vi-VN" sz="1200" b="0" i="0" kern="1200" dirty="0">
                <a:solidFill>
                  <a:schemeClr val="tx1"/>
                </a:solidFill>
                <a:effectLst/>
                <a:latin typeface="+mn-lt"/>
                <a:ea typeface="+mn-ea"/>
                <a:cs typeface="+mn-cs"/>
              </a:rPr>
              <a:t>mạch tích hợp dành riêng cho ứng dụng</a:t>
            </a:r>
            <a:r>
              <a:rPr lang="en-US" sz="1200" b="0" i="0" kern="1200" dirty="0">
                <a:solidFill>
                  <a:schemeClr val="tx1"/>
                </a:solidFill>
                <a:effectLst/>
                <a:latin typeface="+mn-lt"/>
                <a:ea typeface="+mn-ea"/>
                <a:cs typeface="+mn-cs"/>
              </a:rPr>
              <a:t>)</a:t>
            </a:r>
            <a:r>
              <a:rPr lang="vi-VN" sz="1200" b="0" i="0" kern="1200" dirty="0">
                <a:solidFill>
                  <a:schemeClr val="tx1"/>
                </a:solidFill>
                <a:effectLst/>
                <a:latin typeface="+mn-lt"/>
                <a:ea typeface="+mn-ea"/>
                <a:cs typeface="+mn-cs"/>
              </a:rPr>
              <a:t>. Nó được thực hiện cho các chức năng hoặc ứng dụng đặc biệt. </a:t>
            </a: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15</a:t>
            </a:fld>
            <a:endParaRPr lang="en-US"/>
          </a:p>
        </p:txBody>
      </p:sp>
    </p:spTree>
    <p:extLst>
      <p:ext uri="{BB962C8B-B14F-4D97-AF65-F5344CB8AC3E}">
        <p14:creationId xmlns:p14="http://schemas.microsoft.com/office/powerpoint/2010/main" val="3870263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Nguồn gốc của cả bộ vi xử lý và vi điều khiển có thể bắt nguồn từ việc phát minh ra MOSFET, còn được gọi là bóng bán dẫn MOS. Nó được phát minh bởi Mohamed M. Atalla và Dawon Kahng tại Bell Labs vào năm 1959</a:t>
            </a:r>
            <a:r>
              <a:rPr lang="en-US" sz="1200" b="0" i="0" kern="1200" dirty="0">
                <a:solidFill>
                  <a:schemeClr val="tx1"/>
                </a:solidFill>
                <a:effectLst/>
                <a:latin typeface="+mn-lt"/>
                <a:ea typeface="+mn-ea"/>
                <a:cs typeface="+mn-cs"/>
              </a:rPr>
              <a:t>.</a:t>
            </a:r>
          </a:p>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Năm</a:t>
            </a:r>
            <a:r>
              <a:rPr lang="en-US" sz="1200" b="0" i="0" kern="1200" dirty="0">
                <a:solidFill>
                  <a:schemeClr val="tx1"/>
                </a:solidFill>
                <a:effectLst/>
                <a:latin typeface="+mn-lt"/>
                <a:ea typeface="+mn-ea"/>
                <a:cs typeface="+mn-cs"/>
              </a:rPr>
              <a:t> 1971, INTEL </a:t>
            </a:r>
          </a:p>
          <a:p>
            <a:pPr marL="0" marR="0" lvl="0" indent="0" algn="just" defTabSz="4572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Từ năm 1973 đến năm 1978, các bộ vi xử lý 8-bit thế hệ thứ hai đã được chế tạo như Motorola 6800 và 6801, INTEL-8085 và Zilog's-Z80.</a:t>
            </a:r>
            <a:endParaRPr lang="en-US" sz="1200" b="0" i="0" kern="1200" dirty="0">
              <a:solidFill>
                <a:schemeClr val="tx1"/>
              </a:solidFill>
              <a:effectLst/>
              <a:latin typeface="+mn-l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Năm 1978, quy trình Intel 8008 thế hệ thứ ba được tung ra thị trường.</a:t>
            </a:r>
            <a:endParaRPr lang="en-US" sz="1200" b="0" i="0" kern="1200" dirty="0">
              <a:solidFill>
                <a:schemeClr val="tx1"/>
              </a:solidFill>
              <a:effectLst/>
              <a:latin typeface="+mn-l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Vào đầu những năm 80, Intel đã phát hành bộ vi xử lý 32-bit thế hệ thứ tư.</a:t>
            </a:r>
            <a:endParaRPr lang="en-US" sz="1200" b="0" i="0" kern="1200" dirty="0">
              <a:solidFill>
                <a:schemeClr val="tx1"/>
              </a:solidFill>
              <a:effectLst/>
              <a:latin typeface="+mn-l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Năm 1995, intel phát hành bộ vi xử lý 64-bit thế hệ thứ năm. </a:t>
            </a:r>
            <a:r>
              <a:rPr lang="en-US" sz="1200" b="0" i="0" kern="1200" dirty="0" err="1">
                <a:solidFill>
                  <a:schemeClr val="tx1"/>
                </a:solidFill>
                <a:effectLst/>
                <a:latin typeface="+mn-lt"/>
                <a:ea typeface="+mn-ea"/>
                <a:cs typeface="+mn-cs"/>
              </a:rPr>
              <a:t>đã</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tạo</a:t>
            </a:r>
            <a:r>
              <a:rPr lang="en-US" sz="1200" b="0" i="0" kern="1200" dirty="0">
                <a:solidFill>
                  <a:schemeClr val="tx1"/>
                </a:solidFill>
                <a:effectLst/>
                <a:latin typeface="+mn-lt"/>
                <a:ea typeface="+mn-ea"/>
                <a:cs typeface="+mn-cs"/>
              </a:rPr>
              <a:t> ra </a:t>
            </a:r>
            <a:r>
              <a:rPr lang="en-US" sz="1200" b="0" i="0" kern="1200" dirty="0" err="1">
                <a:solidFill>
                  <a:schemeClr val="tx1"/>
                </a:solidFill>
                <a:effectLst/>
                <a:latin typeface="+mn-lt"/>
                <a:ea typeface="+mn-ea"/>
                <a:cs typeface="+mn-cs"/>
              </a:rPr>
              <a:t>thế</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hệ</a:t>
            </a:r>
            <a:r>
              <a:rPr lang="en-US" sz="1200" b="0" i="0" kern="1200" dirty="0">
                <a:solidFill>
                  <a:schemeClr val="tx1"/>
                </a:solidFill>
                <a:effectLst/>
                <a:latin typeface="+mn-lt"/>
                <a:ea typeface="+mn-ea"/>
                <a:cs typeface="+mn-cs"/>
              </a:rPr>
              <a:t> vi </a:t>
            </a:r>
            <a:r>
              <a:rPr lang="en-US" sz="1200" b="0" i="0" kern="1200" dirty="0" err="1">
                <a:solidFill>
                  <a:schemeClr val="tx1"/>
                </a:solidFill>
                <a:effectLst/>
                <a:latin typeface="+mn-lt"/>
                <a:ea typeface="+mn-ea"/>
                <a:cs typeface="+mn-cs"/>
              </a:rPr>
              <a:t>xử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lý</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đầu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tiên</a:t>
            </a:r>
            <a:r>
              <a:rPr lang="en-US" sz="1200" b="0" i="0" kern="1200" dirty="0">
                <a:solidFill>
                  <a:schemeClr val="tx1"/>
                </a:solidFill>
                <a:effectLst/>
                <a:latin typeface="+mn-lt"/>
                <a:ea typeface="+mn-ea"/>
                <a:cs typeface="+mn-cs"/>
              </a:rPr>
              <a:t> 4004 </a:t>
            </a:r>
            <a:r>
              <a:rPr lang="en-US" sz="1200" b="0" i="0" kern="1200" dirty="0" err="1">
                <a:solidFill>
                  <a:schemeClr val="tx1"/>
                </a:solidFill>
                <a:effectLst/>
                <a:latin typeface="+mn-lt"/>
                <a:ea typeface="+mn-ea"/>
                <a:cs typeface="+mn-cs"/>
              </a:rPr>
              <a:t>chạy</a:t>
            </a:r>
            <a:r>
              <a:rPr lang="en-US" sz="1200" b="0" i="0" kern="1200" dirty="0">
                <a:solidFill>
                  <a:schemeClr val="tx1"/>
                </a:solidFill>
                <a:effectLst/>
                <a:latin typeface="+mn-lt"/>
                <a:ea typeface="+mn-ea"/>
                <a:cs typeface="+mn-cs"/>
              </a:rPr>
              <a:t> ở </a:t>
            </a:r>
            <a:r>
              <a:rPr lang="en-US" sz="1200" b="0" i="0" kern="1200" dirty="0" err="1">
                <a:solidFill>
                  <a:schemeClr val="tx1"/>
                </a:solidFill>
                <a:effectLst/>
                <a:latin typeface="+mn-lt"/>
                <a:ea typeface="+mn-ea"/>
                <a:cs typeface="+mn-cs"/>
              </a:rPr>
              <a:t>tốc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độ</a:t>
            </a:r>
            <a:r>
              <a:rPr lang="en-US" sz="1200" b="0" i="0" kern="1200" dirty="0">
                <a:solidFill>
                  <a:schemeClr val="tx1"/>
                </a:solidFill>
                <a:effectLst/>
                <a:latin typeface="+mn-lt"/>
                <a:ea typeface="+mn-ea"/>
                <a:cs typeface="+mn-cs"/>
              </a:rPr>
              <a:t> 108 kHz</a:t>
            </a: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16</a:t>
            </a:fld>
            <a:endParaRPr lang="en-US"/>
          </a:p>
        </p:txBody>
      </p:sp>
    </p:spTree>
    <p:extLst>
      <p:ext uri="{BB962C8B-B14F-4D97-AF65-F5344CB8AC3E}">
        <p14:creationId xmlns:p14="http://schemas.microsoft.com/office/powerpoint/2010/main" val="2924083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17</a:t>
            </a:fld>
            <a:endParaRPr lang="en-US"/>
          </a:p>
        </p:txBody>
      </p:sp>
    </p:spTree>
    <p:extLst>
      <p:ext uri="{BB962C8B-B14F-4D97-AF65-F5344CB8AC3E}">
        <p14:creationId xmlns:p14="http://schemas.microsoft.com/office/powerpoint/2010/main" val="743039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18</a:t>
            </a:fld>
            <a:endParaRPr lang="en-US"/>
          </a:p>
        </p:txBody>
      </p:sp>
    </p:spTree>
    <p:extLst>
      <p:ext uri="{BB962C8B-B14F-4D97-AF65-F5344CB8AC3E}">
        <p14:creationId xmlns:p14="http://schemas.microsoft.com/office/powerpoint/2010/main" val="3173018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t>	</a:t>
            </a:r>
          </a:p>
        </p:txBody>
      </p:sp>
      <p:sp>
        <p:nvSpPr>
          <p:cNvPr id="4" name="Slide Number Placeholder 3"/>
          <p:cNvSpPr>
            <a:spLocks noGrp="1"/>
          </p:cNvSpPr>
          <p:nvPr>
            <p:ph type="sldNum" sz="quarter" idx="5"/>
          </p:nvPr>
        </p:nvSpPr>
        <p:spPr/>
        <p:txBody>
          <a:bodyPr/>
          <a:lstStyle/>
          <a:p>
            <a:fld id="{2B3067B3-3AE6-DD4A-9E3D-C999AB3971A1}" type="slidenum">
              <a:rPr lang="en-US" smtClean="0"/>
              <a:t>19</a:t>
            </a:fld>
            <a:endParaRPr lang="en-US"/>
          </a:p>
        </p:txBody>
      </p:sp>
    </p:spTree>
    <p:extLst>
      <p:ext uri="{BB962C8B-B14F-4D97-AF65-F5344CB8AC3E}">
        <p14:creationId xmlns:p14="http://schemas.microsoft.com/office/powerpoint/2010/main" val="2489929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20</a:t>
            </a:fld>
            <a:endParaRPr lang="en-US"/>
          </a:p>
        </p:txBody>
      </p:sp>
    </p:spTree>
    <p:extLst>
      <p:ext uri="{BB962C8B-B14F-4D97-AF65-F5344CB8AC3E}">
        <p14:creationId xmlns:p14="http://schemas.microsoft.com/office/powerpoint/2010/main" val="8928862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t>	</a:t>
            </a:r>
          </a:p>
        </p:txBody>
      </p:sp>
      <p:sp>
        <p:nvSpPr>
          <p:cNvPr id="4" name="Slide Number Placeholder 3"/>
          <p:cNvSpPr>
            <a:spLocks noGrp="1"/>
          </p:cNvSpPr>
          <p:nvPr>
            <p:ph type="sldNum" sz="quarter" idx="5"/>
          </p:nvPr>
        </p:nvSpPr>
        <p:spPr/>
        <p:txBody>
          <a:bodyPr/>
          <a:lstStyle/>
          <a:p>
            <a:fld id="{2B3067B3-3AE6-DD4A-9E3D-C999AB3971A1}" type="slidenum">
              <a:rPr lang="en-US" smtClean="0"/>
              <a:t>21</a:t>
            </a:fld>
            <a:endParaRPr lang="en-US"/>
          </a:p>
        </p:txBody>
      </p:sp>
    </p:spTree>
    <p:extLst>
      <p:ext uri="{BB962C8B-B14F-4D97-AF65-F5344CB8AC3E}">
        <p14:creationId xmlns:p14="http://schemas.microsoft.com/office/powerpoint/2010/main" val="3654198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t>	</a:t>
            </a:r>
          </a:p>
        </p:txBody>
      </p:sp>
      <p:sp>
        <p:nvSpPr>
          <p:cNvPr id="4" name="Slide Number Placeholder 3"/>
          <p:cNvSpPr>
            <a:spLocks noGrp="1"/>
          </p:cNvSpPr>
          <p:nvPr>
            <p:ph type="sldNum" sz="quarter" idx="5"/>
          </p:nvPr>
        </p:nvSpPr>
        <p:spPr/>
        <p:txBody>
          <a:bodyPr/>
          <a:lstStyle/>
          <a:p>
            <a:fld id="{2B3067B3-3AE6-DD4A-9E3D-C999AB3971A1}" type="slidenum">
              <a:rPr lang="en-US" smtClean="0"/>
              <a:t>22</a:t>
            </a:fld>
            <a:endParaRPr lang="en-US"/>
          </a:p>
        </p:txBody>
      </p:sp>
    </p:spTree>
    <p:extLst>
      <p:ext uri="{BB962C8B-B14F-4D97-AF65-F5344CB8AC3E}">
        <p14:creationId xmlns:p14="http://schemas.microsoft.com/office/powerpoint/2010/main" val="1490340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t>	</a:t>
            </a:r>
          </a:p>
        </p:txBody>
      </p:sp>
      <p:sp>
        <p:nvSpPr>
          <p:cNvPr id="4" name="Slide Number Placeholder 3"/>
          <p:cNvSpPr>
            <a:spLocks noGrp="1"/>
          </p:cNvSpPr>
          <p:nvPr>
            <p:ph type="sldNum" sz="quarter" idx="5"/>
          </p:nvPr>
        </p:nvSpPr>
        <p:spPr/>
        <p:txBody>
          <a:bodyPr/>
          <a:lstStyle/>
          <a:p>
            <a:fld id="{2B3067B3-3AE6-DD4A-9E3D-C999AB3971A1}" type="slidenum">
              <a:rPr lang="en-US" smtClean="0"/>
              <a:t>23</a:t>
            </a:fld>
            <a:endParaRPr lang="en-US"/>
          </a:p>
        </p:txBody>
      </p:sp>
    </p:spTree>
    <p:extLst>
      <p:ext uri="{BB962C8B-B14F-4D97-AF65-F5344CB8AC3E}">
        <p14:creationId xmlns:p14="http://schemas.microsoft.com/office/powerpoint/2010/main" val="9398053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Phân</a:t>
            </a:r>
            <a:r>
              <a:rPr lang="en-US" baseline="0" dirty="0"/>
              <a:t> </a:t>
            </a:r>
            <a:r>
              <a:rPr lang="en-US" baseline="0" dirty="0" err="1"/>
              <a:t>biệt</a:t>
            </a:r>
            <a:r>
              <a:rPr lang="en-US" baseline="0" dirty="0"/>
              <a:t> </a:t>
            </a:r>
            <a:r>
              <a:rPr lang="en-US" baseline="0" dirty="0" err="1"/>
              <a:t>kiến</a:t>
            </a:r>
            <a:r>
              <a:rPr lang="en-US" baseline="0" dirty="0"/>
              <a:t> </a:t>
            </a:r>
            <a:r>
              <a:rPr lang="en-US" baseline="0" dirty="0" err="1"/>
              <a:t>trúc</a:t>
            </a:r>
            <a:r>
              <a:rPr lang="en-US" baseline="0" dirty="0"/>
              <a:t> Harvard &amp; </a:t>
            </a:r>
            <a:r>
              <a:rPr lang="en-US" baseline="0" dirty="0" err="1"/>
              <a:t>kiến</a:t>
            </a:r>
            <a:r>
              <a:rPr lang="en-US" baseline="0" dirty="0"/>
              <a:t> </a:t>
            </a:r>
            <a:r>
              <a:rPr lang="en-US" baseline="0" dirty="0" err="1"/>
              <a:t>trúc</a:t>
            </a:r>
            <a:r>
              <a:rPr lang="en-US" baseline="0" dirty="0"/>
              <a:t> Von Neuman.</a:t>
            </a:r>
          </a:p>
          <a:p>
            <a:pPr marL="0" indent="0">
              <a:buFontTx/>
              <a:buNone/>
            </a:pPr>
            <a:r>
              <a:rPr lang="en-US" baseline="0" dirty="0"/>
              <a:t>    The Harvard architecture is a computer architecture with physically separate storage and signal pathways for instructions and data.</a:t>
            </a:r>
          </a:p>
          <a:p>
            <a:pPr marL="0" indent="0">
              <a:buFontTx/>
              <a:buNone/>
            </a:pPr>
            <a:endParaRPr lang="en-US" baseline="0" dirty="0"/>
          </a:p>
          <a:p>
            <a:pPr marL="0" indent="0">
              <a:buFontTx/>
              <a:buNone/>
            </a:pPr>
            <a:r>
              <a:rPr lang="en-US" baseline="0" dirty="0"/>
              <a:t>     The term Von Neumann architecture, also known as the Von Neumann model or the Princeton architecture, is a design architecture for an electronic digital computer with subdivisions of a processing unit consisting of an arithmetic logic unit and processor registers, a control unit containing an instruction register and program counter, a memory to store both data and instructions, external mass storage, and input and output mechanisms</a:t>
            </a:r>
          </a:p>
          <a:p>
            <a:pPr marL="0" indent="0">
              <a:buFontTx/>
              <a:buNone/>
            </a:pPr>
            <a:endParaRPr lang="en-US" baseline="0" dirty="0"/>
          </a:p>
          <a:p>
            <a:pPr marL="0" indent="0">
              <a:buFontTx/>
              <a:buNone/>
            </a:pPr>
            <a:r>
              <a:rPr lang="en-US" baseline="0" dirty="0"/>
              <a:t>- Topic </a:t>
            </a:r>
            <a:r>
              <a:rPr lang="en-US" baseline="0" dirty="0" err="1"/>
              <a:t>thảo</a:t>
            </a:r>
            <a:r>
              <a:rPr lang="en-US" baseline="0" dirty="0"/>
              <a:t> </a:t>
            </a:r>
            <a:r>
              <a:rPr lang="en-US" baseline="0" dirty="0" err="1"/>
              <a:t>luận</a:t>
            </a:r>
            <a:r>
              <a:rPr lang="en-US" baseline="0" dirty="0"/>
              <a:t>: Advantage/Disadvantage </a:t>
            </a:r>
            <a:r>
              <a:rPr lang="en-US" baseline="0" dirty="0" err="1"/>
              <a:t>của</a:t>
            </a:r>
            <a:r>
              <a:rPr lang="en-US" baseline="0" dirty="0"/>
              <a:t> </a:t>
            </a:r>
            <a:r>
              <a:rPr lang="en-US" baseline="0" dirty="0" err="1"/>
              <a:t>từng</a:t>
            </a:r>
            <a:r>
              <a:rPr lang="en-US" baseline="0" dirty="0"/>
              <a:t> </a:t>
            </a:r>
            <a:r>
              <a:rPr lang="en-US" baseline="0" dirty="0" err="1"/>
              <a:t>thiết</a:t>
            </a:r>
            <a:r>
              <a:rPr lang="en-US" baseline="0" dirty="0"/>
              <a:t> </a:t>
            </a:r>
            <a:r>
              <a:rPr lang="en-US" baseline="0" dirty="0" err="1"/>
              <a:t>kế</a:t>
            </a:r>
            <a:r>
              <a:rPr lang="en-US" baseline="0" dirty="0"/>
              <a:t> ?</a:t>
            </a: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25</a:t>
            </a:fld>
            <a:endParaRPr lang="en-US"/>
          </a:p>
        </p:txBody>
      </p:sp>
    </p:spTree>
    <p:extLst>
      <p:ext uri="{BB962C8B-B14F-4D97-AF65-F5344CB8AC3E}">
        <p14:creationId xmlns:p14="http://schemas.microsoft.com/office/powerpoint/2010/main" val="28315930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846583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vi-VN" sz="1200" b="0" i="0" kern="1200" dirty="0">
                <a:solidFill>
                  <a:schemeClr val="tx1"/>
                </a:solidFill>
                <a:effectLst/>
                <a:latin typeface="+mn-lt"/>
                <a:ea typeface="+mn-ea"/>
                <a:cs typeface="+mn-cs"/>
              </a:rPr>
              <a:t>Trong khoa học máy tính, kiến ​​trúc tập lệnh (ISA) là một mô hình trừu tượng của máy tính.</a:t>
            </a:r>
            <a:endParaRPr lang="en-US" sz="1200" b="0" i="0" kern="1200" dirty="0">
              <a:solidFill>
                <a:schemeClr val="tx1"/>
              </a:solidFill>
              <a:effectLst/>
              <a:latin typeface="+mn-l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Nó</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là một phần của bộ xử lý hiển thị cho người lập trình hoặc người viết trình biên dịch. ISA đóng vai trò là ranh giới giữa phần mềm và phần cứng.</a:t>
            </a:r>
            <a:endParaRPr lang="en-US" dirty="0"/>
          </a:p>
        </p:txBody>
      </p:sp>
      <p:sp>
        <p:nvSpPr>
          <p:cNvPr id="4" name="Slide Number Placeholder 3"/>
          <p:cNvSpPr>
            <a:spLocks noGrp="1"/>
          </p:cNvSpPr>
          <p:nvPr>
            <p:ph type="sldNum" sz="quarter" idx="5"/>
          </p:nvPr>
        </p:nvSpPr>
        <p:spPr/>
        <p:txBody>
          <a:bodyPr/>
          <a:lstStyle/>
          <a:p>
            <a:fld id="{2B3067B3-3AE6-DD4A-9E3D-C999AB3971A1}" type="slidenum">
              <a:rPr lang="en-US" smtClean="0"/>
              <a:t>28</a:t>
            </a:fld>
            <a:endParaRPr lang="en-US"/>
          </a:p>
        </p:txBody>
      </p:sp>
    </p:spTree>
    <p:extLst>
      <p:ext uri="{BB962C8B-B14F-4D97-AF65-F5344CB8AC3E}">
        <p14:creationId xmlns:p14="http://schemas.microsoft.com/office/powerpoint/2010/main" val="32726744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aseline="0" dirty="0"/>
              <a:t>Khi </a:t>
            </a:r>
            <a:r>
              <a:rPr lang="en-US" baseline="0" dirty="0" err="1"/>
              <a:t>thiết</a:t>
            </a:r>
            <a:r>
              <a:rPr lang="en-US" baseline="0" dirty="0"/>
              <a:t> </a:t>
            </a:r>
            <a:r>
              <a:rPr lang="en-US" baseline="0" dirty="0" err="1"/>
              <a:t>kế</a:t>
            </a:r>
            <a:r>
              <a:rPr lang="en-US" baseline="0" dirty="0"/>
              <a:t> </a:t>
            </a:r>
            <a:r>
              <a:rPr lang="en-US" baseline="0" dirty="0" err="1"/>
              <a:t>tập</a:t>
            </a:r>
            <a:r>
              <a:rPr lang="en-US" baseline="0" dirty="0"/>
              <a:t> </a:t>
            </a:r>
            <a:r>
              <a:rPr lang="en-US" baseline="0" dirty="0" err="1"/>
              <a:t>lệnh</a:t>
            </a:r>
            <a:r>
              <a:rPr lang="en-US" baseline="0" dirty="0"/>
              <a:t> </a:t>
            </a:r>
            <a:r>
              <a:rPr lang="en-US" baseline="0" dirty="0" err="1"/>
              <a:t>thì</a:t>
            </a:r>
            <a:r>
              <a:rPr lang="en-US" baseline="0" dirty="0"/>
              <a:t> </a:t>
            </a:r>
            <a:r>
              <a:rPr lang="en-US" baseline="0" dirty="0" err="1"/>
              <a:t>cần</a:t>
            </a:r>
            <a:r>
              <a:rPr lang="en-US" baseline="0" dirty="0"/>
              <a:t> </a:t>
            </a:r>
            <a:r>
              <a:rPr lang="en-US" baseline="0" dirty="0" err="1"/>
              <a:t>chú</a:t>
            </a:r>
            <a:r>
              <a:rPr lang="en-US" baseline="0" dirty="0"/>
              <a:t> ý </a:t>
            </a:r>
            <a:r>
              <a:rPr lang="en-US" baseline="0" dirty="0" err="1"/>
              <a:t>tới</a:t>
            </a:r>
            <a:r>
              <a:rPr lang="en-US" baseline="0" dirty="0"/>
              <a:t> </a:t>
            </a:r>
            <a:r>
              <a:rPr lang="en-US" baseline="0" dirty="0" err="1"/>
              <a:t>vấn</a:t>
            </a:r>
            <a:r>
              <a:rPr lang="en-US" baseline="0" dirty="0"/>
              <a:t> </a:t>
            </a:r>
            <a:r>
              <a:rPr lang="en-US" baseline="0" dirty="0" err="1"/>
              <a:t>đề</a:t>
            </a:r>
            <a:r>
              <a:rPr lang="en-US" baseline="0" dirty="0"/>
              <a:t>:</a:t>
            </a:r>
          </a:p>
          <a:p>
            <a:pPr marL="0" indent="0">
              <a:buFontTx/>
              <a:buNone/>
            </a:pPr>
            <a:r>
              <a:rPr lang="en-US" baseline="0" dirty="0"/>
              <a:t>   1- </a:t>
            </a:r>
            <a:r>
              <a:rPr lang="en-US" baseline="0" dirty="0" err="1"/>
              <a:t>Toán</a:t>
            </a:r>
            <a:r>
              <a:rPr lang="en-US" baseline="0" dirty="0"/>
              <a:t> </a:t>
            </a:r>
            <a:r>
              <a:rPr lang="en-US" baseline="0" dirty="0" err="1"/>
              <a:t>tử</a:t>
            </a:r>
            <a:r>
              <a:rPr lang="en-US" baseline="0" dirty="0"/>
              <a:t>.</a:t>
            </a:r>
          </a:p>
          <a:p>
            <a:pPr marL="0" indent="0">
              <a:buFontTx/>
              <a:buNone/>
            </a:pPr>
            <a:r>
              <a:rPr lang="en-US" sz="3400" baseline="0" dirty="0"/>
              <a:t>	</a:t>
            </a:r>
            <a:r>
              <a:rPr lang="en-US" sz="3400" dirty="0"/>
              <a:t>How many</a:t>
            </a:r>
          </a:p>
          <a:p>
            <a:pPr marL="0" indent="0">
              <a:buFontTx/>
              <a:buNone/>
            </a:pPr>
            <a:r>
              <a:rPr lang="en-US" sz="3400" dirty="0"/>
              <a:t>	Which ones</a:t>
            </a:r>
            <a:endParaRPr lang="en-US" baseline="0" dirty="0"/>
          </a:p>
          <a:p>
            <a:pPr marL="0" indent="0">
              <a:buFontTx/>
              <a:buNone/>
            </a:pPr>
            <a:r>
              <a:rPr lang="en-US" baseline="0" dirty="0"/>
              <a:t>   2-  </a:t>
            </a:r>
            <a:r>
              <a:rPr lang="en-US" baseline="0" dirty="0" err="1"/>
              <a:t>Toán</a:t>
            </a:r>
            <a:r>
              <a:rPr lang="en-US" baseline="0" dirty="0"/>
              <a:t> </a:t>
            </a:r>
            <a:r>
              <a:rPr lang="en-US" baseline="0" dirty="0" err="1"/>
              <a:t>hạng</a:t>
            </a:r>
            <a:endParaRPr lang="en-US" sz="4000" b="1" dirty="0"/>
          </a:p>
          <a:p>
            <a:pPr lvl="1"/>
            <a:r>
              <a:rPr lang="en-US" sz="3400" dirty="0"/>
              <a:t>How many</a:t>
            </a:r>
          </a:p>
          <a:p>
            <a:pPr lvl="1"/>
            <a:r>
              <a:rPr lang="en-US" sz="3400" dirty="0"/>
              <a:t>Location</a:t>
            </a:r>
          </a:p>
          <a:p>
            <a:pPr lvl="1"/>
            <a:r>
              <a:rPr lang="en-US" sz="3400" dirty="0"/>
              <a:t>Types</a:t>
            </a:r>
          </a:p>
          <a:p>
            <a:pPr lvl="1"/>
            <a:r>
              <a:rPr lang="en-US" sz="3400" dirty="0"/>
              <a:t>How to specify</a:t>
            </a:r>
            <a:endParaRPr lang="en-US" baseline="0" dirty="0"/>
          </a:p>
          <a:p>
            <a:pPr marL="0" indent="0">
              <a:buFontTx/>
              <a:buNone/>
            </a:pPr>
            <a:r>
              <a:rPr lang="en-US" baseline="0" dirty="0"/>
              <a:t>   3- </a:t>
            </a:r>
            <a:r>
              <a:rPr lang="en-US" baseline="0" dirty="0" err="1"/>
              <a:t>Định</a:t>
            </a:r>
            <a:r>
              <a:rPr lang="en-US" baseline="0" dirty="0"/>
              <a:t> </a:t>
            </a:r>
            <a:r>
              <a:rPr lang="en-US" baseline="0" dirty="0" err="1"/>
              <a:t>dạng</a:t>
            </a:r>
            <a:r>
              <a:rPr lang="en-US" baseline="0" dirty="0"/>
              <a:t> </a:t>
            </a:r>
            <a:r>
              <a:rPr lang="en-US" baseline="0" dirty="0" err="1"/>
              <a:t>của</a:t>
            </a:r>
            <a:r>
              <a:rPr lang="en-US" baseline="0" dirty="0"/>
              <a:t> </a:t>
            </a:r>
            <a:r>
              <a:rPr lang="en-US" baseline="0" dirty="0" err="1"/>
              <a:t>tập</a:t>
            </a:r>
            <a:r>
              <a:rPr lang="en-US" baseline="0" dirty="0"/>
              <a:t> </a:t>
            </a:r>
            <a:r>
              <a:rPr lang="en-US" baseline="0" dirty="0" err="1"/>
              <a:t>lệnh</a:t>
            </a:r>
            <a:endParaRPr lang="en-US" sz="4000" b="1" dirty="0"/>
          </a:p>
          <a:p>
            <a:pPr lvl="1"/>
            <a:r>
              <a:rPr lang="en-US" sz="3400" dirty="0"/>
              <a:t>Size</a:t>
            </a:r>
          </a:p>
          <a:p>
            <a:pPr lvl="1"/>
            <a:r>
              <a:rPr lang="en-US" sz="3400" dirty="0"/>
              <a:t>How many formats</a:t>
            </a:r>
          </a:p>
          <a:p>
            <a:pPr marL="0" indent="0">
              <a:buFontTx/>
              <a:buNone/>
            </a:pPr>
            <a:endParaRPr lang="en-US" baseline="0" dirty="0"/>
          </a:p>
          <a:p>
            <a:pPr marL="0" indent="0">
              <a:buFontTx/>
              <a:buNone/>
            </a:pPr>
            <a:r>
              <a:rPr lang="en-US" sz="1200" b="1" i="0" kern="1200" dirty="0">
                <a:solidFill>
                  <a:schemeClr val="tx1"/>
                </a:solidFill>
                <a:effectLst/>
                <a:latin typeface="+mn-lt"/>
                <a:ea typeface="+mn-ea"/>
                <a:cs typeface="+mn-cs"/>
              </a:rPr>
              <a:t>Stack</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Ưu điểm: Mô hình đánh giá biểu thức đơn giản. Nhược điểm: Không thể truy cập ngẫu nhiên một ngăn xếp. Bản thân ngăn xếp </a:t>
            </a:r>
            <a:r>
              <a:rPr lang="en-US" sz="1200" b="0" i="0" kern="1200" dirty="0" err="1">
                <a:solidFill>
                  <a:schemeClr val="tx1"/>
                </a:solidFill>
                <a:effectLst/>
                <a:latin typeface="+mn-lt"/>
                <a:ea typeface="+mn-ea"/>
                <a:cs typeface="+mn-cs"/>
              </a:rPr>
              <a:t>dùng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để</a:t>
            </a:r>
            <a:r>
              <a:rPr lang="vi-VN" sz="1200" b="0" i="0" kern="1200" dirty="0">
                <a:solidFill>
                  <a:schemeClr val="tx1"/>
                </a:solidFill>
                <a:effectLst/>
                <a:latin typeface="+mn-lt"/>
                <a:ea typeface="+mn-ea"/>
                <a:cs typeface="+mn-cs"/>
              </a:rPr>
              <a:t> truy cập mọi hoạt động và trở thành một nút cổ chai.</a:t>
            </a:r>
            <a:endParaRPr lang="en-US" sz="1200" b="0" i="0" kern="1200" dirty="0">
              <a:solidFill>
                <a:schemeClr val="tx1"/>
              </a:solidFill>
              <a:effectLst/>
              <a:latin typeface="+mn-lt"/>
              <a:ea typeface="+mn-ea"/>
              <a:cs typeface="+mn-cs"/>
            </a:endParaRPr>
          </a:p>
          <a:p>
            <a:pPr marL="0" indent="0">
              <a:buFontTx/>
              <a:buNone/>
            </a:pPr>
            <a:r>
              <a:rPr lang="en-US" b="1" dirty="0"/>
              <a:t>Accumulator: </a:t>
            </a:r>
            <a:r>
              <a:rPr lang="vi-VN" sz="1200" b="0" i="0" kern="1200" dirty="0">
                <a:solidFill>
                  <a:schemeClr val="tx1"/>
                </a:solidFill>
                <a:effectLst/>
                <a:latin typeface="+mn-lt"/>
                <a:ea typeface="+mn-ea"/>
                <a:cs typeface="+mn-cs"/>
              </a:rPr>
              <a:t>Ưu điểm: </a:t>
            </a:r>
            <a:r>
              <a:rPr lang="en-US" sz="1200" b="0" i="0" kern="1200" dirty="0">
                <a:solidFill>
                  <a:schemeClr val="tx1"/>
                </a:solidFill>
                <a:effectLst/>
                <a:latin typeface="+mn-lt"/>
                <a:ea typeface="+mn-ea"/>
                <a:cs typeface="+mn-cs"/>
              </a:rPr>
              <a:t>N</a:t>
            </a:r>
            <a:r>
              <a:rPr lang="vi-VN" sz="1200" b="0" i="0" kern="1200" dirty="0">
                <a:solidFill>
                  <a:schemeClr val="tx1"/>
                </a:solidFill>
                <a:effectLst/>
                <a:latin typeface="+mn-lt"/>
                <a:ea typeface="+mn-ea"/>
                <a:cs typeface="+mn-cs"/>
              </a:rPr>
              <a:t>gắn gọn. Nhược điểm: Bộ tích lũy chỉ lưu trữ tạm thời nên lưu lượng bộ nhớ là cao nhất đối với cách tiếp cận này. </a:t>
            </a:r>
            <a:endParaRPr lang="en-US" sz="1200" b="0" i="0" kern="1200" dirty="0">
              <a:solidFill>
                <a:schemeClr val="tx1"/>
              </a:solidFill>
              <a:effectLst/>
              <a:latin typeface="+mn-lt"/>
              <a:ea typeface="+mn-ea"/>
              <a:cs typeface="+mn-cs"/>
            </a:endParaRPr>
          </a:p>
          <a:p>
            <a:pPr marL="0" indent="0">
              <a:buFontTx/>
              <a:buNone/>
            </a:pPr>
            <a:r>
              <a:rPr lang="vi-VN" sz="1200" b="1" i="0" kern="1200" dirty="0">
                <a:solidFill>
                  <a:schemeClr val="tx1"/>
                </a:solidFill>
                <a:effectLst/>
                <a:latin typeface="+mn-lt"/>
                <a:ea typeface="+mn-ea"/>
                <a:cs typeface="+mn-cs"/>
              </a:rPr>
              <a:t>GPR</a:t>
            </a:r>
            <a:r>
              <a:rPr lang="vi-VN" sz="1200" b="0" i="0" kern="1200" dirty="0">
                <a:solidFill>
                  <a:schemeClr val="tx1"/>
                </a:solidFill>
                <a:effectLst/>
                <a:latin typeface="+mn-lt"/>
                <a:ea typeface="+mn-ea"/>
                <a:cs typeface="+mn-cs"/>
              </a:rPr>
              <a:t> Ưu điểm: Tạo mã dễ dàng. Dữ liệu có thể được lưu trữ trong thời gian dài trong các thanh ghi. Nhược điểm: Tất cả các toán hạng phải được đặt tên dẫn đến các lệnh dài hơn.</a:t>
            </a:r>
            <a:endParaRPr lang="en-US" sz="1200" b="0" i="0" kern="1200" dirty="0">
              <a:solidFill>
                <a:schemeClr val="tx1"/>
              </a:solidFill>
              <a:effectLst/>
              <a:latin typeface="+mn-lt"/>
              <a:ea typeface="+mn-ea"/>
              <a:cs typeface="+mn-cs"/>
            </a:endParaRPr>
          </a:p>
          <a:p>
            <a:pPr marL="0" indent="0">
              <a:buFontTx/>
              <a:buNone/>
            </a:pPr>
            <a:endParaRPr lang="en-US" sz="1200" b="0" i="0" kern="1200" baseline="0" dirty="0">
              <a:solidFill>
                <a:schemeClr val="tx1"/>
              </a:solidFill>
              <a:effectLst/>
              <a:latin typeface="+mn-lt"/>
              <a:ea typeface="+mn-ea"/>
              <a:cs typeface="+mn-cs"/>
            </a:endParaRPr>
          </a:p>
          <a:p>
            <a:pPr marL="0" indent="0">
              <a:buFontTx/>
              <a:buNone/>
            </a:pPr>
            <a:r>
              <a:rPr lang="vi-VN" sz="1200" b="0" i="0" kern="1200" dirty="0">
                <a:solidFill>
                  <a:schemeClr val="tx1"/>
                </a:solidFill>
                <a:effectLst/>
                <a:latin typeface="+mn-lt"/>
                <a:ea typeface="+mn-ea"/>
                <a:cs typeface="+mn-cs"/>
              </a:rPr>
              <a:t>Các CPU trước đây thuộc 2 loại đầu tiên nhưng trong 15 năm qua, tất cả các CPU được sản xuất đều là bộ xử lý GPR. Hai lý do chính là thanh ghi nhanh hơn bộ nhớ, càng nhiều dữ liệu có thể được phân tích trong CPU thì chương trình chạy càng nhanh. Lý do khác là các thanh ghi dễ sử dụng hơn cho một trình biên dịch. </a:t>
            </a:r>
            <a:endParaRPr lang="en-US" sz="1200" b="0" i="0" kern="1200" baseline="0" dirty="0">
              <a:solidFill>
                <a:schemeClr val="tx1"/>
              </a:solidFill>
              <a:effectLst/>
              <a:latin typeface="+mn-lt"/>
              <a:ea typeface="+mn-ea"/>
              <a:cs typeface="+mn-cs"/>
            </a:endParaRPr>
          </a:p>
          <a:p>
            <a:pPr marL="0" indent="0">
              <a:buFontTx/>
              <a:buNone/>
            </a:pPr>
            <a:endParaRPr lang="en-US" baseline="0" dirty="0"/>
          </a:p>
        </p:txBody>
      </p:sp>
      <p:sp>
        <p:nvSpPr>
          <p:cNvPr id="4" name="Slide Number Placeholder 3"/>
          <p:cNvSpPr>
            <a:spLocks noGrp="1"/>
          </p:cNvSpPr>
          <p:nvPr>
            <p:ph type="sldNum" sz="quarter" idx="5"/>
          </p:nvPr>
        </p:nvSpPr>
        <p:spPr/>
        <p:txBody>
          <a:bodyPr/>
          <a:lstStyle/>
          <a:p>
            <a:fld id="{2B3067B3-3AE6-DD4A-9E3D-C999AB3971A1}" type="slidenum">
              <a:rPr lang="en-US" smtClean="0"/>
              <a:t>29</a:t>
            </a:fld>
            <a:endParaRPr lang="en-US"/>
          </a:p>
        </p:txBody>
      </p:sp>
    </p:spTree>
    <p:extLst>
      <p:ext uri="{BB962C8B-B14F-4D97-AF65-F5344CB8AC3E}">
        <p14:creationId xmlns:p14="http://schemas.microsoft.com/office/powerpoint/2010/main" val="14400988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B3067B3-3AE6-DD4A-9E3D-C999AB3971A1}" type="slidenum">
              <a:rPr lang="en-US" smtClean="0"/>
              <a:t>30</a:t>
            </a:fld>
            <a:endParaRPr lang="en-US"/>
          </a:p>
        </p:txBody>
      </p:sp>
    </p:spTree>
    <p:extLst>
      <p:ext uri="{BB962C8B-B14F-4D97-AF65-F5344CB8AC3E}">
        <p14:creationId xmlns:p14="http://schemas.microsoft.com/office/powerpoint/2010/main" val="852700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Tổng</a:t>
            </a:r>
            <a:r>
              <a:rPr lang="en-US" baseline="0" dirty="0"/>
              <a:t> </a:t>
            </a:r>
            <a:r>
              <a:rPr lang="en-US" baseline="0" dirty="0" err="1"/>
              <a:t>kết</a:t>
            </a:r>
            <a:r>
              <a:rPr lang="en-US" baseline="0" dirty="0"/>
              <a:t> </a:t>
            </a:r>
            <a:r>
              <a:rPr lang="en-US" baseline="0" dirty="0" err="1"/>
              <a:t>lại</a:t>
            </a:r>
            <a:r>
              <a:rPr lang="en-US" baseline="0" dirty="0"/>
              <a:t> </a:t>
            </a:r>
            <a:r>
              <a:rPr lang="en-US" baseline="0" dirty="0" err="1"/>
              <a:t>buổi</a:t>
            </a:r>
            <a:r>
              <a:rPr lang="en-US" baseline="0" dirty="0"/>
              <a:t> </a:t>
            </a:r>
            <a:r>
              <a:rPr lang="en-US" baseline="0" dirty="0" err="1"/>
              <a:t>học</a:t>
            </a:r>
            <a:r>
              <a:rPr lang="en-US" baseline="0" dirty="0"/>
              <a:t>:</a:t>
            </a:r>
          </a:p>
          <a:p>
            <a:pPr marL="171450" indent="-171450">
              <a:buFontTx/>
              <a:buChar char="-"/>
            </a:pPr>
            <a:r>
              <a:rPr lang="en-US" baseline="0" dirty="0" err="1"/>
              <a:t>Buổi</a:t>
            </a:r>
            <a:r>
              <a:rPr lang="en-US" baseline="0" dirty="0"/>
              <a:t> </a:t>
            </a:r>
            <a:r>
              <a:rPr lang="en-US" baseline="0" dirty="0" err="1"/>
              <a:t>học</a:t>
            </a:r>
            <a:r>
              <a:rPr lang="en-US" baseline="0" dirty="0"/>
              <a:t> </a:t>
            </a:r>
            <a:r>
              <a:rPr lang="en-US" baseline="0" dirty="0" err="1"/>
              <a:t>đã</a:t>
            </a:r>
            <a:r>
              <a:rPr lang="en-US" baseline="0" dirty="0"/>
              <a:t> </a:t>
            </a:r>
            <a:r>
              <a:rPr lang="en-US" baseline="0" dirty="0" err="1"/>
              <a:t>trình</a:t>
            </a:r>
            <a:r>
              <a:rPr lang="en-US" baseline="0" dirty="0"/>
              <a:t> </a:t>
            </a:r>
            <a:r>
              <a:rPr lang="en-US" baseline="0" dirty="0" err="1"/>
              <a:t>bày</a:t>
            </a:r>
            <a:r>
              <a:rPr lang="en-US" baseline="0" dirty="0"/>
              <a:t> </a:t>
            </a:r>
            <a:r>
              <a:rPr lang="en-US" baseline="0" dirty="0" err="1"/>
              <a:t>cho</a:t>
            </a:r>
            <a:r>
              <a:rPr lang="en-US" baseline="0" dirty="0"/>
              <a:t> </a:t>
            </a:r>
            <a:r>
              <a:rPr lang="en-US" baseline="0" dirty="0" err="1"/>
              <a:t>học</a:t>
            </a:r>
            <a:r>
              <a:rPr lang="en-US" baseline="0" dirty="0"/>
              <a:t> </a:t>
            </a:r>
            <a:r>
              <a:rPr lang="en-US" baseline="0" dirty="0" err="1"/>
              <a:t>viên</a:t>
            </a:r>
            <a:r>
              <a:rPr lang="en-US" baseline="0" dirty="0"/>
              <a:t> </a:t>
            </a:r>
            <a:r>
              <a:rPr lang="en-US" baseline="0" dirty="0" err="1"/>
              <a:t>các</a:t>
            </a:r>
            <a:r>
              <a:rPr lang="en-US" baseline="0" dirty="0"/>
              <a:t> </a:t>
            </a:r>
            <a:r>
              <a:rPr lang="en-US" baseline="0" dirty="0" err="1"/>
              <a:t>phần</a:t>
            </a:r>
            <a:r>
              <a:rPr lang="en-US" baseline="0" dirty="0"/>
              <a:t>:</a:t>
            </a:r>
          </a:p>
          <a:p>
            <a:pPr marL="628650" lvl="1" indent="-171450">
              <a:buFontTx/>
              <a:buChar char="-"/>
            </a:pPr>
            <a:r>
              <a:rPr lang="en-US" baseline="0" dirty="0" err="1"/>
              <a:t>Hệ</a:t>
            </a:r>
            <a:r>
              <a:rPr lang="en-US" baseline="0" dirty="0"/>
              <a:t> </a:t>
            </a:r>
            <a:r>
              <a:rPr lang="en-US" baseline="0" dirty="0" err="1"/>
              <a:t>thống</a:t>
            </a:r>
            <a:r>
              <a:rPr lang="en-US" baseline="0" dirty="0"/>
              <a:t> </a:t>
            </a:r>
            <a:r>
              <a:rPr lang="en-US" baseline="0" dirty="0" err="1"/>
              <a:t>nhúng</a:t>
            </a:r>
            <a:r>
              <a:rPr lang="en-US" baseline="0" dirty="0"/>
              <a:t> </a:t>
            </a:r>
            <a:r>
              <a:rPr lang="en-US" baseline="0" dirty="0" err="1"/>
              <a:t>là</a:t>
            </a:r>
            <a:r>
              <a:rPr lang="en-US" baseline="0" dirty="0"/>
              <a:t> </a:t>
            </a:r>
            <a:r>
              <a:rPr lang="en-US" baseline="0" dirty="0" err="1"/>
              <a:t>gì</a:t>
            </a:r>
            <a:r>
              <a:rPr lang="en-US" baseline="0" dirty="0"/>
              <a:t>, </a:t>
            </a:r>
            <a:r>
              <a:rPr lang="en-US" baseline="0" dirty="0" err="1"/>
              <a:t>ứng</a:t>
            </a:r>
            <a:r>
              <a:rPr lang="en-US" baseline="0" dirty="0"/>
              <a:t> </a:t>
            </a:r>
            <a:r>
              <a:rPr lang="en-US" baseline="0" dirty="0" err="1"/>
              <a:t>dụng</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nhúng</a:t>
            </a:r>
            <a:r>
              <a:rPr lang="en-US" baseline="0" dirty="0"/>
              <a:t>; </a:t>
            </a:r>
            <a:r>
              <a:rPr lang="en-US" baseline="0" dirty="0" err="1"/>
              <a:t>các</a:t>
            </a:r>
            <a:r>
              <a:rPr lang="en-US" baseline="0" dirty="0"/>
              <a:t> </a:t>
            </a:r>
            <a:r>
              <a:rPr lang="en-US" baseline="0" dirty="0" err="1"/>
              <a:t>đặc</a:t>
            </a:r>
            <a:r>
              <a:rPr lang="en-US" baseline="0" dirty="0"/>
              <a:t> </a:t>
            </a:r>
            <a:r>
              <a:rPr lang="en-US" baseline="0" dirty="0" err="1"/>
              <a:t>trưng</a:t>
            </a:r>
            <a:r>
              <a:rPr lang="en-US" baseline="0" dirty="0"/>
              <a:t> </a:t>
            </a:r>
            <a:r>
              <a:rPr lang="en-US" baseline="0" dirty="0" err="1"/>
              <a:t>của</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nhúng</a:t>
            </a:r>
            <a:endParaRPr lang="en-US" baseline="0" dirty="0"/>
          </a:p>
          <a:p>
            <a:pPr marL="628650" lvl="1" indent="-171450">
              <a:buFontTx/>
              <a:buChar char="-"/>
            </a:pPr>
            <a:r>
              <a:rPr lang="en-US" baseline="0" dirty="0" err="1"/>
              <a:t>Sự</a:t>
            </a:r>
            <a:r>
              <a:rPr lang="en-US" baseline="0" dirty="0"/>
              <a:t> </a:t>
            </a:r>
            <a:r>
              <a:rPr lang="en-US" baseline="0" dirty="0" err="1"/>
              <a:t>khác</a:t>
            </a:r>
            <a:r>
              <a:rPr lang="en-US" baseline="0" dirty="0"/>
              <a:t> </a:t>
            </a:r>
            <a:r>
              <a:rPr lang="en-US" baseline="0" dirty="0" err="1"/>
              <a:t>nhau</a:t>
            </a:r>
            <a:r>
              <a:rPr lang="en-US" baseline="0" dirty="0"/>
              <a:t> </a:t>
            </a:r>
            <a:r>
              <a:rPr lang="en-US" baseline="0" dirty="0" err="1"/>
              <a:t>giữa</a:t>
            </a:r>
            <a:r>
              <a:rPr lang="en-US" baseline="0" dirty="0"/>
              <a:t> vi </a:t>
            </a:r>
            <a:r>
              <a:rPr lang="en-US" baseline="0" dirty="0" err="1"/>
              <a:t>điều</a:t>
            </a:r>
            <a:r>
              <a:rPr lang="en-US" baseline="0" dirty="0"/>
              <a:t> </a:t>
            </a:r>
            <a:r>
              <a:rPr lang="en-US" baseline="0" dirty="0" err="1"/>
              <a:t>khiển</a:t>
            </a:r>
            <a:r>
              <a:rPr lang="en-US" baseline="0" dirty="0"/>
              <a:t> </a:t>
            </a:r>
            <a:r>
              <a:rPr lang="en-US" baseline="0" dirty="0" err="1"/>
              <a:t>và</a:t>
            </a:r>
            <a:r>
              <a:rPr lang="en-US" baseline="0" dirty="0"/>
              <a:t> vi </a:t>
            </a:r>
            <a:r>
              <a:rPr lang="en-US" baseline="0" dirty="0" err="1"/>
              <a:t>xử</a:t>
            </a:r>
            <a:r>
              <a:rPr lang="en-US" baseline="0" dirty="0"/>
              <a:t> </a:t>
            </a:r>
            <a:r>
              <a:rPr lang="en-US" baseline="0" dirty="0" err="1"/>
              <a:t>lý</a:t>
            </a:r>
            <a:endParaRPr lang="en-US" baseline="0" dirty="0"/>
          </a:p>
          <a:p>
            <a:pPr marL="628650" lvl="1" indent="-171450">
              <a:buFontTx/>
              <a:buChar char="-"/>
            </a:pPr>
            <a:r>
              <a:rPr lang="en-US" baseline="0" dirty="0" err="1"/>
              <a:t>Kiến</a:t>
            </a:r>
            <a:r>
              <a:rPr lang="en-US" baseline="0" dirty="0"/>
              <a:t> </a:t>
            </a:r>
            <a:r>
              <a:rPr lang="en-US" baseline="0" dirty="0" err="1"/>
              <a:t>trúc</a:t>
            </a:r>
            <a:r>
              <a:rPr lang="en-US" baseline="0" dirty="0"/>
              <a:t> </a:t>
            </a:r>
            <a:r>
              <a:rPr lang="en-US" baseline="0" dirty="0" err="1"/>
              <a:t>của</a:t>
            </a:r>
            <a:r>
              <a:rPr lang="en-US" baseline="0" dirty="0"/>
              <a:t> vi </a:t>
            </a:r>
            <a:r>
              <a:rPr lang="en-US" baseline="0" dirty="0" err="1"/>
              <a:t>xử</a:t>
            </a:r>
            <a:r>
              <a:rPr lang="en-US" baseline="0" dirty="0"/>
              <a:t> </a:t>
            </a:r>
            <a:r>
              <a:rPr lang="en-US" baseline="0" dirty="0" err="1"/>
              <a:t>lý</a:t>
            </a:r>
            <a:r>
              <a:rPr lang="en-US" baseline="0" dirty="0"/>
              <a:t>, </a:t>
            </a:r>
            <a:r>
              <a:rPr lang="en-US" baseline="0" dirty="0" err="1"/>
              <a:t>sự</a:t>
            </a:r>
            <a:r>
              <a:rPr lang="en-US" baseline="0" dirty="0"/>
              <a:t> </a:t>
            </a:r>
            <a:r>
              <a:rPr lang="en-US" baseline="0" dirty="0" err="1"/>
              <a:t>khác</a:t>
            </a:r>
            <a:r>
              <a:rPr lang="en-US" baseline="0" dirty="0"/>
              <a:t> </a:t>
            </a:r>
            <a:r>
              <a:rPr lang="en-US" baseline="0" dirty="0" err="1"/>
              <a:t>nhau</a:t>
            </a:r>
            <a:r>
              <a:rPr lang="en-US" baseline="0" dirty="0"/>
              <a:t> </a:t>
            </a:r>
            <a:r>
              <a:rPr lang="en-US" baseline="0" dirty="0" err="1"/>
              <a:t>giữa</a:t>
            </a:r>
            <a:r>
              <a:rPr lang="en-US" baseline="0" dirty="0"/>
              <a:t> </a:t>
            </a:r>
            <a:r>
              <a:rPr lang="en-US" baseline="0" dirty="0" err="1"/>
              <a:t>kiến</a:t>
            </a:r>
            <a:r>
              <a:rPr lang="en-US" baseline="0" dirty="0"/>
              <a:t> </a:t>
            </a:r>
            <a:r>
              <a:rPr lang="en-US" baseline="0" dirty="0" err="1"/>
              <a:t>trúc</a:t>
            </a:r>
            <a:r>
              <a:rPr lang="en-US" baseline="0" dirty="0"/>
              <a:t> Harvard </a:t>
            </a:r>
            <a:r>
              <a:rPr lang="en-US" baseline="0" dirty="0" err="1"/>
              <a:t>và</a:t>
            </a:r>
            <a:r>
              <a:rPr lang="en-US" baseline="0" dirty="0"/>
              <a:t> </a:t>
            </a:r>
            <a:r>
              <a:rPr lang="en-US" baseline="0" dirty="0" err="1"/>
              <a:t>Prinston</a:t>
            </a:r>
            <a:r>
              <a:rPr lang="en-US" baseline="0" dirty="0"/>
              <a:t>.</a:t>
            </a:r>
          </a:p>
          <a:p>
            <a:pPr marL="628650" lvl="1" indent="-171450">
              <a:buFontTx/>
              <a:buChar char="-"/>
            </a:pPr>
            <a:r>
              <a:rPr lang="en-US" baseline="0" dirty="0" err="1"/>
              <a:t>Kiến</a:t>
            </a:r>
            <a:r>
              <a:rPr lang="en-US" baseline="0" dirty="0"/>
              <a:t> </a:t>
            </a:r>
            <a:r>
              <a:rPr lang="en-US" baseline="0" dirty="0" err="1"/>
              <a:t>trúc</a:t>
            </a:r>
            <a:r>
              <a:rPr lang="en-US" baseline="0" dirty="0"/>
              <a:t> </a:t>
            </a:r>
            <a:r>
              <a:rPr lang="en-US" baseline="0" dirty="0" err="1"/>
              <a:t>tập</a:t>
            </a:r>
            <a:r>
              <a:rPr lang="en-US" baseline="0" dirty="0"/>
              <a:t> </a:t>
            </a:r>
            <a:r>
              <a:rPr lang="en-US" baseline="0" dirty="0" err="1"/>
              <a:t>lệnh</a:t>
            </a:r>
            <a:r>
              <a:rPr lang="en-US" baseline="0" dirty="0"/>
              <a:t> vi </a:t>
            </a:r>
            <a:r>
              <a:rPr lang="en-US" baseline="0" dirty="0" err="1"/>
              <a:t>xử</a:t>
            </a:r>
            <a:r>
              <a:rPr lang="en-US" baseline="0" dirty="0"/>
              <a:t> </a:t>
            </a:r>
            <a:r>
              <a:rPr lang="en-US" baseline="0" dirty="0" err="1"/>
              <a:t>lý</a:t>
            </a:r>
            <a:r>
              <a:rPr lang="en-US" baseline="0" dirty="0"/>
              <a:t>. </a:t>
            </a:r>
          </a:p>
        </p:txBody>
      </p:sp>
      <p:sp>
        <p:nvSpPr>
          <p:cNvPr id="4" name="Slide Number Placeholder 3"/>
          <p:cNvSpPr>
            <a:spLocks noGrp="1"/>
          </p:cNvSpPr>
          <p:nvPr>
            <p:ph type="sldNum" sz="quarter" idx="5"/>
          </p:nvPr>
        </p:nvSpPr>
        <p:spPr/>
        <p:txBody>
          <a:bodyPr/>
          <a:lstStyle/>
          <a:p>
            <a:fld id="{2B3067B3-3AE6-DD4A-9E3D-C999AB3971A1}" type="slidenum">
              <a:rPr lang="en-US" smtClean="0"/>
              <a:t>31</a:t>
            </a:fld>
            <a:endParaRPr lang="en-US"/>
          </a:p>
        </p:txBody>
      </p:sp>
    </p:spTree>
    <p:extLst>
      <p:ext uri="{BB962C8B-B14F-4D97-AF65-F5344CB8AC3E}">
        <p14:creationId xmlns:p14="http://schemas.microsoft.com/office/powerpoint/2010/main" val="35221883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3067B3-3AE6-DD4A-9E3D-C999AB3971A1}" type="slidenum">
              <a:rPr lang="en-US" smtClean="0"/>
              <a:t>32</a:t>
            </a:fld>
            <a:endParaRPr lang="en-US"/>
          </a:p>
        </p:txBody>
      </p:sp>
    </p:spTree>
    <p:extLst>
      <p:ext uri="{BB962C8B-B14F-4D97-AF65-F5344CB8AC3E}">
        <p14:creationId xmlns:p14="http://schemas.microsoft.com/office/powerpoint/2010/main" val="6398962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1"/>
          <p:cNvSpPr>
            <a:spLocks noGrp="1"/>
          </p:cNvSpPr>
          <p:nvPr>
            <p:ph type="ctrTitle"/>
          </p:nvPr>
        </p:nvSpPr>
        <p:spPr>
          <a:xfrm>
            <a:off x="171450" y="1743789"/>
            <a:ext cx="6179344" cy="678021"/>
          </a:xfrm>
        </p:spPr>
        <p:txBody>
          <a:bodyPr>
            <a:noAutofit/>
          </a:bodyPr>
          <a:lstStyle>
            <a:lvl1pPr algn="l">
              <a:defRPr sz="3200">
                <a:solidFill>
                  <a:srgbClr val="FF6600"/>
                </a:solidFill>
              </a:defRPr>
            </a:lvl1pPr>
          </a:lstStyle>
          <a:p>
            <a:r>
              <a:rPr lang="en-US" dirty="0"/>
              <a:t>Click to edit Master title style</a:t>
            </a:r>
          </a:p>
        </p:txBody>
      </p:sp>
      <p:sp>
        <p:nvSpPr>
          <p:cNvPr id="3" name="Subtitle 2"/>
          <p:cNvSpPr>
            <a:spLocks noGrp="1"/>
          </p:cNvSpPr>
          <p:nvPr>
            <p:ph type="subTitle" idx="1"/>
          </p:nvPr>
        </p:nvSpPr>
        <p:spPr>
          <a:xfrm>
            <a:off x="171450" y="2571750"/>
            <a:ext cx="6179344" cy="434975"/>
          </a:xfrm>
        </p:spPr>
        <p:txBody>
          <a:bodyPr>
            <a:normAutofit/>
          </a:bodyPr>
          <a:lstStyle>
            <a:lvl1pPr marL="0" indent="0" algn="l">
              <a:buNone/>
              <a:defRPr sz="2000" i="1">
                <a:solidFill>
                  <a:srgbClr val="99CC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171450" y="4767263"/>
            <a:ext cx="1367315" cy="273844"/>
          </a:xfrm>
        </p:spPr>
        <p:txBody>
          <a:bodyPr/>
          <a:lstStyle/>
          <a:p>
            <a:fld id="{63A9D870-3F93-4B8A-8AC9-9D3B4FB155C2}" type="datetime1">
              <a:rPr lang="en-US" smtClean="0"/>
              <a:t>8/25/2026</a:t>
            </a:fld>
            <a:endParaRPr lang="en-US"/>
          </a:p>
        </p:txBody>
      </p:sp>
      <p:sp>
        <p:nvSpPr>
          <p:cNvPr id="5" name="Footer Placeholder 4"/>
          <p:cNvSpPr>
            <a:spLocks noGrp="1"/>
          </p:cNvSpPr>
          <p:nvPr>
            <p:ph type="ftr" sz="quarter" idx="11"/>
          </p:nvPr>
        </p:nvSpPr>
        <p:spPr>
          <a:xfrm>
            <a:off x="1868557" y="4767263"/>
            <a:ext cx="6139587" cy="273844"/>
          </a:xfrm>
        </p:spPr>
        <p:txBody>
          <a:bodyPr/>
          <a:lstStyle/>
          <a:p>
            <a:r>
              <a:rPr lang="en-US"/>
              <a:t>09e-BM/DT/FSOFT - ©FPT SOFTWARE – Fresher Academy - Internal Use</a:t>
            </a:r>
            <a:endParaRPr lang="en-US" dirty="0"/>
          </a:p>
        </p:txBody>
      </p:sp>
      <p:sp>
        <p:nvSpPr>
          <p:cNvPr id="6" name="Slide Number Placeholder 5"/>
          <p:cNvSpPr>
            <a:spLocks noGrp="1"/>
          </p:cNvSpPr>
          <p:nvPr>
            <p:ph type="sldNum" sz="quarter" idx="12"/>
          </p:nvPr>
        </p:nvSpPr>
        <p:spPr>
          <a:xfrm>
            <a:off x="8122444" y="4767263"/>
            <a:ext cx="564356" cy="273844"/>
          </a:xfrm>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813760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20" cy="644057"/>
          </a:xfrm>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45074E-53EC-4432-BF9B-A29996D62E7F}" type="datetime1">
              <a:rPr lang="en-US" smtClean="0"/>
              <a:t>8/25/2026</a:t>
            </a:fld>
            <a:endParaRPr lang="en-US"/>
          </a:p>
        </p:txBody>
      </p:sp>
      <p:sp>
        <p:nvSpPr>
          <p:cNvPr id="5" name="Footer Placeholder 4"/>
          <p:cNvSpPr>
            <a:spLocks noGrp="1"/>
          </p:cNvSpPr>
          <p:nvPr>
            <p:ph type="ftr" sz="quarter" idx="11"/>
          </p:nvPr>
        </p:nvSpPr>
        <p:spPr/>
        <p:txBody>
          <a:bodyPr/>
          <a:lstStyle/>
          <a:p>
            <a:r>
              <a:rPr lang="en-US"/>
              <a:t>09e-BM/DT/FSOFT - ©FPT SOFTWARE – Fresher Academy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226263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789B-5D05-4E47-B9C1-C0FFAEB67DE3}"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454171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42912" y="3305176"/>
            <a:ext cx="8458199" cy="1021556"/>
          </a:xfrm>
        </p:spPr>
        <p:txBody>
          <a:bodyPr anchor="t"/>
          <a:lstStyle>
            <a:lvl1pPr algn="l">
              <a:defRPr sz="3200" b="1" cap="all">
                <a:solidFill>
                  <a:schemeClr val="accent6">
                    <a:lumMod val="75000"/>
                  </a:schemeClr>
                </a:solidFill>
              </a:defRPr>
            </a:lvl1pPr>
          </a:lstStyle>
          <a:p>
            <a:endParaRPr lang="en-US"/>
          </a:p>
        </p:txBody>
      </p:sp>
      <p:sp>
        <p:nvSpPr>
          <p:cNvPr id="3" name="Text Placeholder 2"/>
          <p:cNvSpPr>
            <a:spLocks noGrp="1"/>
          </p:cNvSpPr>
          <p:nvPr>
            <p:ph type="body" idx="1"/>
          </p:nvPr>
        </p:nvSpPr>
        <p:spPr>
          <a:xfrm>
            <a:off x="442912" y="2180035"/>
            <a:ext cx="8458199"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42913" y="4767263"/>
            <a:ext cx="1203007" cy="273844"/>
          </a:xfrm>
        </p:spPr>
        <p:txBody>
          <a:bodyPr/>
          <a:lstStyle/>
          <a:p>
            <a:fld id="{95690783-B5B6-43F6-9D05-1F8793B02117}" type="datetime1">
              <a:rPr lang="en-US" smtClean="0"/>
              <a:t>8/25/2026</a:t>
            </a:fld>
            <a:endParaRPr lang="en-US"/>
          </a:p>
        </p:txBody>
      </p:sp>
      <p:sp>
        <p:nvSpPr>
          <p:cNvPr id="5" name="Footer Placeholder 4"/>
          <p:cNvSpPr>
            <a:spLocks noGrp="1"/>
          </p:cNvSpPr>
          <p:nvPr>
            <p:ph type="ftr" sz="quarter" idx="11"/>
          </p:nvPr>
        </p:nvSpPr>
        <p:spPr/>
        <p:txBody>
          <a:bodyPr/>
          <a:lstStyle/>
          <a:p>
            <a:r>
              <a:rPr lang="en-US"/>
              <a:t>09e-BM/DT/FSOFT - ©FPT SOFTWARE – Fresher Academy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19322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78606" y="900113"/>
            <a:ext cx="4217194" cy="3771900"/>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252912" cy="3771900"/>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E2AB3E9-7592-48AC-A218-7AC85EB51A08}" type="datetime1">
              <a:rPr lang="en-US" smtClean="0"/>
              <a:t>8/25/2026</a:t>
            </a:fld>
            <a:endParaRPr lang="en-US"/>
          </a:p>
        </p:txBody>
      </p:sp>
      <p:sp>
        <p:nvSpPr>
          <p:cNvPr id="6" name="Footer Placeholder 5"/>
          <p:cNvSpPr>
            <a:spLocks noGrp="1"/>
          </p:cNvSpPr>
          <p:nvPr>
            <p:ph type="ftr" sz="quarter" idx="11"/>
          </p:nvPr>
        </p:nvSpPr>
        <p:spPr/>
        <p:txBody>
          <a:bodyPr/>
          <a:lstStyle/>
          <a:p>
            <a:r>
              <a:rPr lang="en-US"/>
              <a:t>09e-BM/DT/FSOFT - ©FPT SOFTWARE – Fresher Academy - Internal Use</a:t>
            </a:r>
          </a:p>
        </p:txBody>
      </p:sp>
      <p:sp>
        <p:nvSpPr>
          <p:cNvPr id="7" name="Slide Number Placeholder 6"/>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2018449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789B-5D05-4E47-B9C1-C0FFAEB67DE3}"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a:t>
            </a:fld>
            <a:endParaRPr lang="en-US"/>
          </a:p>
        </p:txBody>
      </p:sp>
      <p:sp>
        <p:nvSpPr>
          <p:cNvPr id="6" name="Content Placeholder 2"/>
          <p:cNvSpPr>
            <a:spLocks noGrp="1"/>
          </p:cNvSpPr>
          <p:nvPr>
            <p:ph sz="half" idx="1"/>
          </p:nvPr>
        </p:nvSpPr>
        <p:spPr>
          <a:xfrm>
            <a:off x="278606" y="900113"/>
            <a:ext cx="4217194" cy="2221706"/>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p:cNvSpPr>
            <a:spLocks noGrp="1"/>
          </p:cNvSpPr>
          <p:nvPr>
            <p:ph sz="half" idx="2"/>
          </p:nvPr>
        </p:nvSpPr>
        <p:spPr>
          <a:xfrm>
            <a:off x="4648200" y="900113"/>
            <a:ext cx="4252912" cy="2221706"/>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p:nvPr>
        </p:nvSpPr>
        <p:spPr>
          <a:xfrm>
            <a:off x="278606" y="3258343"/>
            <a:ext cx="8622506" cy="1349375"/>
          </a:xfrm>
        </p:spPr>
        <p:txBody>
          <a:bodyPr>
            <a:noAutofit/>
          </a:bodyPr>
          <a:lstStyle>
            <a:lvl1pPr>
              <a:defRPr sz="2000"/>
            </a:lvl1pPr>
            <a:lvl2pPr marL="457200" indent="0">
              <a:buNone/>
              <a:defRPr sz="1800"/>
            </a:lvl2pPr>
            <a:lvl3pPr>
              <a:defRPr sz="16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184714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7162" y="55784"/>
            <a:ext cx="7100888" cy="54068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7161" y="858441"/>
            <a:ext cx="4271963" cy="47982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7161" y="1338261"/>
            <a:ext cx="4271963" cy="3276601"/>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00575" y="845344"/>
            <a:ext cx="4300537" cy="47982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00575" y="1325165"/>
            <a:ext cx="4300537" cy="328969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57163" y="4767263"/>
            <a:ext cx="1488758" cy="273844"/>
          </a:xfrm>
        </p:spPr>
        <p:txBody>
          <a:bodyPr/>
          <a:lstStyle/>
          <a:p>
            <a:fld id="{89809214-B0AA-40EF-B713-56DABC867509}" type="datetime1">
              <a:rPr lang="en-US" smtClean="0"/>
              <a:t>8/25/2026</a:t>
            </a:fld>
            <a:endParaRPr lang="en-US"/>
          </a:p>
        </p:txBody>
      </p:sp>
      <p:sp>
        <p:nvSpPr>
          <p:cNvPr id="8" name="Footer Placeholder 7"/>
          <p:cNvSpPr>
            <a:spLocks noGrp="1"/>
          </p:cNvSpPr>
          <p:nvPr>
            <p:ph type="ftr" sz="quarter" idx="11"/>
          </p:nvPr>
        </p:nvSpPr>
        <p:spPr/>
        <p:txBody>
          <a:bodyPr/>
          <a:lstStyle/>
          <a:p>
            <a:r>
              <a:rPr lang="en-US"/>
              <a:t>09e-BM/DT/FSOFT - ©FPT SOFTWARE – Fresher Academy - Internal Use</a:t>
            </a:r>
          </a:p>
        </p:txBody>
      </p:sp>
      <p:sp>
        <p:nvSpPr>
          <p:cNvPr id="9" name="Slide Number Placeholder 8"/>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3710657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778E15-6A1B-4F98-93CA-BDA6731742CD}" type="datetime1">
              <a:rPr lang="en-US" smtClean="0"/>
              <a:t>8/25/2026</a:t>
            </a:fld>
            <a:endParaRPr lang="en-US"/>
          </a:p>
        </p:txBody>
      </p:sp>
      <p:sp>
        <p:nvSpPr>
          <p:cNvPr id="5" name="Footer Placeholder 4"/>
          <p:cNvSpPr>
            <a:spLocks noGrp="1"/>
          </p:cNvSpPr>
          <p:nvPr>
            <p:ph type="ftr" sz="quarter" idx="11"/>
          </p:nvPr>
        </p:nvSpPr>
        <p:spPr/>
        <p:txBody>
          <a:bodyPr/>
          <a:lstStyle/>
          <a:p>
            <a:r>
              <a:rPr lang="en-US"/>
              <a:t>09e-BM/DT/FSOFT - ©FPT SOFTWARE – Fresher Academy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a:t>
            </a:fld>
            <a:endParaRPr lang="en-US"/>
          </a:p>
        </p:txBody>
      </p:sp>
    </p:spTree>
    <p:extLst>
      <p:ext uri="{BB962C8B-B14F-4D97-AF65-F5344CB8AC3E}">
        <p14:creationId xmlns:p14="http://schemas.microsoft.com/office/powerpoint/2010/main" val="1077462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39" y="0"/>
            <a:ext cx="9124122" cy="5143500"/>
          </a:xfrm>
          <a:prstGeom prst="rect">
            <a:avLst/>
          </a:prstGeom>
        </p:spPr>
      </p:pic>
      <p:sp>
        <p:nvSpPr>
          <p:cNvPr id="2" name="Title Placeholder 1"/>
          <p:cNvSpPr>
            <a:spLocks noGrp="1"/>
          </p:cNvSpPr>
          <p:nvPr>
            <p:ph type="title"/>
          </p:nvPr>
        </p:nvSpPr>
        <p:spPr>
          <a:xfrm>
            <a:off x="278606" y="0"/>
            <a:ext cx="6885519" cy="644057"/>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278605" y="850106"/>
            <a:ext cx="8622507" cy="3744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78605" y="4767263"/>
            <a:ext cx="1367315"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0276789B-5D05-4E47-B9C1-C0FFAEB67DE3}" type="datetime1">
              <a:rPr lang="en-US" smtClean="0"/>
              <a:t>8/25/2026</a:t>
            </a:fld>
            <a:endParaRPr lang="en-US"/>
          </a:p>
        </p:txBody>
      </p:sp>
      <p:sp>
        <p:nvSpPr>
          <p:cNvPr id="5" name="Footer Placeholder 4"/>
          <p:cNvSpPr>
            <a:spLocks noGrp="1"/>
          </p:cNvSpPr>
          <p:nvPr>
            <p:ph type="ftr" sz="quarter" idx="3"/>
          </p:nvPr>
        </p:nvSpPr>
        <p:spPr>
          <a:xfrm>
            <a:off x="1764506" y="4767263"/>
            <a:ext cx="6372225" cy="273844"/>
          </a:xfrm>
          <a:prstGeom prst="rect">
            <a:avLst/>
          </a:prstGeom>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1200">
                <a:solidFill>
                  <a:schemeClr val="tx1">
                    <a:tint val="75000"/>
                  </a:schemeClr>
                </a:solidFill>
              </a:defRPr>
            </a:lvl1pPr>
          </a:lstStyle>
          <a:p>
            <a:r>
              <a:rPr lang="en-US"/>
              <a:t>09e-BM/DT/FSOFT - ©FPT SOFTWARE – Fresher Academy - Internal Use</a:t>
            </a:r>
            <a:endParaRPr lang="en-US" dirty="0"/>
          </a:p>
        </p:txBody>
      </p:sp>
      <p:sp>
        <p:nvSpPr>
          <p:cNvPr id="6" name="Slide Number Placeholder 5"/>
          <p:cNvSpPr>
            <a:spLocks noGrp="1"/>
          </p:cNvSpPr>
          <p:nvPr>
            <p:ph type="sldNum" sz="quarter" idx="4"/>
          </p:nvPr>
        </p:nvSpPr>
        <p:spPr>
          <a:xfrm>
            <a:off x="8229600" y="4767263"/>
            <a:ext cx="671512"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3B08AF7-4237-6949-8335-F63F47C2C8CC}" type="slidenum">
              <a:rPr lang="en-US" smtClean="0"/>
              <a:t>‹#›</a:t>
            </a:fld>
            <a:endParaRPr lang="en-US"/>
          </a:p>
        </p:txBody>
      </p:sp>
    </p:spTree>
    <p:extLst>
      <p:ext uri="{BB962C8B-B14F-4D97-AF65-F5344CB8AC3E}">
        <p14:creationId xmlns:p14="http://schemas.microsoft.com/office/powerpoint/2010/main" val="2986712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51" r:id="rId4"/>
    <p:sldLayoutId id="2147483652" r:id="rId5"/>
    <p:sldLayoutId id="2147483660" r:id="rId6"/>
    <p:sldLayoutId id="2147483653" r:id="rId7"/>
    <p:sldLayoutId id="2147483658" r:id="rId8"/>
  </p:sldLayoutIdLst>
  <p:hf hdr="0"/>
  <p:txStyles>
    <p:titleStyle>
      <a:lvl1pPr algn="l" defTabSz="457200" rtl="0" eaLnBrk="1" latinLnBrk="0" hangingPunct="1">
        <a:spcBef>
          <a:spcPct val="0"/>
        </a:spcBef>
        <a:buNone/>
        <a:defRPr sz="3200" b="1" kern="1200">
          <a:solidFill>
            <a:schemeClr val="bg1"/>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Wingdings" panose="05000000000000000000" pitchFamily="2" charset="2"/>
        <a:buChar char="ü"/>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Embedded System Getting Started</a:t>
            </a:r>
          </a:p>
        </p:txBody>
      </p:sp>
      <p:sp>
        <p:nvSpPr>
          <p:cNvPr id="4" name="Date Placeholder 3"/>
          <p:cNvSpPr>
            <a:spLocks noGrp="1"/>
          </p:cNvSpPr>
          <p:nvPr>
            <p:ph type="dt" sz="half" idx="10"/>
          </p:nvPr>
        </p:nvSpPr>
        <p:spPr/>
        <p:txBody>
          <a:bodyPr/>
          <a:lstStyle/>
          <a:p>
            <a:fld id="{1F45074E-53EC-4432-BF9B-A29996D62E7F}" type="datetime1">
              <a:rPr lang="en-US" smtClean="0"/>
              <a:t>8/25/2026</a:t>
            </a:fld>
            <a:endParaRPr lang="en-US"/>
          </a:p>
        </p:txBody>
      </p:sp>
      <p:sp>
        <p:nvSpPr>
          <p:cNvPr id="5" name="Footer Placeholder 4"/>
          <p:cNvSpPr>
            <a:spLocks noGrp="1"/>
          </p:cNvSpPr>
          <p:nvPr>
            <p:ph type="ftr" sz="quarter" idx="11"/>
          </p:nvPr>
        </p:nvSpPr>
        <p:spPr/>
        <p:txBody>
          <a:bodyPr/>
          <a:lstStyle/>
          <a:p>
            <a:r>
              <a:rPr lang="en-US"/>
              <a:t>09e-BM/DT/FSOFT - ©FPT SOFTWARE – Fresher Academy - Internal Use</a:t>
            </a:r>
          </a:p>
        </p:txBody>
      </p:sp>
      <p:sp>
        <p:nvSpPr>
          <p:cNvPr id="6" name="Slide Number Placeholder 5"/>
          <p:cNvSpPr>
            <a:spLocks noGrp="1"/>
          </p:cNvSpPr>
          <p:nvPr>
            <p:ph type="sldNum" sz="quarter" idx="12"/>
          </p:nvPr>
        </p:nvSpPr>
        <p:spPr/>
        <p:txBody>
          <a:bodyPr/>
          <a:lstStyle/>
          <a:p>
            <a:fld id="{E3B08AF7-4237-6949-8335-F63F47C2C8CC}" type="slidenum">
              <a:rPr lang="en-US" smtClean="0"/>
              <a:t>1</a:t>
            </a:fld>
            <a:endParaRPr lang="en-US"/>
          </a:p>
        </p:txBody>
      </p:sp>
      <p:sp>
        <p:nvSpPr>
          <p:cNvPr id="3" name="Subtitle 2">
            <a:extLst>
              <a:ext uri="{FF2B5EF4-FFF2-40B4-BE49-F238E27FC236}">
                <a16:creationId xmlns:a16="http://schemas.microsoft.com/office/drawing/2014/main" id="{78737EBA-A7D7-E58B-FD26-F5062370D73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7839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400" dirty="0">
                <a:latin typeface="Arial" panose="020B0604020202020204" pitchFamily="34" charset="0"/>
                <a:cs typeface="Arial" panose="020B0604020202020204" pitchFamily="34" charset="0"/>
              </a:rPr>
              <a:t>Lesson</a:t>
            </a:r>
            <a:r>
              <a:rPr lang="vi-VN" altLang="en-US" sz="2400"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O</a:t>
            </a:r>
            <a:r>
              <a:rPr lang="vi-VN" altLang="en-US" sz="2400" dirty="0">
                <a:latin typeface="Arial" panose="020B0604020202020204" pitchFamily="34" charset="0"/>
                <a:cs typeface="Arial" panose="020B0604020202020204" pitchFamily="34" charset="0"/>
              </a:rPr>
              <a:t>bjectives</a:t>
            </a:r>
            <a:endParaRPr lang="en-US" sz="2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altLang="en-US" sz="2000" i="1" dirty="0"/>
              <a:t>Understanding about the embedded system and its products in real world</a:t>
            </a:r>
          </a:p>
          <a:p>
            <a:r>
              <a:rPr lang="en-US" altLang="en-US" sz="2000" i="1" dirty="0"/>
              <a:t>Understanding about the microcontroller: a microprocessor and common architectures nowadays.</a:t>
            </a:r>
          </a:p>
          <a:p>
            <a:endParaRPr lang="en-US" altLang="en-US" sz="2000" i="1" dirty="0"/>
          </a:p>
        </p:txBody>
      </p:sp>
      <p:sp>
        <p:nvSpPr>
          <p:cNvPr id="4" name="Date Placeholder 3"/>
          <p:cNvSpPr>
            <a:spLocks noGrp="1"/>
          </p:cNvSpPr>
          <p:nvPr>
            <p:ph type="dt" sz="half" idx="10"/>
          </p:nvPr>
        </p:nvSpPr>
        <p:spPr/>
        <p:txBody>
          <a:bodyPr/>
          <a:lstStyle/>
          <a:p>
            <a:fld id="{6D833602-3032-40E0-910C-A05081070B9D}" type="datetime1">
              <a:rPr lang="en-US" smtClean="0"/>
              <a:t>8/25/2026</a:t>
            </a:fld>
            <a:endParaRPr lang="en-US"/>
          </a:p>
        </p:txBody>
      </p:sp>
      <p:sp>
        <p:nvSpPr>
          <p:cNvPr id="6"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a:t>
            </a:fld>
            <a:endParaRPr lang="en-US"/>
          </a:p>
        </p:txBody>
      </p:sp>
    </p:spTree>
    <p:extLst>
      <p:ext uri="{BB962C8B-B14F-4D97-AF65-F5344CB8AC3E}">
        <p14:creationId xmlns:p14="http://schemas.microsoft.com/office/powerpoint/2010/main" val="68382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Agenda</a:t>
            </a:r>
          </a:p>
        </p:txBody>
      </p:sp>
      <p:sp>
        <p:nvSpPr>
          <p:cNvPr id="3" name="Content Placeholder 2"/>
          <p:cNvSpPr>
            <a:spLocks noGrp="1"/>
          </p:cNvSpPr>
          <p:nvPr>
            <p:ph idx="1"/>
          </p:nvPr>
        </p:nvSpPr>
        <p:spPr/>
        <p:txBody>
          <a:bodyPr wrap="square"/>
          <a:lstStyle/>
          <a:p>
            <a:pPr marL="457200" indent="-457200">
              <a:buFont typeface="+mj-lt"/>
              <a:buAutoNum type="arabicPeriod"/>
            </a:pPr>
            <a:r>
              <a:rPr dirty="0"/>
              <a:t>Embedded System Introduction</a:t>
            </a:r>
          </a:p>
          <a:p>
            <a:pPr marL="457200" indent="-457200">
              <a:buFont typeface="+mj-lt"/>
              <a:buAutoNum type="arabicPeriod"/>
            </a:pPr>
            <a:r>
              <a:rPr dirty="0"/>
              <a:t>Microcontroller &amp; Microprocessor</a:t>
            </a:r>
          </a:p>
          <a:p>
            <a:pPr marL="457200" indent="-457200">
              <a:buFont typeface="+mj-lt"/>
              <a:buAutoNum type="arabicPeriod"/>
            </a:pPr>
            <a:r>
              <a:rPr dirty="0"/>
              <a:t>Von Neumann and Harvard Architecture</a:t>
            </a:r>
          </a:p>
          <a:p>
            <a:pPr marL="457200" indent="-457200">
              <a:buFont typeface="+mj-lt"/>
              <a:buAutoNum type="arabicPeriod"/>
            </a:pPr>
            <a:r>
              <a:rPr dirty="0"/>
              <a:t>Instruction Set Architecture</a:t>
            </a:r>
          </a:p>
        </p:txBody>
      </p:sp>
      <p:sp>
        <p:nvSpPr>
          <p:cNvPr id="4" name="Date Placeholder 3"/>
          <p:cNvSpPr>
            <a:spLocks noGrp="1"/>
          </p:cNvSpPr>
          <p:nvPr>
            <p:ph type="dt" sz="half" idx="10"/>
          </p:nvPr>
        </p:nvSpPr>
        <p:spPr/>
        <p:txBody>
          <a:bodyPr/>
          <a:lstStyle/>
          <a:p>
            <a:fld id="{6D833602-3032-40E0-910C-A05081070B9D}" type="datetime1">
              <a:rPr lang="en-US" smtClean="0"/>
              <a:t>8/25/2026</a:t>
            </a:fld>
            <a:endParaRPr lang="en-US"/>
          </a:p>
        </p:txBody>
      </p:sp>
      <p:sp>
        <p:nvSpPr>
          <p:cNvPr id="5" name="Footer Placeholder 3"/>
          <p:cNvSpPr>
            <a:spLocks noGrp="1"/>
          </p:cNvSpPr>
          <p:nvPr>
            <p:ph type="ftr" sz="quarter" idx="11"/>
          </p:nvPr>
        </p:nvSpPr>
        <p:spPr/>
        <p:txBody>
          <a:bodyPr/>
          <a:lstStyle/>
          <a:p>
            <a:r>
              <a:rPr lang="en-US"/>
              <a:t>09e-BM/DT/FSOFT - ©FPT SOFTWARE – Fresher Academy - Internal Use</a:t>
            </a:r>
          </a:p>
        </p:txBody>
      </p:sp>
      <p:sp>
        <p:nvSpPr>
          <p:cNvPr id="6" name="Slide Number Placeholder 4"/>
          <p:cNvSpPr>
            <a:spLocks noGrp="1"/>
          </p:cNvSpPr>
          <p:nvPr>
            <p:ph type="sldNum" sz="quarter" idx="12"/>
          </p:nvPr>
        </p:nvSpPr>
        <p:spPr/>
        <p:txBody>
          <a:bodyPr/>
          <a:lstStyle/>
          <a:p>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57200" indent="-457200">
              <a:buFont typeface="+mj-lt"/>
              <a:buAutoNum type="arabicPeriod"/>
            </a:pPr>
            <a:r>
              <a:rPr lang="en-US" sz="2400" dirty="0"/>
              <a:t>Embedded System Introduction</a:t>
            </a:r>
          </a:p>
        </p:txBody>
      </p:sp>
      <p:sp>
        <p:nvSpPr>
          <p:cNvPr id="6" name="Title 1"/>
          <p:cNvSpPr>
            <a:spLocks noGrp="1"/>
          </p:cNvSpPr>
          <p:nvPr>
            <p:ph idx="1"/>
          </p:nvPr>
        </p:nvSpPr>
        <p:spPr/>
        <p:txBody>
          <a:bodyPr>
            <a:normAutofit/>
          </a:bodyPr>
          <a:lstStyle/>
          <a:p>
            <a:pPr algn="just"/>
            <a:r>
              <a:rPr lang="en-US" altLang="en-US" i="1" dirty="0"/>
              <a:t>Introduction</a:t>
            </a:r>
          </a:p>
          <a:p>
            <a:pPr algn="just"/>
            <a:r>
              <a:rPr lang="en-US" altLang="en-US" i="1" dirty="0"/>
              <a:t>What is embedded system?</a:t>
            </a:r>
          </a:p>
          <a:p>
            <a:pPr algn="just"/>
            <a:r>
              <a:rPr lang="en-US" altLang="en-US" i="1" dirty="0"/>
              <a:t>History of Embedded system</a:t>
            </a:r>
            <a:endParaRPr lang="vi-VN" altLang="en-US" i="1" dirty="0"/>
          </a:p>
          <a:p>
            <a:pPr algn="just"/>
            <a:r>
              <a:rPr lang="en-US" altLang="en-US" dirty="0"/>
              <a:t>Characteristics of Embedded Systems</a:t>
            </a:r>
            <a:endParaRPr lang="en-US" altLang="en-US" i="1" dirty="0"/>
          </a:p>
          <a:p>
            <a:pPr algn="just"/>
            <a:r>
              <a:rPr lang="en-US" altLang="en-US" i="1" dirty="0"/>
              <a:t>Types of Embedded System </a:t>
            </a:r>
          </a:p>
          <a:p>
            <a:pPr algn="just"/>
            <a:r>
              <a:rPr lang="en-US" altLang="en-US" i="1" dirty="0"/>
              <a:t>Applications of Embedded Systems</a:t>
            </a: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4</a:t>
            </a:fld>
            <a:endParaRPr lang="en-US"/>
          </a:p>
        </p:txBody>
      </p:sp>
    </p:spTree>
    <p:extLst>
      <p:ext uri="{BB962C8B-B14F-4D97-AF65-F5344CB8AC3E}">
        <p14:creationId xmlns:p14="http://schemas.microsoft.com/office/powerpoint/2010/main" val="4116642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20" cy="644057"/>
          </a:xfrm>
        </p:spPr>
        <p:txBody>
          <a:bodyPr anchor="ctr">
            <a:normAutofit/>
          </a:bodyPr>
          <a:lstStyle/>
          <a:p>
            <a:r>
              <a:rPr lang="vi-VN" altLang="en-US" sz="2400" dirty="0"/>
              <a:t>1.1. Introduction</a:t>
            </a:r>
          </a:p>
        </p:txBody>
      </p:sp>
      <p:pic>
        <p:nvPicPr>
          <p:cNvPr id="12" name="Picture 11">
            <a:extLst>
              <a:ext uri="{FF2B5EF4-FFF2-40B4-BE49-F238E27FC236}">
                <a16:creationId xmlns:a16="http://schemas.microsoft.com/office/drawing/2014/main" id="{13B058DE-89D9-473E-BB6D-A9F92916FC22}"/>
              </a:ext>
            </a:extLst>
          </p:cNvPr>
          <p:cNvPicPr>
            <a:picLocks noChangeAspect="1"/>
          </p:cNvPicPr>
          <p:nvPr/>
        </p:nvPicPr>
        <p:blipFill>
          <a:blip r:embed="rId3"/>
          <a:stretch>
            <a:fillRect/>
          </a:stretch>
        </p:blipFill>
        <p:spPr>
          <a:xfrm>
            <a:off x="2786943" y="850106"/>
            <a:ext cx="3605831" cy="3744517"/>
          </a:xfrm>
          <a:prstGeom prst="rect">
            <a:avLst/>
          </a:prstGeom>
          <a:noFill/>
        </p:spPr>
      </p:pic>
      <p:sp>
        <p:nvSpPr>
          <p:cNvPr id="3" name="Date Placeholder 2"/>
          <p:cNvSpPr>
            <a:spLocks noGrp="1"/>
          </p:cNvSpPr>
          <p:nvPr>
            <p:ph type="dt" sz="half" idx="10"/>
          </p:nvPr>
        </p:nvSpPr>
        <p:spPr>
          <a:xfrm>
            <a:off x="278605" y="4767263"/>
            <a:ext cx="1367315" cy="273844"/>
          </a:xfrm>
        </p:spPr>
        <p:txBody>
          <a:bodyPr anchor="ctr">
            <a:normAutofit/>
          </a:bodyPr>
          <a:lstStyle/>
          <a:p>
            <a:pPr>
              <a:lnSpc>
                <a:spcPct val="90000"/>
              </a:lnSpc>
              <a:spcAft>
                <a:spcPts val="600"/>
              </a:spcAft>
            </a:pPr>
            <a:fld id="{962A1C72-7C97-4A80-BEDB-F1B897A0A0E1}" type="datetime1">
              <a:rPr lang="en-US" smtClean="0"/>
              <a:pPr>
                <a:lnSpc>
                  <a:spcPct val="90000"/>
                </a:lnSpc>
                <a:spcAft>
                  <a:spcPts val="600"/>
                </a:spcAft>
              </a:pPr>
              <a:t>8/25/2026</a:t>
            </a:fld>
            <a:endParaRPr lang="en-US"/>
          </a:p>
        </p:txBody>
      </p:sp>
      <p:sp>
        <p:nvSpPr>
          <p:cNvPr id="7" name="Footer Placeholder 3"/>
          <p:cNvSpPr>
            <a:spLocks noGrp="1"/>
          </p:cNvSpPr>
          <p:nvPr>
            <p:ph type="ftr" sz="quarter" idx="11"/>
          </p:nvPr>
        </p:nvSpPr>
        <p:spPr>
          <a:xfrm>
            <a:off x="1764506" y="4767263"/>
            <a:ext cx="6372225" cy="273844"/>
          </a:xfrm>
        </p:spPr>
        <p:txBody>
          <a:bodyPr anchor="ctr">
            <a:normAutofit/>
          </a:bodyPr>
          <a:lstStyle/>
          <a:p>
            <a:pPr>
              <a:lnSpc>
                <a:spcPct val="90000"/>
              </a:lnSpc>
              <a:spcAft>
                <a:spcPts val="600"/>
              </a:spcAft>
            </a:pPr>
            <a:r>
              <a:rPr lang="en-US"/>
              <a:t>09e-BM/DT/FSOFT - ©FPT SOFTWARE – Fresher Academy - Internal Use</a:t>
            </a:r>
          </a:p>
        </p:txBody>
      </p:sp>
      <p:sp>
        <p:nvSpPr>
          <p:cNvPr id="5" name="Slide Number Placeholder 4"/>
          <p:cNvSpPr>
            <a:spLocks noGrp="1"/>
          </p:cNvSpPr>
          <p:nvPr>
            <p:ph type="sldNum" sz="quarter" idx="12"/>
          </p:nvPr>
        </p:nvSpPr>
        <p:spPr>
          <a:xfrm>
            <a:off x="8229600" y="4767263"/>
            <a:ext cx="671512" cy="273844"/>
          </a:xfrm>
        </p:spPr>
        <p:txBody>
          <a:bodyPr anchor="ctr">
            <a:normAutofit/>
          </a:bodyPr>
          <a:lstStyle/>
          <a:p>
            <a:pPr>
              <a:lnSpc>
                <a:spcPct val="90000"/>
              </a:lnSpc>
              <a:spcAft>
                <a:spcPts val="600"/>
              </a:spcAft>
            </a:pPr>
            <a:fld id="{E3B08AF7-4237-6949-8335-F63F47C2C8CC}" type="slidenum">
              <a:rPr lang="en-US" smtClean="0"/>
              <a:pPr>
                <a:lnSpc>
                  <a:spcPct val="90000"/>
                </a:lnSpc>
                <a:spcAft>
                  <a:spcPts val="600"/>
                </a:spcAft>
              </a:pPr>
              <a:t>5</a:t>
            </a:fld>
            <a:endParaRPr lang="en-US"/>
          </a:p>
        </p:txBody>
      </p:sp>
    </p:spTree>
    <p:extLst>
      <p:ext uri="{BB962C8B-B14F-4D97-AF65-F5344CB8AC3E}">
        <p14:creationId xmlns:p14="http://schemas.microsoft.com/office/powerpoint/2010/main" val="12322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tLang="en-US" sz="2400" dirty="0"/>
              <a:t>1.2. </a:t>
            </a:r>
            <a:r>
              <a:rPr lang="en-US" altLang="en-US" sz="2400" dirty="0"/>
              <a:t>What is embedded system?</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altLang="en-US" dirty="0"/>
              <a:t>An embedded system is a computer system with a dedicated function within a larger mechanical or electrical system, often with real-time computing constraints. It is embedded as part of a complete device often including hardware and mechanical parts. </a:t>
            </a:r>
          </a:p>
          <a:p>
            <a:pPr marL="0" indent="0" algn="just">
              <a:buNone/>
            </a:pPr>
            <a:r>
              <a:rPr lang="en-US" altLang="en-US" dirty="0"/>
              <a:t>                                                                     (</a:t>
            </a:r>
            <a:r>
              <a:rPr lang="en-US" altLang="en-US" dirty="0" err="1"/>
              <a:t>wikipedia</a:t>
            </a:r>
            <a:r>
              <a:rPr lang="en-US" altLang="en-US" dirty="0"/>
              <a:t>)</a:t>
            </a:r>
          </a:p>
        </p:txBody>
      </p:sp>
      <p:sp>
        <p:nvSpPr>
          <p:cNvPr id="3" name="Date Placeholder 2"/>
          <p:cNvSpPr>
            <a:spLocks noGrp="1"/>
          </p:cNvSpPr>
          <p:nvPr>
            <p:ph type="dt" sz="half" idx="10"/>
          </p:nvPr>
        </p:nvSpPr>
        <p:spPr/>
        <p:txBody>
          <a:bodyPr/>
          <a:lstStyle/>
          <a:p>
            <a:fld id="{C868B440-E2B2-4B31-86A5-B73D743AFA1E}" type="datetime1">
              <a:rPr lang="en-US" smtClean="0"/>
              <a:t>8/25/2026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6</a:t>
            </a:fld>
            <a:endParaRPr lang="en-US"/>
          </a:p>
        </p:txBody>
      </p:sp>
    </p:spTree>
    <p:extLst>
      <p:ext uri="{BB962C8B-B14F-4D97-AF65-F5344CB8AC3E}">
        <p14:creationId xmlns:p14="http://schemas.microsoft.com/office/powerpoint/2010/main" val="280778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tLang="en-US" sz="2400" dirty="0"/>
              <a:t>1.3. </a:t>
            </a:r>
            <a:r>
              <a:rPr lang="en-US" altLang="en-US" sz="2400" dirty="0"/>
              <a:t>History of Embedded system</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lnSpcReduction="10000"/>
          </a:bodyPr>
          <a:lstStyle/>
          <a:p>
            <a:pPr algn="just"/>
            <a:r>
              <a:rPr lang="en-US" altLang="en-US" dirty="0"/>
              <a:t>In 1960: First embedded system was introduced by Charles Stark Draper.</a:t>
            </a:r>
          </a:p>
          <a:p>
            <a:pPr algn="just"/>
            <a:r>
              <a:rPr lang="en-US" altLang="en-US" dirty="0"/>
              <a:t>In 1965, Second embedded system was D-17B</a:t>
            </a:r>
          </a:p>
          <a:p>
            <a:pPr algn="just"/>
            <a:r>
              <a:rPr lang="en-US" altLang="en-US" dirty="0"/>
              <a:t>In 1968, First embedded system was released for vehicle </a:t>
            </a:r>
          </a:p>
          <a:p>
            <a:pPr algn="just"/>
            <a:r>
              <a:rPr lang="en-US" altLang="en-US" dirty="0"/>
              <a:t>In 1971, First microcontroller was developed by Texas Instruments.</a:t>
            </a:r>
          </a:p>
          <a:p>
            <a:pPr algn="just"/>
            <a:r>
              <a:rPr lang="en-US" altLang="en-US" dirty="0"/>
              <a:t>In 1987, First embedded operating system (VxWorks) was introduced by Wind River.</a:t>
            </a:r>
          </a:p>
          <a:p>
            <a:pPr algn="just"/>
            <a:r>
              <a:rPr lang="en-US" altLang="en-US" dirty="0"/>
              <a:t>In 1990, First embedded Linux system was introduced.</a:t>
            </a:r>
          </a:p>
        </p:txBody>
      </p:sp>
      <p:sp>
        <p:nvSpPr>
          <p:cNvPr id="3" name="Date Placeholder 2"/>
          <p:cNvSpPr>
            <a:spLocks noGrp="1"/>
          </p:cNvSpPr>
          <p:nvPr>
            <p:ph type="dt" sz="half" idx="10"/>
          </p:nvPr>
        </p:nvSpPr>
        <p:spPr/>
        <p:txBody>
          <a:bodyPr/>
          <a:lstStyle/>
          <a:p>
            <a:fld id="{C868B440-E2B2-4B31-86A5-B73D743AFA1E}" type="datetime1">
              <a:rPr lang="en-US" smtClean="0"/>
              <a:t>8/25/2026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7</a:t>
            </a:fld>
            <a:endParaRPr lang="en-US"/>
          </a:p>
        </p:txBody>
      </p:sp>
    </p:spTree>
    <p:extLst>
      <p:ext uri="{BB962C8B-B14F-4D97-AF65-F5344CB8AC3E}">
        <p14:creationId xmlns:p14="http://schemas.microsoft.com/office/powerpoint/2010/main" val="1735846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tLang="en-US" sz="2400" dirty="0"/>
              <a:t>1.4. </a:t>
            </a:r>
            <a:r>
              <a:rPr lang="en-US" altLang="en-US" sz="2400" dirty="0"/>
              <a:t>Characteristics of Embedded Systems</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fontScale="92500"/>
          </a:bodyPr>
          <a:lstStyle/>
          <a:p>
            <a:pPr algn="just"/>
            <a:r>
              <a:rPr lang="en-US" altLang="en-US" dirty="0"/>
              <a:t>Microcontroller or microprocessors are used to design embedded systems.</a:t>
            </a:r>
          </a:p>
          <a:p>
            <a:pPr algn="just"/>
            <a:r>
              <a:rPr lang="en-US" altLang="en-US" dirty="0"/>
              <a:t>All Embedded Systems are task specific.</a:t>
            </a:r>
          </a:p>
          <a:p>
            <a:pPr algn="just"/>
            <a:r>
              <a:rPr lang="en-US" altLang="en-US" dirty="0"/>
              <a:t>Embedded systems are created to perform the task within a certain time frame.</a:t>
            </a:r>
          </a:p>
          <a:p>
            <a:pPr algn="just"/>
            <a:r>
              <a:rPr lang="en-US" dirty="0"/>
              <a:t>They have minimal or no user interface (UI).</a:t>
            </a:r>
          </a:p>
          <a:p>
            <a:pPr algn="just"/>
            <a:r>
              <a:rPr lang="en-US" altLang="en-US" dirty="0"/>
              <a:t>Embedded systems are not always standalone devices.</a:t>
            </a:r>
          </a:p>
          <a:p>
            <a:pPr algn="just"/>
            <a:r>
              <a:rPr lang="en-US" altLang="en-US" dirty="0"/>
              <a:t>Embedded systems are built to achieve certain efficiency levels.</a:t>
            </a:r>
          </a:p>
          <a:p>
            <a:pPr algn="just"/>
            <a:r>
              <a:rPr lang="en-US" altLang="en-US" dirty="0"/>
              <a:t>Embedded systems must rank high on reliability and stability.</a:t>
            </a:r>
          </a:p>
        </p:txBody>
      </p:sp>
      <p:sp>
        <p:nvSpPr>
          <p:cNvPr id="3" name="Date Placeholder 2"/>
          <p:cNvSpPr>
            <a:spLocks noGrp="1"/>
          </p:cNvSpPr>
          <p:nvPr>
            <p:ph type="dt" sz="half" idx="10"/>
          </p:nvPr>
        </p:nvSpPr>
        <p:spPr/>
        <p:txBody>
          <a:bodyPr/>
          <a:lstStyle/>
          <a:p>
            <a:fld id="{C868B440-E2B2-4B31-86A5-B73D743AFA1E}" type="datetime1">
              <a:rPr lang="en-US" smtClean="0"/>
              <a:t>8/25/2026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8</a:t>
            </a:fld>
            <a:endParaRPr lang="en-US"/>
          </a:p>
        </p:txBody>
      </p:sp>
    </p:spTree>
    <p:extLst>
      <p:ext uri="{BB962C8B-B14F-4D97-AF65-F5344CB8AC3E}">
        <p14:creationId xmlns:p14="http://schemas.microsoft.com/office/powerpoint/2010/main" val="433330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tLang="en-US" sz="2400" dirty="0"/>
              <a:t>1.5. </a:t>
            </a:r>
            <a:r>
              <a:rPr lang="en-US" altLang="en-US" sz="2400" dirty="0"/>
              <a:t>Types of Embedded System</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altLang="en-US" dirty="0"/>
              <a:t>Base on Performance and Functional Requirement</a:t>
            </a:r>
          </a:p>
          <a:p>
            <a:pPr lvl="1" algn="just"/>
            <a:r>
              <a:rPr lang="en-US" altLang="en-US" dirty="0"/>
              <a:t>Real Time Embedded Systems</a:t>
            </a:r>
          </a:p>
          <a:p>
            <a:pPr lvl="1" algn="just"/>
            <a:r>
              <a:rPr lang="en-US" altLang="en-US" dirty="0"/>
              <a:t>Stand-Alone Embedded Systems</a:t>
            </a:r>
          </a:p>
          <a:p>
            <a:pPr lvl="1" algn="just"/>
            <a:r>
              <a:rPr lang="en-US" altLang="en-US" dirty="0"/>
              <a:t>Networked Embedded Systems</a:t>
            </a:r>
          </a:p>
          <a:p>
            <a:pPr lvl="1" algn="just"/>
            <a:r>
              <a:rPr lang="en-US" altLang="en-US" dirty="0"/>
              <a:t>Mobile Embedded Systems</a:t>
            </a:r>
          </a:p>
          <a:p>
            <a:pPr lvl="0" algn="just"/>
            <a:r>
              <a:rPr lang="en-US" altLang="en-US" dirty="0">
                <a:solidFill>
                  <a:prstClr val="black"/>
                </a:solidFill>
              </a:rPr>
              <a:t>Base on Microcontroller Performance</a:t>
            </a:r>
          </a:p>
          <a:p>
            <a:pPr lvl="1" algn="just"/>
            <a:r>
              <a:rPr lang="en-US" altLang="en-US" dirty="0"/>
              <a:t>Small Scale Embedded Systems</a:t>
            </a:r>
          </a:p>
          <a:p>
            <a:pPr lvl="1" algn="just"/>
            <a:r>
              <a:rPr lang="en-US" altLang="en-US" dirty="0"/>
              <a:t>Medium Scale Embedded Systems</a:t>
            </a:r>
          </a:p>
          <a:p>
            <a:pPr lvl="1" algn="just"/>
            <a:r>
              <a:rPr lang="en-US" altLang="en-US" dirty="0"/>
              <a:t>Sophisticated Embedded Systems</a:t>
            </a:r>
          </a:p>
        </p:txBody>
      </p:sp>
      <p:sp>
        <p:nvSpPr>
          <p:cNvPr id="3" name="Date Placeholder 2"/>
          <p:cNvSpPr>
            <a:spLocks noGrp="1"/>
          </p:cNvSpPr>
          <p:nvPr>
            <p:ph type="dt" sz="half" idx="10"/>
          </p:nvPr>
        </p:nvSpPr>
        <p:spPr/>
        <p:txBody>
          <a:bodyPr/>
          <a:lstStyle/>
          <a:p>
            <a:fld id="{C868B440-E2B2-4B31-86A5-B73D743AFA1E}" type="datetime1">
              <a:rPr lang="en-US" smtClean="0"/>
              <a:t>8/25/2026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9</a:t>
            </a:fld>
            <a:endParaRPr lang="en-US"/>
          </a:p>
        </p:txBody>
      </p:sp>
    </p:spTree>
    <p:extLst>
      <p:ext uri="{BB962C8B-B14F-4D97-AF65-F5344CB8AC3E}">
        <p14:creationId xmlns:p14="http://schemas.microsoft.com/office/powerpoint/2010/main" val="1623486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Applications of Embedded Systems</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altLang="en-US" dirty="0"/>
              <a:t>Medical</a:t>
            </a:r>
          </a:p>
          <a:p>
            <a:pPr algn="just"/>
            <a:r>
              <a:rPr lang="en-US" altLang="en-US" dirty="0"/>
              <a:t>Manufacturing Industry</a:t>
            </a:r>
          </a:p>
          <a:p>
            <a:pPr algn="just"/>
            <a:r>
              <a:rPr lang="en-US" altLang="en-US" dirty="0"/>
              <a:t>Home Appliances</a:t>
            </a:r>
          </a:p>
          <a:p>
            <a:pPr algn="just"/>
            <a:r>
              <a:rPr lang="en-US" altLang="en-US" dirty="0"/>
              <a:t>Telecommunication</a:t>
            </a:r>
          </a:p>
          <a:p>
            <a:pPr algn="just"/>
            <a:r>
              <a:rPr lang="en-US" altLang="en-US" dirty="0"/>
              <a:t>Banking</a:t>
            </a:r>
          </a:p>
          <a:p>
            <a:pPr algn="just"/>
            <a:r>
              <a:rPr lang="en-US" altLang="en-US" dirty="0"/>
              <a:t>Automotive</a:t>
            </a:r>
          </a:p>
          <a:p>
            <a:pPr algn="just"/>
            <a:r>
              <a:rPr lang="en-US" altLang="en-US" dirty="0"/>
              <a:t>…</a:t>
            </a:r>
          </a:p>
        </p:txBody>
      </p:sp>
      <p:sp>
        <p:nvSpPr>
          <p:cNvPr id="3" name="Date Placeholder 2"/>
          <p:cNvSpPr>
            <a:spLocks noGrp="1"/>
          </p:cNvSpPr>
          <p:nvPr>
            <p:ph type="dt" sz="half" idx="10"/>
          </p:nvPr>
        </p:nvSpPr>
        <p:spPr/>
        <p:txBody>
          <a:bodyPr/>
          <a:lstStyle/>
          <a:p>
            <a:fld id="{C868B440-E2B2-4B31-86A5-B73D743AFA1E}" type="datetime1">
              <a:rPr lang="en-US" smtClean="0"/>
              <a:t>8/25/2026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10</a:t>
            </a:fld>
            <a:endParaRPr lang="en-US"/>
          </a:p>
        </p:txBody>
      </p:sp>
    </p:spTree>
    <p:extLst>
      <p:ext uri="{BB962C8B-B14F-4D97-AF65-F5344CB8AC3E}">
        <p14:creationId xmlns:p14="http://schemas.microsoft.com/office/powerpoint/2010/main" val="562339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spcBef>
                <a:spcPct val="20000"/>
              </a:spcBef>
              <a:defRPr/>
            </a:pPr>
            <a:r>
              <a:rPr lang="vi-VN" sz="2400" b="0" cap="none" dirty="0">
                <a:solidFill>
                  <a:schemeClr val="tx1">
                    <a:lumMod val="95000"/>
                    <a:lumOff val="5000"/>
                  </a:schemeClr>
                </a:solidFill>
                <a:latin typeface="Arial" charset="0"/>
                <a:ea typeface="+mn-ea"/>
                <a:cs typeface="Arial" charset="0"/>
              </a:rPr>
              <a:t>Microcontroller &amp; Microprocessor</a:t>
            </a:r>
            <a:endParaRPr lang="en-US" sz="4400" dirty="0">
              <a:solidFill>
                <a:schemeClr val="tx1">
                  <a:lumMod val="95000"/>
                  <a:lumOff val="5000"/>
                </a:schemeClr>
              </a:solidFill>
            </a:endParaRPr>
          </a:p>
        </p:txBody>
      </p:sp>
      <p:sp>
        <p:nvSpPr>
          <p:cNvPr id="6" name="Title 1"/>
          <p:cNvSpPr>
            <a:spLocks noGrp="1"/>
          </p:cNvSpPr>
          <p:nvPr>
            <p:ph type="body" idx="1"/>
          </p:nvPr>
        </p:nvSpPr>
        <p:spPr/>
        <p:txBody>
          <a:bodyPr/>
          <a:lstStyle/>
          <a:p>
            <a:pPr>
              <a:defRPr/>
            </a:pPr>
            <a:r>
              <a:rPr lang="en-GB" dirty="0">
                <a:latin typeface="Arial" charset="0"/>
                <a:cs typeface="Arial" charset="0"/>
              </a:rPr>
              <a:t>Section 2</a:t>
            </a:r>
            <a:endParaRPr lang="vi-VN" dirty="0">
              <a:latin typeface="Arial" charset="0"/>
              <a:cs typeface="Arial" charset="0"/>
            </a:endParaRPr>
          </a:p>
        </p:txBody>
      </p:sp>
      <p:sp>
        <p:nvSpPr>
          <p:cNvPr id="3" name="Date Placeholder 2"/>
          <p:cNvSpPr>
            <a:spLocks noGrp="1"/>
          </p:cNvSpPr>
          <p:nvPr>
            <p:ph type="dt" sz="half" idx="10"/>
          </p:nvPr>
        </p:nvSpPr>
        <p:spPr/>
        <p:txBody>
          <a:bodyPr/>
          <a:lstStyle/>
          <a:p>
            <a:fld id="{5311EF71-FC9A-4939-859D-AA6007B9A73D}" type="datetime1">
              <a:rPr lang="en-US" smtClean="0"/>
              <a:t>8/25/2026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11</a:t>
            </a:fld>
            <a:endParaRPr lang="en-US"/>
          </a:p>
        </p:txBody>
      </p:sp>
    </p:spTree>
    <p:extLst>
      <p:ext uri="{BB962C8B-B14F-4D97-AF65-F5344CB8AC3E}">
        <p14:creationId xmlns:p14="http://schemas.microsoft.com/office/powerpoint/2010/main" val="2129105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Microcontroller &amp; Microprocessor</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i="1" dirty="0"/>
              <a:t>Definition</a:t>
            </a:r>
            <a:endParaRPr lang="en-US" altLang="en-US" i="1" dirty="0"/>
          </a:p>
          <a:p>
            <a:pPr algn="just"/>
            <a:r>
              <a:rPr lang="en-US" altLang="en-US" i="1" dirty="0"/>
              <a:t>Types</a:t>
            </a:r>
          </a:p>
          <a:p>
            <a:pPr algn="just"/>
            <a:r>
              <a:rPr lang="en-US" altLang="en-US" i="1" dirty="0"/>
              <a:t>History</a:t>
            </a:r>
          </a:p>
          <a:p>
            <a:pPr algn="just"/>
            <a:r>
              <a:rPr lang="en-US" altLang="en-US" i="1" dirty="0"/>
              <a:t>Architecture</a:t>
            </a:r>
          </a:p>
          <a:p>
            <a:pPr algn="just"/>
            <a:r>
              <a:rPr lang="en-US" altLang="en-US" i="1" dirty="0"/>
              <a:t>Features</a:t>
            </a:r>
          </a:p>
          <a:p>
            <a:pPr algn="just"/>
            <a:r>
              <a:rPr lang="en-US" altLang="en-US" i="1" dirty="0"/>
              <a:t>Applications</a:t>
            </a:r>
          </a:p>
          <a:p>
            <a:pPr algn="just"/>
            <a:r>
              <a:rPr lang="en-US" altLang="en-US" i="1" dirty="0"/>
              <a:t>Key between Microcontroller and Microprocessor</a:t>
            </a:r>
          </a:p>
          <a:p>
            <a:pPr marL="0" indent="0" algn="just">
              <a:buNone/>
            </a:pPr>
            <a:endParaRPr lang="en-US" altLang="en-US" i="1" dirty="0"/>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12</a:t>
            </a:fld>
            <a:endParaRPr lang="en-US"/>
          </a:p>
        </p:txBody>
      </p:sp>
    </p:spTree>
    <p:extLst>
      <p:ext uri="{BB962C8B-B14F-4D97-AF65-F5344CB8AC3E}">
        <p14:creationId xmlns:p14="http://schemas.microsoft.com/office/powerpoint/2010/main" val="2568071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Definition</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dirty="0"/>
              <a:t>A </a:t>
            </a:r>
            <a:r>
              <a:rPr lang="en-US" b="1" dirty="0"/>
              <a:t>microcontroller</a:t>
            </a:r>
            <a:r>
              <a:rPr lang="en-US" dirty="0"/>
              <a:t> is a compact integrated circuit designed to govern a specific operation in an embedded system.</a:t>
            </a:r>
          </a:p>
          <a:p>
            <a:pPr algn="just"/>
            <a:r>
              <a:rPr lang="en-US" dirty="0"/>
              <a:t>A </a:t>
            </a:r>
            <a:r>
              <a:rPr lang="en-US" b="1" dirty="0"/>
              <a:t>microprocessor</a:t>
            </a:r>
            <a:r>
              <a:rPr lang="en-US" dirty="0"/>
              <a:t> is a controlling unit of a micro-computer wrapped inside a small chip. It performs Arithmetic Logical Unit (ALU) operations and communicates with the other devices connected with it.</a:t>
            </a: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13</a:t>
            </a:fld>
            <a:endParaRPr lang="en-US"/>
          </a:p>
        </p:txBody>
      </p:sp>
    </p:spTree>
    <p:extLst>
      <p:ext uri="{BB962C8B-B14F-4D97-AF65-F5344CB8AC3E}">
        <p14:creationId xmlns:p14="http://schemas.microsoft.com/office/powerpoint/2010/main" val="1224538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i="1" dirty="0"/>
              <a:t>Types</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b="1" dirty="0"/>
              <a:t>Types of Microcontroller</a:t>
            </a:r>
          </a:p>
          <a:p>
            <a:pPr lvl="1" algn="just"/>
            <a:endParaRPr lang="en-US" dirty="0"/>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14</a:t>
            </a:fld>
            <a:endParaRPr lang="en-US"/>
          </a:p>
        </p:txBody>
      </p:sp>
      <p:pic>
        <p:nvPicPr>
          <p:cNvPr id="9" name="Picture 8" descr="Diagram&#10;&#10;Description automatically generated">
            <a:extLst>
              <a:ext uri="{FF2B5EF4-FFF2-40B4-BE49-F238E27FC236}">
                <a16:creationId xmlns:a16="http://schemas.microsoft.com/office/drawing/2014/main" id="{0B5541F9-87C5-4D86-A038-B280B5FCB25F}"/>
              </a:ext>
            </a:extLst>
          </p:cNvPr>
          <p:cNvPicPr>
            <a:picLocks noChangeAspect="1"/>
          </p:cNvPicPr>
          <p:nvPr/>
        </p:nvPicPr>
        <p:blipFill>
          <a:blip r:embed="rId3"/>
          <a:stretch>
            <a:fillRect/>
          </a:stretch>
        </p:blipFill>
        <p:spPr>
          <a:xfrm>
            <a:off x="1248697" y="1668302"/>
            <a:ext cx="6271305" cy="2691197"/>
          </a:xfrm>
          <a:prstGeom prst="rect">
            <a:avLst/>
          </a:prstGeom>
        </p:spPr>
      </p:pic>
    </p:spTree>
    <p:extLst>
      <p:ext uri="{BB962C8B-B14F-4D97-AF65-F5344CB8AC3E}">
        <p14:creationId xmlns:p14="http://schemas.microsoft.com/office/powerpoint/2010/main" val="970512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i="1" dirty="0"/>
              <a:t>Types</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a:bodyPr>
          <a:lstStyle/>
          <a:p>
            <a:pPr algn="just"/>
            <a:r>
              <a:rPr lang="en-US" b="1" dirty="0"/>
              <a:t>Types of Microprocessor</a:t>
            </a:r>
          </a:p>
          <a:p>
            <a:pPr lvl="1" algn="just"/>
            <a:r>
              <a:rPr lang="en-US" dirty="0"/>
              <a:t>Scalar and Superscalar Processors</a:t>
            </a:r>
          </a:p>
          <a:p>
            <a:pPr lvl="1" algn="just"/>
            <a:r>
              <a:rPr lang="en-US" dirty="0"/>
              <a:t>Vector Processors</a:t>
            </a:r>
          </a:p>
          <a:p>
            <a:pPr lvl="1" algn="just"/>
            <a:r>
              <a:rPr lang="en-US" dirty="0"/>
              <a:t>Array processor</a:t>
            </a:r>
          </a:p>
          <a:p>
            <a:pPr lvl="1" algn="just"/>
            <a:r>
              <a:rPr lang="en-US" dirty="0"/>
              <a:t>Digital Signal Processors</a:t>
            </a:r>
          </a:p>
          <a:p>
            <a:pPr lvl="1" algn="just"/>
            <a:r>
              <a:rPr lang="en-US" dirty="0"/>
              <a:t>RISC Processors</a:t>
            </a:r>
          </a:p>
          <a:p>
            <a:pPr lvl="1" algn="just"/>
            <a:r>
              <a:rPr lang="en-US" dirty="0"/>
              <a:t>CISC Processors</a:t>
            </a:r>
          </a:p>
          <a:p>
            <a:pPr lvl="1" algn="just"/>
            <a:r>
              <a:rPr lang="en-US" dirty="0"/>
              <a:t>ASIC Processors</a:t>
            </a: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15</a:t>
            </a:fld>
            <a:endParaRPr lang="en-US"/>
          </a:p>
        </p:txBody>
      </p:sp>
    </p:spTree>
    <p:extLst>
      <p:ext uri="{BB962C8B-B14F-4D97-AF65-F5344CB8AC3E}">
        <p14:creationId xmlns:p14="http://schemas.microsoft.com/office/powerpoint/2010/main" val="1335458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lang="en-US"/>
              <a:t>History: Processor Evolution</a:t>
            </a: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16</a:t>
            </a:fld>
            <a:endParaRPr lang="en-US"/>
          </a:p>
        </p:txBody>
      </p:sp>
      <p:sp>
        <p:nvSpPr>
          <p:cNvPr id="6" name="TextBox 5"/>
          <p:cNvSpPr txBox="1"/>
          <p:nvPr/>
        </p:nvSpPr>
        <p:spPr>
          <a:xfrm>
            <a:off x="502920" y="795528"/>
            <a:ext cx="3017520" cy="256032"/>
          </a:xfrm>
          <a:prstGeom prst="rect">
            <a:avLst/>
          </a:prstGeom>
          <a:noFill/>
        </p:spPr>
        <p:txBody>
          <a:bodyPr wrap="square" lIns="27432" tIns="18288" rIns="27432" bIns="18288" anchor="ctr">
            <a:spAutoFit/>
          </a:bodyPr>
          <a:lstStyle/>
          <a:p>
            <a:pPr algn="l">
              <a:spcBef>
                <a:spcPts val="0"/>
              </a:spcBef>
              <a:spcAft>
                <a:spcPts val="0"/>
              </a:spcAft>
            </a:pPr>
            <a:r>
              <a:rPr sz="1400" b="1">
                <a:solidFill>
                  <a:srgbClr val="F7941D"/>
                </a:solidFill>
                <a:latin typeface="Arial"/>
              </a:rPr>
              <a:t>EARLY FOUNDATIONS</a:t>
            </a:r>
          </a:p>
        </p:txBody>
      </p:sp>
      <p:cxnSp>
        <p:nvCxnSpPr>
          <p:cNvPr id="7" name="Connector 6"/>
          <p:cNvCxnSpPr/>
          <p:nvPr/>
        </p:nvCxnSpPr>
        <p:spPr>
          <a:xfrm>
            <a:off x="658368" y="1627632"/>
            <a:ext cx="7827264" cy="0"/>
          </a:xfrm>
          <a:prstGeom prst="line">
            <a:avLst/>
          </a:prstGeom>
          <a:ln w="28575">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69848" y="1490472"/>
            <a:ext cx="0" cy="27432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14400" y="1472184"/>
            <a:ext cx="310896" cy="310896"/>
          </a:xfrm>
          <a:prstGeom prst="ellipse">
            <a:avLst/>
          </a:prstGeom>
          <a:solidFill>
            <a:srgbClr val="F7941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1097280"/>
            <a:ext cx="822960" cy="292608"/>
          </a:xfrm>
          <a:prstGeom prst="rect">
            <a:avLst/>
          </a:prstGeom>
          <a:noFill/>
        </p:spPr>
        <p:txBody>
          <a:bodyPr wrap="square" lIns="27432" tIns="18288" rIns="27432" bIns="18288" anchor="ctr">
            <a:spAutoFit/>
          </a:bodyPr>
          <a:lstStyle/>
          <a:p>
            <a:pPr algn="ctr">
              <a:spcBef>
                <a:spcPts val="0"/>
              </a:spcBef>
              <a:spcAft>
                <a:spcPts val="0"/>
              </a:spcAft>
            </a:pPr>
            <a:r>
              <a:rPr sz="1800" b="1">
                <a:solidFill>
                  <a:srgbClr val="F7941D"/>
                </a:solidFill>
                <a:latin typeface="Arial"/>
              </a:rPr>
              <a:t>1959</a:t>
            </a:r>
          </a:p>
        </p:txBody>
      </p:sp>
      <p:sp>
        <p:nvSpPr>
          <p:cNvPr id="11" name="TextBox 10"/>
          <p:cNvSpPr txBox="1"/>
          <p:nvPr/>
        </p:nvSpPr>
        <p:spPr>
          <a:xfrm>
            <a:off x="246888" y="1856232"/>
            <a:ext cx="1645920" cy="329184"/>
          </a:xfrm>
          <a:prstGeom prst="rect">
            <a:avLst/>
          </a:prstGeom>
          <a:noFill/>
        </p:spPr>
        <p:txBody>
          <a:bodyPr wrap="square" lIns="27432" tIns="18288" rIns="27432" bIns="18288" anchor="ctr">
            <a:spAutoFit/>
          </a:bodyPr>
          <a:lstStyle/>
          <a:p>
            <a:pPr algn="ctr">
              <a:spcBef>
                <a:spcPts val="0"/>
              </a:spcBef>
              <a:spcAft>
                <a:spcPts val="0"/>
              </a:spcAft>
            </a:pPr>
            <a:r>
              <a:rPr sz="1400" b="1">
                <a:solidFill>
                  <a:srgbClr val="282828"/>
                </a:solidFill>
                <a:latin typeface="Arial"/>
              </a:rPr>
              <a:t>MOSFET</a:t>
            </a:r>
          </a:p>
        </p:txBody>
      </p:sp>
      <p:sp>
        <p:nvSpPr>
          <p:cNvPr id="12" name="TextBox 11"/>
          <p:cNvSpPr txBox="1"/>
          <p:nvPr/>
        </p:nvSpPr>
        <p:spPr>
          <a:xfrm>
            <a:off x="246888" y="2185416"/>
            <a:ext cx="1645920" cy="502920"/>
          </a:xfrm>
          <a:prstGeom prst="rect">
            <a:avLst/>
          </a:prstGeom>
          <a:noFill/>
        </p:spPr>
        <p:txBody>
          <a:bodyPr wrap="square" lIns="27432" tIns="18288" rIns="27432" bIns="18288" anchor="ctr">
            <a:spAutoFit/>
          </a:bodyPr>
          <a:lstStyle/>
          <a:p>
            <a:pPr algn="ctr">
              <a:spcBef>
                <a:spcPts val="0"/>
              </a:spcBef>
              <a:spcAft>
                <a:spcPts val="0"/>
              </a:spcAft>
            </a:pPr>
            <a:r>
              <a:rPr sz="1400" b="0">
                <a:solidFill>
                  <a:srgbClr val="5F5F5F"/>
                </a:solidFill>
                <a:latin typeface="Arial"/>
              </a:rPr>
              <a:t>Enabling transistor technology</a:t>
            </a:r>
          </a:p>
        </p:txBody>
      </p:sp>
      <p:cxnSp>
        <p:nvCxnSpPr>
          <p:cNvPr id="13" name="Connector 12"/>
          <p:cNvCxnSpPr/>
          <p:nvPr/>
        </p:nvCxnSpPr>
        <p:spPr>
          <a:xfrm>
            <a:off x="3401568" y="1490472"/>
            <a:ext cx="0" cy="27432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246120" y="1472184"/>
            <a:ext cx="310896" cy="310896"/>
          </a:xfrm>
          <a:prstGeom prst="ellipse">
            <a:avLst/>
          </a:prstGeom>
          <a:solidFill>
            <a:srgbClr val="F7941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90087" y="1097280"/>
            <a:ext cx="822960" cy="292608"/>
          </a:xfrm>
          <a:prstGeom prst="rect">
            <a:avLst/>
          </a:prstGeom>
          <a:noFill/>
        </p:spPr>
        <p:txBody>
          <a:bodyPr wrap="square" lIns="27432" tIns="18288" rIns="27432" bIns="18288" anchor="ctr">
            <a:spAutoFit/>
          </a:bodyPr>
          <a:lstStyle/>
          <a:p>
            <a:pPr algn="ctr">
              <a:spcBef>
                <a:spcPts val="0"/>
              </a:spcBef>
              <a:spcAft>
                <a:spcPts val="0"/>
              </a:spcAft>
            </a:pPr>
            <a:r>
              <a:rPr sz="1800" b="1">
                <a:solidFill>
                  <a:srgbClr val="F7941D"/>
                </a:solidFill>
                <a:latin typeface="Arial"/>
              </a:rPr>
              <a:t>1971</a:t>
            </a:r>
          </a:p>
        </p:txBody>
      </p:sp>
      <p:sp>
        <p:nvSpPr>
          <p:cNvPr id="16" name="TextBox 15"/>
          <p:cNvSpPr txBox="1"/>
          <p:nvPr/>
        </p:nvSpPr>
        <p:spPr>
          <a:xfrm>
            <a:off x="2578608" y="1856232"/>
            <a:ext cx="1645920" cy="329184"/>
          </a:xfrm>
          <a:prstGeom prst="rect">
            <a:avLst/>
          </a:prstGeom>
          <a:noFill/>
        </p:spPr>
        <p:txBody>
          <a:bodyPr wrap="square" lIns="27432" tIns="18288" rIns="27432" bIns="18288" anchor="ctr">
            <a:spAutoFit/>
          </a:bodyPr>
          <a:lstStyle/>
          <a:p>
            <a:pPr algn="ctr">
              <a:spcBef>
                <a:spcPts val="0"/>
              </a:spcBef>
              <a:spcAft>
                <a:spcPts val="0"/>
              </a:spcAft>
            </a:pPr>
            <a:r>
              <a:rPr sz="1400" b="1">
                <a:solidFill>
                  <a:srgbClr val="282828"/>
                </a:solidFill>
                <a:latin typeface="Arial"/>
              </a:rPr>
              <a:t>Intel 4004</a:t>
            </a:r>
          </a:p>
        </p:txBody>
      </p:sp>
      <p:sp>
        <p:nvSpPr>
          <p:cNvPr id="17" name="TextBox 16"/>
          <p:cNvSpPr txBox="1"/>
          <p:nvPr/>
        </p:nvSpPr>
        <p:spPr>
          <a:xfrm>
            <a:off x="2578608" y="2185416"/>
            <a:ext cx="1645920" cy="502920"/>
          </a:xfrm>
          <a:prstGeom prst="rect">
            <a:avLst/>
          </a:prstGeom>
          <a:noFill/>
        </p:spPr>
        <p:txBody>
          <a:bodyPr wrap="square" lIns="27432" tIns="18288" rIns="27432" bIns="18288" anchor="ctr">
            <a:spAutoFit/>
          </a:bodyPr>
          <a:lstStyle/>
          <a:p>
            <a:pPr algn="ctr">
              <a:spcBef>
                <a:spcPts val="0"/>
              </a:spcBef>
              <a:spcAft>
                <a:spcPts val="0"/>
              </a:spcAft>
            </a:pPr>
            <a:r>
              <a:rPr sz="1400" b="0">
                <a:solidFill>
                  <a:srgbClr val="5F5F5F"/>
                </a:solidFill>
                <a:latin typeface="Arial"/>
              </a:rPr>
              <a:t>First-generation microprocessor</a:t>
            </a:r>
          </a:p>
        </p:txBody>
      </p:sp>
      <p:cxnSp>
        <p:nvCxnSpPr>
          <p:cNvPr id="18" name="Connector 17"/>
          <p:cNvCxnSpPr/>
          <p:nvPr/>
        </p:nvCxnSpPr>
        <p:spPr>
          <a:xfrm>
            <a:off x="5733288" y="1490472"/>
            <a:ext cx="0" cy="27432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577840" y="1472184"/>
            <a:ext cx="310896" cy="310896"/>
          </a:xfrm>
          <a:prstGeom prst="ellipse">
            <a:avLst/>
          </a:prstGeom>
          <a:solidFill>
            <a:srgbClr val="F7941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21807" y="1097280"/>
            <a:ext cx="822960" cy="292608"/>
          </a:xfrm>
          <a:prstGeom prst="rect">
            <a:avLst/>
          </a:prstGeom>
          <a:noFill/>
        </p:spPr>
        <p:txBody>
          <a:bodyPr wrap="square" lIns="27432" tIns="18288" rIns="27432" bIns="18288" anchor="ctr">
            <a:spAutoFit/>
          </a:bodyPr>
          <a:lstStyle/>
          <a:p>
            <a:pPr algn="ctr">
              <a:spcBef>
                <a:spcPts val="0"/>
              </a:spcBef>
              <a:spcAft>
                <a:spcPts val="0"/>
              </a:spcAft>
            </a:pPr>
            <a:r>
              <a:rPr sz="1800" b="1">
                <a:solidFill>
                  <a:srgbClr val="F7941D"/>
                </a:solidFill>
                <a:latin typeface="Arial"/>
              </a:rPr>
              <a:t>1973</a:t>
            </a:r>
          </a:p>
        </p:txBody>
      </p:sp>
      <p:sp>
        <p:nvSpPr>
          <p:cNvPr id="21" name="TextBox 20"/>
          <p:cNvSpPr txBox="1"/>
          <p:nvPr/>
        </p:nvSpPr>
        <p:spPr>
          <a:xfrm>
            <a:off x="4910327" y="1856232"/>
            <a:ext cx="1645920" cy="329184"/>
          </a:xfrm>
          <a:prstGeom prst="rect">
            <a:avLst/>
          </a:prstGeom>
          <a:noFill/>
        </p:spPr>
        <p:txBody>
          <a:bodyPr wrap="square" lIns="27432" tIns="18288" rIns="27432" bIns="18288" anchor="ctr">
            <a:spAutoFit/>
          </a:bodyPr>
          <a:lstStyle/>
          <a:p>
            <a:pPr algn="ctr">
              <a:spcBef>
                <a:spcPts val="0"/>
              </a:spcBef>
              <a:spcAft>
                <a:spcPts val="0"/>
              </a:spcAft>
            </a:pPr>
            <a:r>
              <a:rPr sz="1400" b="1">
                <a:solidFill>
                  <a:srgbClr val="282828"/>
                </a:solidFill>
                <a:latin typeface="Arial"/>
              </a:rPr>
              <a:t>8-bit processors</a:t>
            </a:r>
          </a:p>
        </p:txBody>
      </p:sp>
      <p:sp>
        <p:nvSpPr>
          <p:cNvPr id="22" name="TextBox 21"/>
          <p:cNvSpPr txBox="1"/>
          <p:nvPr/>
        </p:nvSpPr>
        <p:spPr>
          <a:xfrm>
            <a:off x="4910327" y="2185416"/>
            <a:ext cx="1645920" cy="502920"/>
          </a:xfrm>
          <a:prstGeom prst="rect">
            <a:avLst/>
          </a:prstGeom>
          <a:noFill/>
        </p:spPr>
        <p:txBody>
          <a:bodyPr wrap="square" lIns="27432" tIns="18288" rIns="27432" bIns="18288" anchor="ctr">
            <a:spAutoFit/>
          </a:bodyPr>
          <a:lstStyle/>
          <a:p>
            <a:pPr algn="ctr">
              <a:spcBef>
                <a:spcPts val="0"/>
              </a:spcBef>
              <a:spcAft>
                <a:spcPts val="0"/>
              </a:spcAft>
            </a:pPr>
            <a:r>
              <a:rPr sz="1400" b="0">
                <a:solidFill>
                  <a:srgbClr val="5F5F5F"/>
                </a:solidFill>
                <a:latin typeface="Arial"/>
              </a:rPr>
              <a:t>Motorola 6800/6801; Intel 8085</a:t>
            </a:r>
          </a:p>
        </p:txBody>
      </p:sp>
      <p:cxnSp>
        <p:nvCxnSpPr>
          <p:cNvPr id="23" name="Connector 22"/>
          <p:cNvCxnSpPr/>
          <p:nvPr/>
        </p:nvCxnSpPr>
        <p:spPr>
          <a:xfrm>
            <a:off x="8065008" y="1490472"/>
            <a:ext cx="0" cy="27432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909560" y="1472184"/>
            <a:ext cx="310896" cy="310896"/>
          </a:xfrm>
          <a:prstGeom prst="ellipse">
            <a:avLst/>
          </a:prstGeom>
          <a:solidFill>
            <a:srgbClr val="F7941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53528" y="1097280"/>
            <a:ext cx="822960" cy="292608"/>
          </a:xfrm>
          <a:prstGeom prst="rect">
            <a:avLst/>
          </a:prstGeom>
          <a:noFill/>
        </p:spPr>
        <p:txBody>
          <a:bodyPr wrap="square" lIns="27432" tIns="18288" rIns="27432" bIns="18288" anchor="ctr">
            <a:spAutoFit/>
          </a:bodyPr>
          <a:lstStyle/>
          <a:p>
            <a:pPr algn="ctr">
              <a:spcBef>
                <a:spcPts val="0"/>
              </a:spcBef>
              <a:spcAft>
                <a:spcPts val="0"/>
              </a:spcAft>
            </a:pPr>
            <a:r>
              <a:rPr sz="1800" b="1">
                <a:solidFill>
                  <a:srgbClr val="F7941D"/>
                </a:solidFill>
                <a:latin typeface="Arial"/>
              </a:rPr>
              <a:t>1976</a:t>
            </a:r>
          </a:p>
        </p:txBody>
      </p:sp>
      <p:sp>
        <p:nvSpPr>
          <p:cNvPr id="26" name="TextBox 25"/>
          <p:cNvSpPr txBox="1"/>
          <p:nvPr/>
        </p:nvSpPr>
        <p:spPr>
          <a:xfrm>
            <a:off x="7242048" y="1856232"/>
            <a:ext cx="1645920" cy="329184"/>
          </a:xfrm>
          <a:prstGeom prst="rect">
            <a:avLst/>
          </a:prstGeom>
          <a:noFill/>
        </p:spPr>
        <p:txBody>
          <a:bodyPr wrap="square" lIns="27432" tIns="18288" rIns="27432" bIns="18288" anchor="ctr">
            <a:spAutoFit/>
          </a:bodyPr>
          <a:lstStyle/>
          <a:p>
            <a:pPr algn="ctr">
              <a:spcBef>
                <a:spcPts val="0"/>
              </a:spcBef>
              <a:spcAft>
                <a:spcPts val="0"/>
              </a:spcAft>
            </a:pPr>
            <a:r>
              <a:rPr sz="1400" b="1">
                <a:solidFill>
                  <a:srgbClr val="282828"/>
                </a:solidFill>
                <a:latin typeface="Arial"/>
              </a:rPr>
              <a:t>Intel 8048</a:t>
            </a:r>
          </a:p>
        </p:txBody>
      </p:sp>
      <p:sp>
        <p:nvSpPr>
          <p:cNvPr id="27" name="TextBox 26"/>
          <p:cNvSpPr txBox="1"/>
          <p:nvPr/>
        </p:nvSpPr>
        <p:spPr>
          <a:xfrm>
            <a:off x="7242048" y="2185416"/>
            <a:ext cx="1645920" cy="502920"/>
          </a:xfrm>
          <a:prstGeom prst="rect">
            <a:avLst/>
          </a:prstGeom>
          <a:noFill/>
        </p:spPr>
        <p:txBody>
          <a:bodyPr wrap="square" lIns="27432" tIns="18288" rIns="27432" bIns="18288" anchor="ctr">
            <a:spAutoFit/>
          </a:bodyPr>
          <a:lstStyle/>
          <a:p>
            <a:pPr algn="ctr">
              <a:spcBef>
                <a:spcPts val="0"/>
              </a:spcBef>
              <a:spcAft>
                <a:spcPts val="0"/>
              </a:spcAft>
            </a:pPr>
            <a:r>
              <a:rPr sz="1400" b="0">
                <a:solidFill>
                  <a:srgbClr val="5F5F5F"/>
                </a:solidFill>
                <a:latin typeface="Arial"/>
              </a:rPr>
              <a:t>Early microcontroller milestone</a:t>
            </a:r>
          </a:p>
        </p:txBody>
      </p:sp>
      <p:sp>
        <p:nvSpPr>
          <p:cNvPr id="28" name="TextBox 27"/>
          <p:cNvSpPr txBox="1"/>
          <p:nvPr/>
        </p:nvSpPr>
        <p:spPr>
          <a:xfrm>
            <a:off x="502920" y="2670048"/>
            <a:ext cx="3474720" cy="256032"/>
          </a:xfrm>
          <a:prstGeom prst="rect">
            <a:avLst/>
          </a:prstGeom>
          <a:noFill/>
        </p:spPr>
        <p:txBody>
          <a:bodyPr wrap="square" lIns="27432" tIns="18288" rIns="27432" bIns="18288" anchor="ctr">
            <a:spAutoFit/>
          </a:bodyPr>
          <a:lstStyle/>
          <a:p>
            <a:pPr algn="l">
              <a:spcBef>
                <a:spcPts val="0"/>
              </a:spcBef>
              <a:spcAft>
                <a:spcPts val="0"/>
              </a:spcAft>
            </a:pPr>
            <a:r>
              <a:rPr sz="1400" b="1">
                <a:solidFill>
                  <a:srgbClr val="F7941D"/>
                </a:solidFill>
                <a:latin typeface="Arial"/>
              </a:rPr>
              <a:t>INTEGRATION &amp; SCALE</a:t>
            </a:r>
          </a:p>
        </p:txBody>
      </p:sp>
      <p:cxnSp>
        <p:nvCxnSpPr>
          <p:cNvPr id="29" name="Connector 28"/>
          <p:cNvCxnSpPr/>
          <p:nvPr/>
        </p:nvCxnSpPr>
        <p:spPr>
          <a:xfrm>
            <a:off x="658368" y="3493008"/>
            <a:ext cx="7827264" cy="0"/>
          </a:xfrm>
          <a:prstGeom prst="line">
            <a:avLst/>
          </a:prstGeom>
          <a:ln w="28575">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69848" y="3355848"/>
            <a:ext cx="0" cy="27432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14400" y="3337560"/>
            <a:ext cx="310896" cy="310896"/>
          </a:xfrm>
          <a:prstGeom prst="ellipse">
            <a:avLst/>
          </a:prstGeom>
          <a:solidFill>
            <a:srgbClr val="F7941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 y="2962656"/>
            <a:ext cx="822960" cy="292608"/>
          </a:xfrm>
          <a:prstGeom prst="rect">
            <a:avLst/>
          </a:prstGeom>
          <a:noFill/>
        </p:spPr>
        <p:txBody>
          <a:bodyPr wrap="square" lIns="27432" tIns="18288" rIns="27432" bIns="18288" anchor="ctr">
            <a:spAutoFit/>
          </a:bodyPr>
          <a:lstStyle/>
          <a:p>
            <a:pPr algn="ctr">
              <a:spcBef>
                <a:spcPts val="0"/>
              </a:spcBef>
              <a:spcAft>
                <a:spcPts val="0"/>
              </a:spcAft>
            </a:pPr>
            <a:r>
              <a:rPr sz="1800" b="1">
                <a:solidFill>
                  <a:srgbClr val="F7941D"/>
                </a:solidFill>
                <a:latin typeface="Arial"/>
              </a:rPr>
              <a:t>1978</a:t>
            </a:r>
          </a:p>
        </p:txBody>
      </p:sp>
      <p:sp>
        <p:nvSpPr>
          <p:cNvPr id="33" name="TextBox 32"/>
          <p:cNvSpPr txBox="1"/>
          <p:nvPr/>
        </p:nvSpPr>
        <p:spPr>
          <a:xfrm>
            <a:off x="246888" y="3721608"/>
            <a:ext cx="1645920" cy="329184"/>
          </a:xfrm>
          <a:prstGeom prst="rect">
            <a:avLst/>
          </a:prstGeom>
          <a:noFill/>
        </p:spPr>
        <p:txBody>
          <a:bodyPr wrap="square" lIns="27432" tIns="18288" rIns="27432" bIns="18288" anchor="ctr">
            <a:spAutoFit/>
          </a:bodyPr>
          <a:lstStyle/>
          <a:p>
            <a:pPr algn="ctr">
              <a:spcBef>
                <a:spcPts val="0"/>
              </a:spcBef>
              <a:spcAft>
                <a:spcPts val="0"/>
              </a:spcAft>
            </a:pPr>
            <a:r>
              <a:rPr sz="1400" b="1">
                <a:solidFill>
                  <a:srgbClr val="282828"/>
                </a:solidFill>
                <a:latin typeface="Arial"/>
              </a:rPr>
              <a:t>Intel 8008</a:t>
            </a:r>
          </a:p>
        </p:txBody>
      </p:sp>
      <p:sp>
        <p:nvSpPr>
          <p:cNvPr id="34" name="TextBox 33"/>
          <p:cNvSpPr txBox="1"/>
          <p:nvPr/>
        </p:nvSpPr>
        <p:spPr>
          <a:xfrm>
            <a:off x="246888" y="4050791"/>
            <a:ext cx="1645920" cy="502920"/>
          </a:xfrm>
          <a:prstGeom prst="rect">
            <a:avLst/>
          </a:prstGeom>
          <a:noFill/>
        </p:spPr>
        <p:txBody>
          <a:bodyPr wrap="square" lIns="27432" tIns="18288" rIns="27432" bIns="18288" anchor="ctr">
            <a:spAutoFit/>
          </a:bodyPr>
          <a:lstStyle/>
          <a:p>
            <a:pPr algn="ctr">
              <a:spcBef>
                <a:spcPts val="0"/>
              </a:spcBef>
              <a:spcAft>
                <a:spcPts val="0"/>
              </a:spcAft>
            </a:pPr>
            <a:r>
              <a:rPr sz="1400" b="0">
                <a:solidFill>
                  <a:srgbClr val="5F5F5F"/>
                </a:solidFill>
                <a:latin typeface="Arial"/>
              </a:rPr>
              <a:t>Third-generation milestone</a:t>
            </a:r>
          </a:p>
        </p:txBody>
      </p:sp>
      <p:cxnSp>
        <p:nvCxnSpPr>
          <p:cNvPr id="35" name="Connector 34"/>
          <p:cNvCxnSpPr/>
          <p:nvPr/>
        </p:nvCxnSpPr>
        <p:spPr>
          <a:xfrm>
            <a:off x="3401568" y="3355848"/>
            <a:ext cx="0" cy="27432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3246120" y="3337560"/>
            <a:ext cx="310896" cy="310896"/>
          </a:xfrm>
          <a:prstGeom prst="ellipse">
            <a:avLst/>
          </a:prstGeom>
          <a:solidFill>
            <a:srgbClr val="F7941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990087" y="2962656"/>
            <a:ext cx="822960" cy="292608"/>
          </a:xfrm>
          <a:prstGeom prst="rect">
            <a:avLst/>
          </a:prstGeom>
          <a:noFill/>
        </p:spPr>
        <p:txBody>
          <a:bodyPr wrap="square" lIns="27432" tIns="18288" rIns="27432" bIns="18288" anchor="ctr">
            <a:spAutoFit/>
          </a:bodyPr>
          <a:lstStyle/>
          <a:p>
            <a:pPr algn="ctr">
              <a:spcBef>
                <a:spcPts val="0"/>
              </a:spcBef>
              <a:spcAft>
                <a:spcPts val="0"/>
              </a:spcAft>
            </a:pPr>
            <a:r>
              <a:rPr sz="1800" b="1">
                <a:solidFill>
                  <a:srgbClr val="F7941D"/>
                </a:solidFill>
                <a:latin typeface="Arial"/>
              </a:rPr>
              <a:t>1980</a:t>
            </a:r>
          </a:p>
        </p:txBody>
      </p:sp>
      <p:sp>
        <p:nvSpPr>
          <p:cNvPr id="38" name="TextBox 37"/>
          <p:cNvSpPr txBox="1"/>
          <p:nvPr/>
        </p:nvSpPr>
        <p:spPr>
          <a:xfrm>
            <a:off x="2578608" y="3721608"/>
            <a:ext cx="1645920" cy="329184"/>
          </a:xfrm>
          <a:prstGeom prst="rect">
            <a:avLst/>
          </a:prstGeom>
          <a:noFill/>
        </p:spPr>
        <p:txBody>
          <a:bodyPr wrap="square" lIns="27432" tIns="18288" rIns="27432" bIns="18288" anchor="ctr">
            <a:spAutoFit/>
          </a:bodyPr>
          <a:lstStyle/>
          <a:p>
            <a:pPr algn="ctr">
              <a:spcBef>
                <a:spcPts val="0"/>
              </a:spcBef>
              <a:spcAft>
                <a:spcPts val="0"/>
              </a:spcAft>
            </a:pPr>
            <a:r>
              <a:rPr sz="1400" b="1">
                <a:solidFill>
                  <a:srgbClr val="282828"/>
                </a:solidFill>
                <a:latin typeface="Arial"/>
              </a:rPr>
              <a:t>Flash-memory MCU</a:t>
            </a:r>
          </a:p>
        </p:txBody>
      </p:sp>
      <p:sp>
        <p:nvSpPr>
          <p:cNvPr id="39" name="TextBox 38"/>
          <p:cNvSpPr txBox="1"/>
          <p:nvPr/>
        </p:nvSpPr>
        <p:spPr>
          <a:xfrm>
            <a:off x="2578608" y="4050791"/>
            <a:ext cx="1645920" cy="502920"/>
          </a:xfrm>
          <a:prstGeom prst="rect">
            <a:avLst/>
          </a:prstGeom>
          <a:noFill/>
        </p:spPr>
        <p:txBody>
          <a:bodyPr wrap="square" lIns="27432" tIns="18288" rIns="27432" bIns="18288" anchor="ctr">
            <a:spAutoFit/>
          </a:bodyPr>
          <a:lstStyle/>
          <a:p>
            <a:pPr algn="ctr">
              <a:spcBef>
                <a:spcPts val="0"/>
              </a:spcBef>
              <a:spcAft>
                <a:spcPts val="0"/>
              </a:spcAft>
            </a:pPr>
            <a:r>
              <a:rPr sz="1400" b="0">
                <a:solidFill>
                  <a:srgbClr val="5F5F5F"/>
                </a:solidFill>
                <a:latin typeface="Arial"/>
              </a:rPr>
              <a:t>Introduced by Atmel</a:t>
            </a:r>
          </a:p>
        </p:txBody>
      </p:sp>
      <p:cxnSp>
        <p:nvCxnSpPr>
          <p:cNvPr id="40" name="Connector 39"/>
          <p:cNvCxnSpPr/>
          <p:nvPr/>
        </p:nvCxnSpPr>
        <p:spPr>
          <a:xfrm>
            <a:off x="5733288" y="3355848"/>
            <a:ext cx="0" cy="27432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5577840" y="3337560"/>
            <a:ext cx="310896" cy="310896"/>
          </a:xfrm>
          <a:prstGeom prst="ellipse">
            <a:avLst/>
          </a:prstGeom>
          <a:solidFill>
            <a:srgbClr val="F7941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321807" y="2962656"/>
            <a:ext cx="822960" cy="292608"/>
          </a:xfrm>
          <a:prstGeom prst="rect">
            <a:avLst/>
          </a:prstGeom>
          <a:noFill/>
        </p:spPr>
        <p:txBody>
          <a:bodyPr wrap="square" lIns="27432" tIns="18288" rIns="27432" bIns="18288" anchor="ctr">
            <a:spAutoFit/>
          </a:bodyPr>
          <a:lstStyle/>
          <a:p>
            <a:pPr algn="ctr">
              <a:spcBef>
                <a:spcPts val="0"/>
              </a:spcBef>
              <a:spcAft>
                <a:spcPts val="0"/>
              </a:spcAft>
            </a:pPr>
            <a:r>
              <a:rPr sz="1800" b="1">
                <a:solidFill>
                  <a:srgbClr val="F7941D"/>
                </a:solidFill>
                <a:latin typeface="Arial"/>
              </a:rPr>
              <a:t>1981</a:t>
            </a:r>
          </a:p>
        </p:txBody>
      </p:sp>
      <p:sp>
        <p:nvSpPr>
          <p:cNvPr id="43" name="TextBox 42"/>
          <p:cNvSpPr txBox="1"/>
          <p:nvPr/>
        </p:nvSpPr>
        <p:spPr>
          <a:xfrm>
            <a:off x="4910327" y="3721608"/>
            <a:ext cx="1645920" cy="329184"/>
          </a:xfrm>
          <a:prstGeom prst="rect">
            <a:avLst/>
          </a:prstGeom>
          <a:noFill/>
        </p:spPr>
        <p:txBody>
          <a:bodyPr wrap="square" lIns="27432" tIns="18288" rIns="27432" bIns="18288" anchor="ctr">
            <a:spAutoFit/>
          </a:bodyPr>
          <a:lstStyle/>
          <a:p>
            <a:pPr algn="ctr">
              <a:spcBef>
                <a:spcPts val="0"/>
              </a:spcBef>
              <a:spcAft>
                <a:spcPts val="0"/>
              </a:spcAft>
            </a:pPr>
            <a:r>
              <a:rPr sz="1400" b="1">
                <a:solidFill>
                  <a:srgbClr val="282828"/>
                </a:solidFill>
                <a:latin typeface="Arial"/>
              </a:rPr>
              <a:t>32-bit processors</a:t>
            </a:r>
          </a:p>
        </p:txBody>
      </p:sp>
      <p:sp>
        <p:nvSpPr>
          <p:cNvPr id="44" name="TextBox 43"/>
          <p:cNvSpPr txBox="1"/>
          <p:nvPr/>
        </p:nvSpPr>
        <p:spPr>
          <a:xfrm>
            <a:off x="4910327" y="4050791"/>
            <a:ext cx="1645920" cy="502920"/>
          </a:xfrm>
          <a:prstGeom prst="rect">
            <a:avLst/>
          </a:prstGeom>
          <a:noFill/>
        </p:spPr>
        <p:txBody>
          <a:bodyPr wrap="square" lIns="27432" tIns="18288" rIns="27432" bIns="18288" anchor="ctr">
            <a:spAutoFit/>
          </a:bodyPr>
          <a:lstStyle/>
          <a:p>
            <a:pPr algn="ctr">
              <a:spcBef>
                <a:spcPts val="0"/>
              </a:spcBef>
              <a:spcAft>
                <a:spcPts val="0"/>
              </a:spcAft>
            </a:pPr>
            <a:r>
              <a:rPr sz="1400" b="0">
                <a:solidFill>
                  <a:srgbClr val="5F5F5F"/>
                </a:solidFill>
                <a:latin typeface="Arial"/>
              </a:rPr>
              <a:t>Fourth generation</a:t>
            </a:r>
          </a:p>
        </p:txBody>
      </p:sp>
      <p:cxnSp>
        <p:nvCxnSpPr>
          <p:cNvPr id="45" name="Connector 44"/>
          <p:cNvCxnSpPr/>
          <p:nvPr/>
        </p:nvCxnSpPr>
        <p:spPr>
          <a:xfrm>
            <a:off x="8065008" y="3355848"/>
            <a:ext cx="0" cy="27432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7909560" y="3337560"/>
            <a:ext cx="310896" cy="310896"/>
          </a:xfrm>
          <a:prstGeom prst="ellipse">
            <a:avLst/>
          </a:prstGeom>
          <a:solidFill>
            <a:srgbClr val="F7941D"/>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653528" y="2962656"/>
            <a:ext cx="822960" cy="292608"/>
          </a:xfrm>
          <a:prstGeom prst="rect">
            <a:avLst/>
          </a:prstGeom>
          <a:noFill/>
        </p:spPr>
        <p:txBody>
          <a:bodyPr wrap="square" lIns="27432" tIns="18288" rIns="27432" bIns="18288" anchor="ctr">
            <a:spAutoFit/>
          </a:bodyPr>
          <a:lstStyle/>
          <a:p>
            <a:pPr algn="ctr">
              <a:spcBef>
                <a:spcPts val="0"/>
              </a:spcBef>
              <a:spcAft>
                <a:spcPts val="0"/>
              </a:spcAft>
            </a:pPr>
            <a:r>
              <a:rPr sz="1800" b="1">
                <a:solidFill>
                  <a:srgbClr val="F7941D"/>
                </a:solidFill>
                <a:latin typeface="Arial"/>
              </a:rPr>
              <a:t>1995</a:t>
            </a:r>
          </a:p>
        </p:txBody>
      </p:sp>
      <p:sp>
        <p:nvSpPr>
          <p:cNvPr id="48" name="TextBox 47"/>
          <p:cNvSpPr txBox="1"/>
          <p:nvPr/>
        </p:nvSpPr>
        <p:spPr>
          <a:xfrm>
            <a:off x="7242048" y="3721608"/>
            <a:ext cx="1645920" cy="329184"/>
          </a:xfrm>
          <a:prstGeom prst="rect">
            <a:avLst/>
          </a:prstGeom>
          <a:noFill/>
        </p:spPr>
        <p:txBody>
          <a:bodyPr wrap="square" lIns="27432" tIns="18288" rIns="27432" bIns="18288" anchor="ctr">
            <a:spAutoFit/>
          </a:bodyPr>
          <a:lstStyle/>
          <a:p>
            <a:pPr algn="ctr">
              <a:spcBef>
                <a:spcPts val="0"/>
              </a:spcBef>
              <a:spcAft>
                <a:spcPts val="0"/>
              </a:spcAft>
            </a:pPr>
            <a:r>
              <a:rPr sz="1400" b="1">
                <a:solidFill>
                  <a:srgbClr val="282828"/>
                </a:solidFill>
                <a:latin typeface="Arial"/>
              </a:rPr>
              <a:t>64-bit processors</a:t>
            </a:r>
          </a:p>
        </p:txBody>
      </p:sp>
      <p:sp>
        <p:nvSpPr>
          <p:cNvPr id="49" name="TextBox 48"/>
          <p:cNvSpPr txBox="1"/>
          <p:nvPr/>
        </p:nvSpPr>
        <p:spPr>
          <a:xfrm>
            <a:off x="7242048" y="4050791"/>
            <a:ext cx="1645920" cy="502920"/>
          </a:xfrm>
          <a:prstGeom prst="rect">
            <a:avLst/>
          </a:prstGeom>
          <a:noFill/>
        </p:spPr>
        <p:txBody>
          <a:bodyPr wrap="square" lIns="27432" tIns="18288" rIns="27432" bIns="18288" anchor="ctr">
            <a:spAutoFit/>
          </a:bodyPr>
          <a:lstStyle/>
          <a:p>
            <a:pPr algn="ctr">
              <a:spcBef>
                <a:spcPts val="0"/>
              </a:spcBef>
              <a:spcAft>
                <a:spcPts val="0"/>
              </a:spcAft>
            </a:pPr>
            <a:r>
              <a:rPr sz="1400" b="0">
                <a:solidFill>
                  <a:srgbClr val="5F5F5F"/>
                </a:solidFill>
                <a:latin typeface="Arial"/>
              </a:rPr>
              <a:t>Fifth generation</a:t>
            </a:r>
          </a:p>
        </p:txBody>
      </p:sp>
    </p:spTree>
    <p:extLst>
      <p:ext uri="{BB962C8B-B14F-4D97-AF65-F5344CB8AC3E}">
        <p14:creationId xmlns:p14="http://schemas.microsoft.com/office/powerpoint/2010/main" val="225737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19" cy="644057"/>
          </a:xfrm>
        </p:spPr>
        <p:txBody>
          <a:bodyPr vert="horz" lIns="91440" tIns="45720" rIns="91440" bIns="45720" rtlCol="0" anchor="ctr">
            <a:normAutofit/>
          </a:bodyPr>
          <a:lstStyle/>
          <a:p>
            <a:r>
              <a:rPr lang="en-US" altLang="en-US" sz="2400" i="1" dirty="0"/>
              <a:t>Structure</a:t>
            </a:r>
            <a:endParaRPr lang="en-US" sz="2400" b="1" kern="1200" dirty="0">
              <a:latin typeface="Arial" panose="020B0604020202020204" pitchFamily="34" charset="0"/>
              <a:ea typeface="+mj-ea"/>
              <a:cs typeface="Arial" panose="020B0604020202020204" pitchFamily="34" charset="0"/>
            </a:endParaRPr>
          </a:p>
        </p:txBody>
      </p:sp>
      <p:sp>
        <p:nvSpPr>
          <p:cNvPr id="9" name="Content Placeholder 2">
            <a:extLst>
              <a:ext uri="{FF2B5EF4-FFF2-40B4-BE49-F238E27FC236}">
                <a16:creationId xmlns:a16="http://schemas.microsoft.com/office/drawing/2014/main" id="{339564B0-2129-4807-82CE-56B7B60556FD}"/>
              </a:ext>
            </a:extLst>
          </p:cNvPr>
          <p:cNvSpPr txBox="1">
            <a:spLocks/>
          </p:cNvSpPr>
          <p:nvPr/>
        </p:nvSpPr>
        <p:spPr>
          <a:xfrm>
            <a:off x="278605" y="900113"/>
            <a:ext cx="4568697" cy="3771900"/>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2000" b="1" dirty="0">
                <a:latin typeface="Arial" panose="020B0604020202020204" pitchFamily="34" charset="0"/>
                <a:cs typeface="Arial" panose="020B0604020202020204" pitchFamily="34" charset="0"/>
              </a:rPr>
              <a:t>Structure of Microcontroller</a:t>
            </a:r>
          </a:p>
          <a:p>
            <a:pPr lvl="1">
              <a:spcBef>
                <a:spcPct val="20000"/>
              </a:spcBef>
            </a:pPr>
            <a:r>
              <a:rPr lang="en-US" sz="2000" dirty="0">
                <a:latin typeface="Arial" panose="020B0604020202020204" pitchFamily="34" charset="0"/>
                <a:cs typeface="Arial" panose="020B0604020202020204" pitchFamily="34" charset="0"/>
              </a:rPr>
              <a:t>MCU is integrated electronic computing device that includes three major components on a single chip:</a:t>
            </a:r>
          </a:p>
          <a:p>
            <a:pPr marL="914400" lvl="1" indent="-457200">
              <a:spcBef>
                <a:spcPct val="20000"/>
              </a:spcBef>
              <a:buFont typeface="Arial" panose="020B0604020202020204" pitchFamily="34" charset="0"/>
              <a:buChar char="•"/>
            </a:pPr>
            <a:r>
              <a:rPr lang="en-US" sz="2000" dirty="0">
                <a:latin typeface="Arial" panose="020B0604020202020204" pitchFamily="34" charset="0"/>
                <a:cs typeface="Arial" panose="020B0604020202020204" pitchFamily="34" charset="0"/>
              </a:rPr>
              <a:t>Microprocessor</a:t>
            </a:r>
          </a:p>
          <a:p>
            <a:pPr marL="914400" lvl="1" indent="-457200">
              <a:spcBef>
                <a:spcPct val="20000"/>
              </a:spcBef>
              <a:buFont typeface="Arial" panose="020B0604020202020204" pitchFamily="34" charset="0"/>
              <a:buChar char="•"/>
            </a:pPr>
            <a:r>
              <a:rPr lang="en-US" sz="2000" dirty="0">
                <a:latin typeface="Arial" panose="020B0604020202020204" pitchFamily="34" charset="0"/>
                <a:cs typeface="Arial" panose="020B0604020202020204" pitchFamily="34" charset="0"/>
              </a:rPr>
              <a:t>Memory</a:t>
            </a:r>
          </a:p>
          <a:p>
            <a:pPr marL="914400" lvl="1" indent="-457200">
              <a:spcBef>
                <a:spcPct val="20000"/>
              </a:spcBef>
              <a:buFont typeface="Arial" panose="020B0604020202020204" pitchFamily="34" charset="0"/>
              <a:buChar char="•"/>
            </a:pPr>
            <a:r>
              <a:rPr lang="en-US" sz="2000" dirty="0">
                <a:latin typeface="Arial" panose="020B0604020202020204" pitchFamily="34" charset="0"/>
                <a:cs typeface="Arial" panose="020B0604020202020204" pitchFamily="34" charset="0"/>
              </a:rPr>
              <a:t>I/O ports</a:t>
            </a:r>
          </a:p>
          <a:p>
            <a:pPr marL="342900" marR="0" lvl="0" indent="-342900" fontAlgn="auto">
              <a:spcBef>
                <a:spcPct val="20000"/>
              </a:spcBef>
              <a:spcAft>
                <a:spcPts val="0"/>
              </a:spcAft>
              <a:buClrTx/>
              <a:buSzTx/>
              <a:buFontTx/>
              <a:buChar char="-"/>
              <a:tabLst/>
              <a:defRPr/>
            </a:pPr>
            <a:endParaRPr kumimoji="0" lang="en-US" sz="2000" b="0" i="0" u="none" strike="noStrike" cap="none" spc="0" normalizeH="0" baseline="0" noProof="0" dirty="0">
              <a:ln>
                <a:noFill/>
              </a:ln>
              <a:effectLst/>
              <a:uLnTx/>
              <a:uFillTx/>
              <a:latin typeface="Arial" panose="020B0604020202020204" pitchFamily="34" charset="0"/>
              <a:cs typeface="Arial" panose="020B0604020202020204" pitchFamily="34" charset="0"/>
            </a:endParaRPr>
          </a:p>
          <a:p>
            <a:pPr marL="342900" marR="0" lvl="0" indent="-342900" fontAlgn="auto">
              <a:spcBef>
                <a:spcPct val="20000"/>
              </a:spcBef>
              <a:spcAft>
                <a:spcPts val="0"/>
              </a:spcAft>
              <a:buClrTx/>
              <a:buSzTx/>
              <a:buFontTx/>
              <a:buChar char="-"/>
              <a:tabLst/>
              <a:defRPr/>
            </a:pPr>
            <a:endParaRPr kumimoji="0" lang="en-US" sz="2000" b="0" i="0" u="none" strike="noStrike" cap="none" spc="0" normalizeH="0" baseline="0" noProof="0" dirty="0">
              <a:ln>
                <a:noFill/>
              </a:ln>
              <a:effectLst/>
              <a:uLnTx/>
              <a:uFillTx/>
              <a:latin typeface="Arial" panose="020B0604020202020204" pitchFamily="34" charset="0"/>
              <a:cs typeface="Arial" panose="020B0604020202020204" pitchFamily="34" charset="0"/>
            </a:endParaRPr>
          </a:p>
        </p:txBody>
      </p:sp>
      <p:pic>
        <p:nvPicPr>
          <p:cNvPr id="10" name="Picture 9" descr="79144_01_01">
            <a:extLst>
              <a:ext uri="{FF2B5EF4-FFF2-40B4-BE49-F238E27FC236}">
                <a16:creationId xmlns:a16="http://schemas.microsoft.com/office/drawing/2014/main" id="{8ED074DD-18A8-4B5E-A48E-ED886289C01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52739" y="900113"/>
            <a:ext cx="3243834" cy="3771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a:xfrm>
            <a:off x="278605" y="4767263"/>
            <a:ext cx="1367315" cy="273844"/>
          </a:xfrm>
        </p:spPr>
        <p:txBody>
          <a:bodyPr vert="horz" lIns="91440" tIns="45720" rIns="91440" bIns="45720" rtlCol="0" anchor="ctr">
            <a:normAutofit/>
          </a:bodyPr>
          <a:lstStyle/>
          <a:p>
            <a:pPr>
              <a:lnSpc>
                <a:spcPct val="90000"/>
              </a:lnSpc>
              <a:spcAft>
                <a:spcPts val="600"/>
              </a:spcAft>
            </a:pPr>
            <a:fld id="{2879C26C-EA9B-46F9-9E85-988B19AAD8EA}" type="datetime1">
              <a:rPr lang="en-US" smtClean="0"/>
              <a:pPr>
                <a:lnSpc>
                  <a:spcPct val="90000"/>
                </a:lnSpc>
                <a:spcAft>
                  <a:spcPts val="600"/>
                </a:spcAft>
              </a:pPr>
              <a:t>8/25/2026</a:t>
            </a:fld>
            <a:endParaRPr lang="en-US"/>
          </a:p>
        </p:txBody>
      </p:sp>
      <p:sp>
        <p:nvSpPr>
          <p:cNvPr id="4" name="Footer Placeholder 3"/>
          <p:cNvSpPr>
            <a:spLocks noGrp="1"/>
          </p:cNvSpPr>
          <p:nvPr>
            <p:ph type="ftr" sz="quarter" idx="11"/>
          </p:nvPr>
        </p:nvSpPr>
        <p:spPr>
          <a:xfrm>
            <a:off x="1764506" y="4767263"/>
            <a:ext cx="6372225" cy="273844"/>
          </a:xfrm>
        </p:spPr>
        <p:txBody>
          <a:bodyPr vert="horz" lIns="91440" tIns="45720" rIns="91440" bIns="45720" rtlCol="0" anchor="ctr">
            <a:normAutofit/>
          </a:bodyPr>
          <a:lstStyle/>
          <a:p>
            <a:pPr>
              <a:lnSpc>
                <a:spcPct val="90000"/>
              </a:lnSpc>
              <a:spcAft>
                <a:spcPts val="600"/>
              </a:spcAft>
            </a:pPr>
            <a:r>
              <a:rPr lang="en-US" kern="1200">
                <a:latin typeface="+mn-lt"/>
                <a:ea typeface="+mn-ea"/>
                <a:cs typeface="+mn-cs"/>
              </a:rPr>
              <a:t>09e-BM/DT/FSOFT - ©FPT SOFTWARE – Fresher Academy - Internal Use</a:t>
            </a:r>
          </a:p>
        </p:txBody>
      </p:sp>
      <p:sp>
        <p:nvSpPr>
          <p:cNvPr id="5" name="Slide Number Placeholder 4"/>
          <p:cNvSpPr>
            <a:spLocks noGrp="1"/>
          </p:cNvSpPr>
          <p:nvPr>
            <p:ph type="sldNum" sz="quarter" idx="12"/>
          </p:nvPr>
        </p:nvSpPr>
        <p:spPr>
          <a:xfrm>
            <a:off x="8229600" y="4767263"/>
            <a:ext cx="671512" cy="273844"/>
          </a:xfrm>
        </p:spPr>
        <p:txBody>
          <a:bodyPr vert="horz" lIns="91440" tIns="45720" rIns="91440" bIns="45720" rtlCol="0" anchor="ctr">
            <a:normAutofit/>
          </a:bodyPr>
          <a:lstStyle/>
          <a:p>
            <a:pPr>
              <a:lnSpc>
                <a:spcPct val="90000"/>
              </a:lnSpc>
              <a:spcAft>
                <a:spcPts val="600"/>
              </a:spcAft>
            </a:pPr>
            <a:fld id="{E3B08AF7-4237-6949-8335-F63F47C2C8CC}" type="slidenum">
              <a:rPr lang="en-US" smtClean="0"/>
              <a:pPr>
                <a:lnSpc>
                  <a:spcPct val="90000"/>
                </a:lnSpc>
                <a:spcAft>
                  <a:spcPts val="600"/>
                </a:spcAft>
              </a:pPr>
              <a:t>17</a:t>
            </a:fld>
            <a:endParaRPr lang="en-US"/>
          </a:p>
        </p:txBody>
      </p:sp>
    </p:spTree>
    <p:extLst>
      <p:ext uri="{BB962C8B-B14F-4D97-AF65-F5344CB8AC3E}">
        <p14:creationId xmlns:p14="http://schemas.microsoft.com/office/powerpoint/2010/main" val="1724047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19" cy="644057"/>
          </a:xfrm>
        </p:spPr>
        <p:txBody>
          <a:bodyPr vert="horz" lIns="91440" tIns="45720" rIns="91440" bIns="45720" rtlCol="0" anchor="ctr">
            <a:normAutofit/>
          </a:bodyPr>
          <a:lstStyle/>
          <a:p>
            <a:r>
              <a:rPr lang="en-US" altLang="en-US" sz="2400" i="1" dirty="0"/>
              <a:t>Structure</a:t>
            </a:r>
            <a:endParaRPr lang="en-US" sz="2400" b="1" kern="1200" dirty="0">
              <a:latin typeface="Arial" panose="020B0604020202020204" pitchFamily="34" charset="0"/>
              <a:ea typeface="+mj-ea"/>
              <a:cs typeface="Arial" panose="020B0604020202020204" pitchFamily="34" charset="0"/>
            </a:endParaRPr>
          </a:p>
        </p:txBody>
      </p:sp>
      <p:sp>
        <p:nvSpPr>
          <p:cNvPr id="9" name="Content Placeholder 2">
            <a:extLst>
              <a:ext uri="{FF2B5EF4-FFF2-40B4-BE49-F238E27FC236}">
                <a16:creationId xmlns:a16="http://schemas.microsoft.com/office/drawing/2014/main" id="{339564B0-2129-4807-82CE-56B7B60556FD}"/>
              </a:ext>
            </a:extLst>
          </p:cNvPr>
          <p:cNvSpPr txBox="1">
            <a:spLocks/>
          </p:cNvSpPr>
          <p:nvPr/>
        </p:nvSpPr>
        <p:spPr>
          <a:xfrm>
            <a:off x="278605" y="900113"/>
            <a:ext cx="4421213" cy="3771900"/>
          </a:xfrm>
          <a:prstGeom prst="rect">
            <a:avLst/>
          </a:prstGeom>
        </p:spPr>
        <p:txBody>
          <a:bodyPr vert="horz" lIns="91440" tIns="45720" rIns="91440" bIns="45720" rtlCol="0">
            <a:normAutofit/>
          </a:bodyPr>
          <a:lstStyle/>
          <a:p>
            <a:pPr marL="342900" indent="-342900">
              <a:spcBef>
                <a:spcPct val="20000"/>
              </a:spcBef>
              <a:buFont typeface="Arial" pitchFamily="34" charset="0"/>
              <a:buChar char="•"/>
            </a:pPr>
            <a:r>
              <a:rPr lang="en-US" sz="2000" b="1" dirty="0">
                <a:latin typeface="Arial" panose="020B0604020202020204" pitchFamily="34" charset="0"/>
                <a:cs typeface="Arial" panose="020B0604020202020204" pitchFamily="34" charset="0"/>
              </a:rPr>
              <a:t>Structure of Microprocessor</a:t>
            </a:r>
          </a:p>
          <a:p>
            <a:pPr lvl="1">
              <a:spcBef>
                <a:spcPct val="20000"/>
              </a:spcBef>
            </a:pPr>
            <a:r>
              <a:rPr lang="en-US" sz="2000" dirty="0">
                <a:latin typeface="Arial" panose="020B0604020202020204" pitchFamily="34" charset="0"/>
                <a:cs typeface="Arial" panose="020B0604020202020204" pitchFamily="34" charset="0"/>
              </a:rPr>
              <a:t>Microprocessor includes three major components:</a:t>
            </a:r>
          </a:p>
          <a:p>
            <a:pPr marL="914400" lvl="1" indent="-457200">
              <a:spcBef>
                <a:spcPct val="20000"/>
              </a:spcBef>
              <a:buFont typeface="Arial" panose="020B0604020202020204" pitchFamily="34" charset="0"/>
              <a:buChar char="•"/>
            </a:pPr>
            <a:r>
              <a:rPr lang="en-US" sz="2000" dirty="0">
                <a:latin typeface="Arial" panose="020B0604020202020204" pitchFamily="34" charset="0"/>
                <a:cs typeface="Arial" panose="020B0604020202020204" pitchFamily="34" charset="0"/>
              </a:rPr>
              <a:t>Arithmetic Logic Unit (ALU)</a:t>
            </a:r>
          </a:p>
          <a:p>
            <a:pPr marL="914400" lvl="1" indent="-457200">
              <a:spcBef>
                <a:spcPct val="20000"/>
              </a:spcBef>
              <a:buFont typeface="Arial" panose="020B0604020202020204" pitchFamily="34" charset="0"/>
              <a:buChar char="•"/>
            </a:pPr>
            <a:r>
              <a:rPr lang="en-US" sz="2000" dirty="0">
                <a:latin typeface="Arial" panose="020B0604020202020204" pitchFamily="34" charset="0"/>
                <a:cs typeface="Arial" panose="020B0604020202020204" pitchFamily="34" charset="0"/>
              </a:rPr>
              <a:t>Register Arrays</a:t>
            </a:r>
          </a:p>
          <a:p>
            <a:pPr marL="914400" lvl="1" indent="-457200">
              <a:spcBef>
                <a:spcPct val="20000"/>
              </a:spcBef>
              <a:buFont typeface="Arial" panose="020B0604020202020204" pitchFamily="34" charset="0"/>
              <a:buChar char="•"/>
            </a:pPr>
            <a:r>
              <a:rPr lang="en-US" sz="2000" dirty="0">
                <a:latin typeface="Arial" panose="020B0604020202020204" pitchFamily="34" charset="0"/>
                <a:cs typeface="Arial" panose="020B0604020202020204" pitchFamily="34" charset="0"/>
              </a:rPr>
              <a:t>Control Unit</a:t>
            </a:r>
          </a:p>
          <a:p>
            <a:pPr marL="342900" marR="0" lvl="0" indent="-342900" fontAlgn="auto">
              <a:spcBef>
                <a:spcPct val="20000"/>
              </a:spcBef>
              <a:spcAft>
                <a:spcPts val="0"/>
              </a:spcAft>
              <a:buClrTx/>
              <a:buSzTx/>
              <a:buFontTx/>
              <a:buChar char="-"/>
              <a:tabLst/>
              <a:defRPr/>
            </a:pPr>
            <a:endParaRPr kumimoji="0" lang="en-US" sz="2000" b="0" i="0" u="none" strike="noStrike" cap="none" spc="0" normalizeH="0" baseline="0" noProof="0" dirty="0">
              <a:ln>
                <a:noFill/>
              </a:ln>
              <a:effectLst/>
              <a:uLnTx/>
              <a:uFillTx/>
              <a:latin typeface="Arial" panose="020B0604020202020204" pitchFamily="34" charset="0"/>
              <a:cs typeface="Arial" panose="020B0604020202020204" pitchFamily="34" charset="0"/>
            </a:endParaRPr>
          </a:p>
          <a:p>
            <a:pPr marL="342900" marR="0" lvl="0" indent="-342900" fontAlgn="auto">
              <a:spcBef>
                <a:spcPct val="20000"/>
              </a:spcBef>
              <a:spcAft>
                <a:spcPts val="0"/>
              </a:spcAft>
              <a:buClrTx/>
              <a:buSzTx/>
              <a:buFontTx/>
              <a:buChar char="-"/>
              <a:tabLst/>
              <a:defRPr/>
            </a:pPr>
            <a:endParaRPr kumimoji="0" lang="en-US" sz="2000" b="0" i="0" u="none" strike="noStrike" cap="none" spc="0" normalizeH="0" baseline="0" noProof="0" dirty="0">
              <a:ln>
                <a:noFill/>
              </a:ln>
              <a:effectLst/>
              <a:uLnTx/>
              <a:uFillTx/>
              <a:latin typeface="Arial" panose="020B0604020202020204" pitchFamily="34" charset="0"/>
              <a:cs typeface="Arial" panose="020B0604020202020204" pitchFamily="34" charset="0"/>
            </a:endParaRPr>
          </a:p>
        </p:txBody>
      </p:sp>
      <p:pic>
        <p:nvPicPr>
          <p:cNvPr id="11" name="Picture 10" descr="79144_01_02">
            <a:extLst>
              <a:ext uri="{FF2B5EF4-FFF2-40B4-BE49-F238E27FC236}">
                <a16:creationId xmlns:a16="http://schemas.microsoft.com/office/drawing/2014/main" id="{6C958984-4660-4355-87D0-1B97E5DAE6E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59429" y="900113"/>
            <a:ext cx="3630453" cy="3771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a:xfrm>
            <a:off x="278605" y="4767263"/>
            <a:ext cx="1367315" cy="273844"/>
          </a:xfrm>
        </p:spPr>
        <p:txBody>
          <a:bodyPr vert="horz" lIns="91440" tIns="45720" rIns="91440" bIns="45720" rtlCol="0" anchor="ctr">
            <a:normAutofit/>
          </a:bodyPr>
          <a:lstStyle/>
          <a:p>
            <a:pPr>
              <a:lnSpc>
                <a:spcPct val="90000"/>
              </a:lnSpc>
              <a:spcAft>
                <a:spcPts val="600"/>
              </a:spcAft>
            </a:pPr>
            <a:fld id="{2879C26C-EA9B-46F9-9E85-988B19AAD8EA}" type="datetime1">
              <a:rPr lang="en-US" smtClean="0"/>
              <a:pPr>
                <a:lnSpc>
                  <a:spcPct val="90000"/>
                </a:lnSpc>
                <a:spcAft>
                  <a:spcPts val="600"/>
                </a:spcAft>
              </a:pPr>
              <a:t>8/25/2026</a:t>
            </a:fld>
            <a:endParaRPr lang="en-US"/>
          </a:p>
        </p:txBody>
      </p:sp>
      <p:sp>
        <p:nvSpPr>
          <p:cNvPr id="4" name="Footer Placeholder 3"/>
          <p:cNvSpPr>
            <a:spLocks noGrp="1"/>
          </p:cNvSpPr>
          <p:nvPr>
            <p:ph type="ftr" sz="quarter" idx="11"/>
          </p:nvPr>
        </p:nvSpPr>
        <p:spPr>
          <a:xfrm>
            <a:off x="1764506" y="4767263"/>
            <a:ext cx="6372225" cy="273844"/>
          </a:xfrm>
        </p:spPr>
        <p:txBody>
          <a:bodyPr vert="horz" lIns="91440" tIns="45720" rIns="91440" bIns="45720" rtlCol="0" anchor="ctr">
            <a:normAutofit/>
          </a:bodyPr>
          <a:lstStyle/>
          <a:p>
            <a:pPr>
              <a:lnSpc>
                <a:spcPct val="90000"/>
              </a:lnSpc>
              <a:spcAft>
                <a:spcPts val="600"/>
              </a:spcAft>
            </a:pPr>
            <a:r>
              <a:rPr lang="en-US" kern="1200">
                <a:latin typeface="+mn-lt"/>
                <a:ea typeface="+mn-ea"/>
                <a:cs typeface="+mn-cs"/>
              </a:rPr>
              <a:t>09e-BM/DT/FSOFT - ©FPT SOFTWARE – Fresher Academy - Internal Use</a:t>
            </a:r>
          </a:p>
        </p:txBody>
      </p:sp>
      <p:sp>
        <p:nvSpPr>
          <p:cNvPr id="5" name="Slide Number Placeholder 4"/>
          <p:cNvSpPr>
            <a:spLocks noGrp="1"/>
          </p:cNvSpPr>
          <p:nvPr>
            <p:ph type="sldNum" sz="quarter" idx="12"/>
          </p:nvPr>
        </p:nvSpPr>
        <p:spPr>
          <a:xfrm>
            <a:off x="8229600" y="4767263"/>
            <a:ext cx="671512" cy="273844"/>
          </a:xfrm>
        </p:spPr>
        <p:txBody>
          <a:bodyPr vert="horz" lIns="91440" tIns="45720" rIns="91440" bIns="45720" rtlCol="0" anchor="ctr">
            <a:normAutofit/>
          </a:bodyPr>
          <a:lstStyle/>
          <a:p>
            <a:pPr>
              <a:lnSpc>
                <a:spcPct val="90000"/>
              </a:lnSpc>
              <a:spcAft>
                <a:spcPts val="600"/>
              </a:spcAft>
            </a:pPr>
            <a:fld id="{E3B08AF7-4237-6949-8335-F63F47C2C8CC}" type="slidenum">
              <a:rPr lang="en-US" smtClean="0"/>
              <a:pPr>
                <a:lnSpc>
                  <a:spcPct val="90000"/>
                </a:lnSpc>
                <a:spcAft>
                  <a:spcPts val="600"/>
                </a:spcAft>
              </a:pPr>
              <a:t>18</a:t>
            </a:fld>
            <a:endParaRPr lang="en-US"/>
          </a:p>
        </p:txBody>
      </p:sp>
    </p:spTree>
    <p:extLst>
      <p:ext uri="{BB962C8B-B14F-4D97-AF65-F5344CB8AC3E}">
        <p14:creationId xmlns:p14="http://schemas.microsoft.com/office/powerpoint/2010/main" val="395926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i="1" dirty="0"/>
              <a:t>Features</a:t>
            </a:r>
            <a:endParaRPr lang="en-US" sz="24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19</a:t>
            </a:fld>
            <a:endParaRPr lang="en-US"/>
          </a:p>
        </p:txBody>
      </p:sp>
      <p:sp>
        <p:nvSpPr>
          <p:cNvPr id="8" name="Title 1">
            <a:extLst>
              <a:ext uri="{FF2B5EF4-FFF2-40B4-BE49-F238E27FC236}">
                <a16:creationId xmlns:a16="http://schemas.microsoft.com/office/drawing/2014/main" id="{DDCCB254-2B83-47B5-A14E-1EEC6F347692}"/>
              </a:ext>
            </a:extLst>
          </p:cNvPr>
          <p:cNvSpPr>
            <a:spLocks noGrp="1"/>
          </p:cNvSpPr>
          <p:nvPr>
            <p:ph idx="1"/>
          </p:nvPr>
        </p:nvSpPr>
        <p:spPr>
          <a:xfrm>
            <a:off x="278605" y="850106"/>
            <a:ext cx="8622507" cy="3744517"/>
          </a:xfrm>
        </p:spPr>
        <p:txBody>
          <a:bodyPr>
            <a:normAutofit/>
          </a:bodyPr>
          <a:lstStyle/>
          <a:p>
            <a:pPr algn="just"/>
            <a:r>
              <a:rPr lang="en-US" b="1" dirty="0"/>
              <a:t>Feature of Microprocessor</a:t>
            </a:r>
          </a:p>
          <a:p>
            <a:pPr lvl="1" algn="just"/>
            <a:r>
              <a:rPr lang="en-US" dirty="0"/>
              <a:t>Offers built-in monitor/debugger program with interrupt capability</a:t>
            </a:r>
          </a:p>
          <a:p>
            <a:pPr lvl="1" algn="just"/>
            <a:r>
              <a:rPr lang="en-US" dirty="0"/>
              <a:t>Large amount of instructions each carrying out a different variation of the same operation</a:t>
            </a:r>
          </a:p>
          <a:p>
            <a:pPr lvl="1" algn="just"/>
            <a:r>
              <a:rPr lang="en-US" dirty="0"/>
              <a:t>Offers Parallel I/O</a:t>
            </a:r>
          </a:p>
          <a:p>
            <a:pPr lvl="1" algn="just"/>
            <a:r>
              <a:rPr lang="en-US" dirty="0"/>
              <a:t>Instruction cycle timer</a:t>
            </a:r>
          </a:p>
          <a:p>
            <a:pPr lvl="1" algn="just"/>
            <a:r>
              <a:rPr lang="en-US" dirty="0"/>
              <a:t>External memory interface</a:t>
            </a:r>
          </a:p>
        </p:txBody>
      </p:sp>
    </p:spTree>
    <p:extLst>
      <p:ext uri="{BB962C8B-B14F-4D97-AF65-F5344CB8AC3E}">
        <p14:creationId xmlns:p14="http://schemas.microsoft.com/office/powerpoint/2010/main" val="3898326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i="1" dirty="0"/>
              <a:t>Features</a:t>
            </a:r>
            <a:endParaRPr lang="en-US" sz="24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20</a:t>
            </a:fld>
            <a:endParaRPr lang="en-US"/>
          </a:p>
        </p:txBody>
      </p:sp>
      <p:sp>
        <p:nvSpPr>
          <p:cNvPr id="8" name="Title 1">
            <a:extLst>
              <a:ext uri="{FF2B5EF4-FFF2-40B4-BE49-F238E27FC236}">
                <a16:creationId xmlns:a16="http://schemas.microsoft.com/office/drawing/2014/main" id="{DDCCB254-2B83-47B5-A14E-1EEC6F347692}"/>
              </a:ext>
            </a:extLst>
          </p:cNvPr>
          <p:cNvSpPr>
            <a:spLocks noGrp="1"/>
          </p:cNvSpPr>
          <p:nvPr>
            <p:ph idx="1"/>
          </p:nvPr>
        </p:nvSpPr>
        <p:spPr>
          <a:xfrm>
            <a:off x="278605" y="850106"/>
            <a:ext cx="8622507" cy="3744517"/>
          </a:xfrm>
        </p:spPr>
        <p:txBody>
          <a:bodyPr>
            <a:normAutofit fontScale="92500" lnSpcReduction="20000"/>
          </a:bodyPr>
          <a:lstStyle/>
          <a:p>
            <a:pPr algn="just"/>
            <a:r>
              <a:rPr lang="en-US" b="1" dirty="0"/>
              <a:t>Feature of Microcontroller</a:t>
            </a:r>
          </a:p>
          <a:p>
            <a:pPr lvl="1" algn="just"/>
            <a:r>
              <a:rPr lang="en-US" dirty="0"/>
              <a:t>Central processing unit – ranging from small and simple 4-bit processors to complex 32-bit or 64-bit processors</a:t>
            </a:r>
          </a:p>
          <a:p>
            <a:pPr lvl="1" algn="just"/>
            <a:r>
              <a:rPr lang="en-US" dirty="0"/>
              <a:t>RAM for data storage</a:t>
            </a:r>
          </a:p>
          <a:p>
            <a:pPr lvl="1" algn="just"/>
            <a:r>
              <a:rPr lang="en-US" dirty="0"/>
              <a:t>ROM, EPROM, EEPROM or Flash memory for program and operating parameter storage</a:t>
            </a:r>
          </a:p>
          <a:p>
            <a:pPr lvl="1" algn="just"/>
            <a:r>
              <a:rPr lang="en-US" dirty="0"/>
              <a:t>I/O pins</a:t>
            </a:r>
          </a:p>
          <a:p>
            <a:pPr lvl="1" algn="just"/>
            <a:r>
              <a:rPr lang="en-US" dirty="0"/>
              <a:t>Serial input/output such as serial ports (UARTs)</a:t>
            </a:r>
          </a:p>
          <a:p>
            <a:pPr lvl="1" algn="just"/>
            <a:r>
              <a:rPr lang="en-US" dirty="0"/>
              <a:t>serial communications interfaces like I²C,..</a:t>
            </a:r>
          </a:p>
          <a:p>
            <a:pPr lvl="1" algn="just"/>
            <a:r>
              <a:rPr lang="en-US" dirty="0"/>
              <a:t>Timers, event counters, PWM generators, and watchdog</a:t>
            </a:r>
          </a:p>
          <a:p>
            <a:pPr lvl="1" algn="just"/>
            <a:r>
              <a:rPr lang="en-US" dirty="0"/>
              <a:t>Analog-to-digital converters, digital-to-analog converters</a:t>
            </a:r>
          </a:p>
          <a:p>
            <a:pPr lvl="1" algn="just"/>
            <a:r>
              <a:rPr lang="en-US" dirty="0"/>
              <a:t>In-circuit programming and in-circuit debugging support</a:t>
            </a:r>
          </a:p>
        </p:txBody>
      </p:sp>
    </p:spTree>
    <p:extLst>
      <p:ext uri="{BB962C8B-B14F-4D97-AF65-F5344CB8AC3E}">
        <p14:creationId xmlns:p14="http://schemas.microsoft.com/office/powerpoint/2010/main" val="2847193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i="1" dirty="0"/>
              <a:t>Applications</a:t>
            </a:r>
            <a:endParaRPr lang="en-US" sz="24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21</a:t>
            </a:fld>
            <a:endParaRPr lang="en-US"/>
          </a:p>
        </p:txBody>
      </p:sp>
      <p:sp>
        <p:nvSpPr>
          <p:cNvPr id="8" name="Title 1">
            <a:extLst>
              <a:ext uri="{FF2B5EF4-FFF2-40B4-BE49-F238E27FC236}">
                <a16:creationId xmlns:a16="http://schemas.microsoft.com/office/drawing/2014/main" id="{DDCCB254-2B83-47B5-A14E-1EEC6F347692}"/>
              </a:ext>
            </a:extLst>
          </p:cNvPr>
          <p:cNvSpPr>
            <a:spLocks noGrp="1"/>
          </p:cNvSpPr>
          <p:nvPr>
            <p:ph idx="1"/>
          </p:nvPr>
        </p:nvSpPr>
        <p:spPr>
          <a:xfrm>
            <a:off x="278605" y="850106"/>
            <a:ext cx="8622507" cy="3744517"/>
          </a:xfrm>
        </p:spPr>
        <p:txBody>
          <a:bodyPr>
            <a:normAutofit/>
          </a:bodyPr>
          <a:lstStyle/>
          <a:p>
            <a:pPr algn="just"/>
            <a:r>
              <a:rPr lang="en-US" altLang="en-US" b="1" dirty="0"/>
              <a:t>Applications</a:t>
            </a:r>
            <a:r>
              <a:rPr lang="en-US" b="1" dirty="0"/>
              <a:t> of Microprocessor</a:t>
            </a:r>
          </a:p>
          <a:p>
            <a:pPr lvl="1" algn="just"/>
            <a:r>
              <a:rPr lang="en-US" dirty="0"/>
              <a:t>Accounting system</a:t>
            </a:r>
          </a:p>
          <a:p>
            <a:pPr lvl="1" algn="just"/>
            <a:r>
              <a:rPr lang="en-US" dirty="0"/>
              <a:t>Games machine</a:t>
            </a:r>
          </a:p>
          <a:p>
            <a:pPr lvl="1" algn="just"/>
            <a:r>
              <a:rPr lang="en-US" dirty="0"/>
              <a:t>Complex industrial controllers</a:t>
            </a:r>
          </a:p>
          <a:p>
            <a:pPr lvl="1" algn="just"/>
            <a:r>
              <a:rPr lang="en-US" dirty="0"/>
              <a:t>Traffic light</a:t>
            </a:r>
          </a:p>
          <a:p>
            <a:pPr lvl="1" algn="just"/>
            <a:r>
              <a:rPr lang="en-US" dirty="0"/>
              <a:t>Control data</a:t>
            </a:r>
          </a:p>
          <a:p>
            <a:pPr lvl="1" algn="just"/>
            <a:r>
              <a:rPr lang="en-US" dirty="0"/>
              <a:t>Military applications</a:t>
            </a:r>
          </a:p>
          <a:p>
            <a:pPr lvl="1" algn="just"/>
            <a:r>
              <a:rPr lang="en-US" dirty="0"/>
              <a:t>Defense systems</a:t>
            </a:r>
          </a:p>
          <a:p>
            <a:pPr lvl="1" algn="just"/>
            <a:r>
              <a:rPr lang="en-US" dirty="0"/>
              <a:t>Computation systems</a:t>
            </a:r>
          </a:p>
        </p:txBody>
      </p:sp>
    </p:spTree>
    <p:extLst>
      <p:ext uri="{BB962C8B-B14F-4D97-AF65-F5344CB8AC3E}">
        <p14:creationId xmlns:p14="http://schemas.microsoft.com/office/powerpoint/2010/main" val="680529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i="1" dirty="0"/>
              <a:t>Applications</a:t>
            </a:r>
            <a:endParaRPr lang="en-US" sz="24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22</a:t>
            </a:fld>
            <a:endParaRPr lang="en-US"/>
          </a:p>
        </p:txBody>
      </p:sp>
      <p:sp>
        <p:nvSpPr>
          <p:cNvPr id="8" name="Title 1">
            <a:extLst>
              <a:ext uri="{FF2B5EF4-FFF2-40B4-BE49-F238E27FC236}">
                <a16:creationId xmlns:a16="http://schemas.microsoft.com/office/drawing/2014/main" id="{DDCCB254-2B83-47B5-A14E-1EEC6F347692}"/>
              </a:ext>
            </a:extLst>
          </p:cNvPr>
          <p:cNvSpPr>
            <a:spLocks noGrp="1"/>
          </p:cNvSpPr>
          <p:nvPr>
            <p:ph idx="1"/>
          </p:nvPr>
        </p:nvSpPr>
        <p:spPr>
          <a:xfrm>
            <a:off x="278605" y="850106"/>
            <a:ext cx="8622507" cy="3744517"/>
          </a:xfrm>
        </p:spPr>
        <p:txBody>
          <a:bodyPr>
            <a:normAutofit/>
          </a:bodyPr>
          <a:lstStyle/>
          <a:p>
            <a:pPr algn="just"/>
            <a:r>
              <a:rPr lang="en-US" altLang="en-US" b="1" dirty="0"/>
              <a:t>Applications</a:t>
            </a:r>
            <a:r>
              <a:rPr lang="en-US" b="1" dirty="0"/>
              <a:t> of Microcontroller</a:t>
            </a:r>
          </a:p>
          <a:p>
            <a:pPr lvl="1" algn="just"/>
            <a:r>
              <a:rPr lang="en-US" dirty="0"/>
              <a:t>Mobile phones</a:t>
            </a:r>
          </a:p>
          <a:p>
            <a:pPr lvl="1" algn="just"/>
            <a:r>
              <a:rPr lang="en-US" dirty="0"/>
              <a:t>Automobiles</a:t>
            </a:r>
          </a:p>
          <a:p>
            <a:pPr lvl="1" algn="just"/>
            <a:r>
              <a:rPr lang="en-US" dirty="0"/>
              <a:t>CD/DVD </a:t>
            </a:r>
            <a:r>
              <a:rPr lang="en-US" dirty="0" err="1"/>
              <a:t>playersCameras</a:t>
            </a:r>
            <a:endParaRPr lang="en-US" dirty="0"/>
          </a:p>
          <a:p>
            <a:pPr lvl="1" algn="just"/>
            <a:r>
              <a:rPr lang="en-US" dirty="0"/>
              <a:t>Security alarms</a:t>
            </a:r>
          </a:p>
          <a:p>
            <a:pPr lvl="1" algn="just"/>
            <a:r>
              <a:rPr lang="en-US" dirty="0"/>
              <a:t>Keyboard controllers</a:t>
            </a:r>
          </a:p>
          <a:p>
            <a:pPr lvl="1" algn="just"/>
            <a:r>
              <a:rPr lang="en-US" dirty="0"/>
              <a:t>Microwave oven</a:t>
            </a:r>
          </a:p>
          <a:p>
            <a:pPr lvl="1" algn="just"/>
            <a:r>
              <a:rPr lang="en-US" dirty="0"/>
              <a:t>Watches</a:t>
            </a:r>
          </a:p>
          <a:p>
            <a:pPr lvl="1" algn="just"/>
            <a:r>
              <a:rPr lang="en-US" dirty="0"/>
              <a:t>…</a:t>
            </a:r>
          </a:p>
        </p:txBody>
      </p:sp>
    </p:spTree>
    <p:extLst>
      <p:ext uri="{BB962C8B-B14F-4D97-AF65-F5344CB8AC3E}">
        <p14:creationId xmlns:p14="http://schemas.microsoft.com/office/powerpoint/2010/main" val="2020059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20" cy="644057"/>
          </a:xfrm>
        </p:spPr>
        <p:txBody>
          <a:bodyPr/>
          <a:lstStyle/>
          <a:p>
            <a:r>
              <a:rPr lang="en-US" altLang="en-US" sz="2000" i="1" dirty="0"/>
              <a:t>Key between Microcontroller and Microprocessor</a:t>
            </a: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23</a:t>
            </a:fld>
            <a:endParaRPr lang="en-US"/>
          </a:p>
        </p:txBody>
      </p:sp>
      <p:graphicFrame>
        <p:nvGraphicFramePr>
          <p:cNvPr id="10" name="Table 10">
            <a:extLst>
              <a:ext uri="{FF2B5EF4-FFF2-40B4-BE49-F238E27FC236}">
                <a16:creationId xmlns:a16="http://schemas.microsoft.com/office/drawing/2014/main" id="{F297E008-ABF3-4579-8707-F365E70AA033}"/>
              </a:ext>
            </a:extLst>
          </p:cNvPr>
          <p:cNvGraphicFramePr>
            <a:graphicFrameLocks noGrp="1"/>
          </p:cNvGraphicFramePr>
          <p:nvPr>
            <p:ph idx="1"/>
            <p:extLst>
              <p:ext uri="{D42A27DB-BD31-4B8C-83A1-F6EECF244321}">
                <p14:modId xmlns:p14="http://schemas.microsoft.com/office/powerpoint/2010/main" val="3520854599"/>
              </p:ext>
            </p:extLst>
          </p:nvPr>
        </p:nvGraphicFramePr>
        <p:xfrm>
          <a:off x="277813" y="849313"/>
          <a:ext cx="8623300" cy="3479800"/>
        </p:xfrm>
        <a:graphic>
          <a:graphicData uri="http://schemas.openxmlformats.org/drawingml/2006/table">
            <a:tbl>
              <a:tblPr firstRow="1" bandRow="1">
                <a:tableStyleId>{5C22544A-7EE6-4342-B048-85BDC9FD1C3A}</a:tableStyleId>
              </a:tblPr>
              <a:tblGrid>
                <a:gridCol w="4311650">
                  <a:extLst>
                    <a:ext uri="{9D8B030D-6E8A-4147-A177-3AD203B41FA5}">
                      <a16:colId xmlns:a16="http://schemas.microsoft.com/office/drawing/2014/main" val="3881279204"/>
                    </a:ext>
                  </a:extLst>
                </a:gridCol>
                <a:gridCol w="4311650">
                  <a:extLst>
                    <a:ext uri="{9D8B030D-6E8A-4147-A177-3AD203B41FA5}">
                      <a16:colId xmlns:a16="http://schemas.microsoft.com/office/drawing/2014/main" val="794898922"/>
                    </a:ext>
                  </a:extLst>
                </a:gridCol>
              </a:tblGrid>
              <a:tr h="370840">
                <a:tc>
                  <a:txBody>
                    <a:bodyPr/>
                    <a:lstStyle/>
                    <a:p>
                      <a:pPr algn="ctr"/>
                      <a:r>
                        <a:rPr lang="en-US" dirty="0"/>
                        <a:t>Microprocessor</a:t>
                      </a:r>
                    </a:p>
                  </a:txBody>
                  <a:tcPr/>
                </a:tc>
                <a:tc>
                  <a:txBody>
                    <a:bodyPr/>
                    <a:lstStyle/>
                    <a:p>
                      <a:pPr algn="ctr"/>
                      <a:r>
                        <a:rPr lang="en-US" dirty="0"/>
                        <a:t>Microcontroller</a:t>
                      </a:r>
                    </a:p>
                  </a:txBody>
                  <a:tcPr/>
                </a:tc>
                <a:extLst>
                  <a:ext uri="{0D108BD9-81ED-4DB2-BD59-A6C34878D82A}">
                    <a16:rowId xmlns:a16="http://schemas.microsoft.com/office/drawing/2014/main" val="1907913107"/>
                  </a:ext>
                </a:extLst>
              </a:tr>
              <a:tr h="370840">
                <a:tc>
                  <a:txBody>
                    <a:bodyPr/>
                    <a:lstStyle/>
                    <a:p>
                      <a:r>
                        <a:rPr lang="en-US" dirty="0"/>
                        <a:t>It is only a processor, so memory and I/O components need to be connected externally</a:t>
                      </a:r>
                    </a:p>
                  </a:txBody>
                  <a:tcPr/>
                </a:tc>
                <a:tc>
                  <a:txBody>
                    <a:bodyPr/>
                    <a:lstStyle/>
                    <a:p>
                      <a:r>
                        <a:rPr lang="en-US" dirty="0"/>
                        <a:t>Micro Controller has a processor along with internal memory and I/O components.</a:t>
                      </a:r>
                    </a:p>
                  </a:txBody>
                  <a:tcPr/>
                </a:tc>
                <a:extLst>
                  <a:ext uri="{0D108BD9-81ED-4DB2-BD59-A6C34878D82A}">
                    <a16:rowId xmlns:a16="http://schemas.microsoft.com/office/drawing/2014/main" val="691284934"/>
                  </a:ext>
                </a:extLst>
              </a:tr>
              <a:tr h="370840">
                <a:tc>
                  <a:txBody>
                    <a:bodyPr/>
                    <a:lstStyle/>
                    <a:p>
                      <a:r>
                        <a:rPr lang="en-US" dirty="0"/>
                        <a:t>It has no RAM, ROM, Input-Output units, timers, and other peripherals on the chip.</a:t>
                      </a:r>
                    </a:p>
                  </a:txBody>
                  <a:tcPr/>
                </a:tc>
                <a:tc>
                  <a:txBody>
                    <a:bodyPr/>
                    <a:lstStyle/>
                    <a:p>
                      <a:r>
                        <a:rPr lang="en-US"/>
                        <a:t>It has a CPU along with RAM, ROM, and other peripherals embedded on a single chip.</a:t>
                      </a:r>
                      <a:endParaRPr lang="en-US" dirty="0"/>
                    </a:p>
                  </a:txBody>
                  <a:tcPr/>
                </a:tc>
                <a:extLst>
                  <a:ext uri="{0D108BD9-81ED-4DB2-BD59-A6C34878D82A}">
                    <a16:rowId xmlns:a16="http://schemas.microsoft.com/office/drawing/2014/main" val="2536225055"/>
                  </a:ext>
                </a:extLst>
              </a:tr>
              <a:tr h="370840">
                <a:tc>
                  <a:txBody>
                    <a:bodyPr/>
                    <a:lstStyle/>
                    <a:p>
                      <a:r>
                        <a:rPr lang="en-US" dirty="0"/>
                        <a:t>Microprocessor has a smaller number of registers</a:t>
                      </a:r>
                    </a:p>
                  </a:txBody>
                  <a:tcPr/>
                </a:tc>
                <a:tc>
                  <a:txBody>
                    <a:bodyPr/>
                    <a:lstStyle/>
                    <a:p>
                      <a:r>
                        <a:rPr lang="en-US" dirty="0"/>
                        <a:t>Microcontroller has more register</a:t>
                      </a:r>
                    </a:p>
                  </a:txBody>
                  <a:tcPr/>
                </a:tc>
                <a:extLst>
                  <a:ext uri="{0D108BD9-81ED-4DB2-BD59-A6C34878D82A}">
                    <a16:rowId xmlns:a16="http://schemas.microsoft.com/office/drawing/2014/main" val="3289132154"/>
                  </a:ext>
                </a:extLst>
              </a:tr>
              <a:tr h="370840">
                <a:tc>
                  <a:txBody>
                    <a:bodyPr/>
                    <a:lstStyle/>
                    <a:p>
                      <a:r>
                        <a:rPr lang="en-US" dirty="0"/>
                        <a:t>Microprocessors are based on Von Neumann model</a:t>
                      </a:r>
                    </a:p>
                  </a:txBody>
                  <a:tcPr/>
                </a:tc>
                <a:tc>
                  <a:txBody>
                    <a:bodyPr/>
                    <a:lstStyle/>
                    <a:p>
                      <a:r>
                        <a:rPr lang="en-US" dirty="0"/>
                        <a:t>Micro controllers are based on Harvard architecture</a:t>
                      </a:r>
                    </a:p>
                  </a:txBody>
                  <a:tcPr/>
                </a:tc>
                <a:extLst>
                  <a:ext uri="{0D108BD9-81ED-4DB2-BD59-A6C34878D82A}">
                    <a16:rowId xmlns:a16="http://schemas.microsoft.com/office/drawing/2014/main" val="1045220399"/>
                  </a:ext>
                </a:extLst>
              </a:tr>
            </a:tbl>
          </a:graphicData>
        </a:graphic>
      </p:graphicFrame>
    </p:spTree>
    <p:extLst>
      <p:ext uri="{BB962C8B-B14F-4D97-AF65-F5344CB8AC3E}">
        <p14:creationId xmlns:p14="http://schemas.microsoft.com/office/powerpoint/2010/main" val="535889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spcBef>
                <a:spcPct val="20000"/>
              </a:spcBef>
              <a:defRPr/>
            </a:pPr>
            <a:r>
              <a:rPr lang="en-US" sz="2400" b="0" cap="none" dirty="0">
                <a:solidFill>
                  <a:schemeClr val="tx1">
                    <a:lumMod val="95000"/>
                    <a:lumOff val="5000"/>
                  </a:schemeClr>
                </a:solidFill>
                <a:latin typeface="Arial" charset="0"/>
                <a:ea typeface="+mn-ea"/>
                <a:cs typeface="Arial" charset="0"/>
              </a:rPr>
              <a:t>Von Neumann and Harvard Architecture</a:t>
            </a:r>
            <a:endParaRPr lang="en-US" sz="4400" dirty="0">
              <a:solidFill>
                <a:schemeClr val="tx1">
                  <a:lumMod val="95000"/>
                  <a:lumOff val="5000"/>
                </a:schemeClr>
              </a:solidFill>
            </a:endParaRPr>
          </a:p>
        </p:txBody>
      </p:sp>
      <p:sp>
        <p:nvSpPr>
          <p:cNvPr id="6" name="Title 1"/>
          <p:cNvSpPr>
            <a:spLocks noGrp="1"/>
          </p:cNvSpPr>
          <p:nvPr>
            <p:ph type="body" idx="1"/>
          </p:nvPr>
        </p:nvSpPr>
        <p:spPr/>
        <p:txBody>
          <a:bodyPr/>
          <a:lstStyle/>
          <a:p>
            <a:pPr>
              <a:defRPr/>
            </a:pPr>
            <a:r>
              <a:rPr lang="en-GB" dirty="0">
                <a:latin typeface="Arial" charset="0"/>
                <a:cs typeface="Arial" charset="0"/>
              </a:rPr>
              <a:t>Section 3</a:t>
            </a:r>
            <a:endParaRPr lang="vi-VN" dirty="0">
              <a:latin typeface="Arial" charset="0"/>
              <a:cs typeface="Arial" charset="0"/>
            </a:endParaRPr>
          </a:p>
        </p:txBody>
      </p:sp>
      <p:sp>
        <p:nvSpPr>
          <p:cNvPr id="3" name="Date Placeholder 2"/>
          <p:cNvSpPr>
            <a:spLocks noGrp="1"/>
          </p:cNvSpPr>
          <p:nvPr>
            <p:ph type="dt" sz="half" idx="10"/>
          </p:nvPr>
        </p:nvSpPr>
        <p:spPr/>
        <p:txBody>
          <a:bodyPr/>
          <a:lstStyle/>
          <a:p>
            <a:fld id="{5311EF71-FC9A-4939-859D-AA6007B9A73D}" type="datetime1">
              <a:rPr lang="en-US" smtClean="0"/>
              <a:t>8/25/2026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24</a:t>
            </a:fld>
            <a:endParaRPr lang="en-US"/>
          </a:p>
        </p:txBody>
      </p:sp>
    </p:spTree>
    <p:extLst>
      <p:ext uri="{BB962C8B-B14F-4D97-AF65-F5344CB8AC3E}">
        <p14:creationId xmlns:p14="http://schemas.microsoft.com/office/powerpoint/2010/main" val="2738223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i="1" dirty="0"/>
              <a:t>Von Neumann and Harvard Architecture</a:t>
            </a:r>
            <a:endParaRPr lang="en-US" sz="24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25</a:t>
            </a:fld>
            <a:endParaRPr lang="en-US"/>
          </a:p>
        </p:txBody>
      </p:sp>
      <p:pic>
        <p:nvPicPr>
          <p:cNvPr id="7" name="Picture 2">
            <a:extLst>
              <a:ext uri="{FF2B5EF4-FFF2-40B4-BE49-F238E27FC236}">
                <a16:creationId xmlns:a16="http://schemas.microsoft.com/office/drawing/2014/main" id="{2AC54883-23BD-474F-B85A-2B4F9BE3A15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a:xfrm>
            <a:off x="442721" y="933345"/>
            <a:ext cx="8329818" cy="3156220"/>
          </a:xfrm>
          <a:prstGeom prst="rect">
            <a:avLst/>
          </a:prstGeom>
          <a:noFill/>
        </p:spPr>
      </p:pic>
      <p:sp>
        <p:nvSpPr>
          <p:cNvPr id="8" name="Content Placeholder 2">
            <a:extLst>
              <a:ext uri="{FF2B5EF4-FFF2-40B4-BE49-F238E27FC236}">
                <a16:creationId xmlns:a16="http://schemas.microsoft.com/office/drawing/2014/main" id="{599893C5-A133-4422-B1DE-F6BAECC0FBD7}"/>
              </a:ext>
            </a:extLst>
          </p:cNvPr>
          <p:cNvSpPr txBox="1">
            <a:spLocks/>
          </p:cNvSpPr>
          <p:nvPr/>
        </p:nvSpPr>
        <p:spPr>
          <a:xfrm>
            <a:off x="580546" y="4141120"/>
            <a:ext cx="7713704" cy="899987"/>
          </a:xfrm>
          <a:prstGeom prst="rect">
            <a:avLst/>
          </a:prstGeom>
        </p:spPr>
        <p:txBody>
          <a:bodyPr vert="horz" lIns="91440" tIns="45720" rIns="91440" bIns="45720" rtlCol="0">
            <a:normAutofit/>
          </a:bodyPr>
          <a:lstStyle/>
          <a:p>
            <a:pPr lvl="0">
              <a:spcBef>
                <a:spcPct val="20000"/>
              </a:spcBef>
              <a:defRPr/>
            </a:pPr>
            <a:r>
              <a:rPr lang="en-US" sz="3200" noProof="0" dirty="0">
                <a:latin typeface="Arial" pitchFamily="34" charset="0"/>
                <a:cs typeface="Arial" pitchFamily="34" charset="0"/>
              </a:rPr>
              <a:t>   </a:t>
            </a:r>
            <a:r>
              <a:rPr lang="en-US" sz="3200" dirty="0"/>
              <a:t>Von Neumann                                </a:t>
            </a:r>
            <a:r>
              <a:rPr lang="en-US" sz="3200" noProof="0" dirty="0">
                <a:latin typeface="Arial" pitchFamily="34" charset="0"/>
                <a:cs typeface="Arial" pitchFamily="34" charset="0"/>
              </a:rPr>
              <a:t> Harvard</a:t>
            </a:r>
            <a:endParaRPr kumimoji="0" lang="en-US" sz="3200" b="0" i="0" u="none" strike="noStrike" kern="1200" cap="none" spc="0" normalizeH="0" baseline="0" noProof="0" dirty="0">
              <a:ln>
                <a:noFill/>
              </a:ln>
              <a:solidFill>
                <a:schemeClr val="tx1"/>
              </a:solidFill>
              <a:effectLst/>
              <a:uLnTx/>
              <a:uFillTx/>
              <a:latin typeface="Arial" pitchFamily="34" charset="0"/>
              <a:cs typeface="Arial" pitchFamily="34" charset="0"/>
            </a:endParaRPr>
          </a:p>
        </p:txBody>
      </p:sp>
    </p:spTree>
    <p:extLst>
      <p:ext uri="{BB962C8B-B14F-4D97-AF65-F5344CB8AC3E}">
        <p14:creationId xmlns:p14="http://schemas.microsoft.com/office/powerpoint/2010/main" val="3337137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lang="en-US" altLang="en-US" sz="2400" i="1" dirty="0"/>
              <a:t>Von Neumann and Harvard Architecture</a:t>
            </a:r>
            <a:endParaRPr sz="2400" dirty="0"/>
          </a:p>
        </p:txBody>
      </p:sp>
      <p:sp>
        <p:nvSpPr>
          <p:cNvPr id="3" name="TextBox 2"/>
          <p:cNvSpPr txBox="1"/>
          <p:nvPr/>
        </p:nvSpPr>
        <p:spPr>
          <a:xfrm>
            <a:off x="438911" y="1051560"/>
            <a:ext cx="3794760" cy="310896"/>
          </a:xfrm>
          <a:prstGeom prst="rect">
            <a:avLst/>
          </a:prstGeom>
          <a:noFill/>
        </p:spPr>
        <p:txBody>
          <a:bodyPr wrap="square" lIns="36576" tIns="18288" rIns="36576" bIns="18288" anchor="ctr">
            <a:spAutoFit/>
          </a:bodyPr>
          <a:lstStyle/>
          <a:p>
            <a:pPr algn="ctr">
              <a:spcBef>
                <a:spcPts val="0"/>
              </a:spcBef>
              <a:spcAft>
                <a:spcPts val="0"/>
              </a:spcAft>
            </a:pPr>
            <a:r>
              <a:rPr sz="1800" b="1">
                <a:solidFill>
                  <a:srgbClr val="F7941D"/>
                </a:solidFill>
                <a:latin typeface="Arial"/>
              </a:rPr>
              <a:t>VON NEUMANN</a:t>
            </a:r>
          </a:p>
        </p:txBody>
      </p:sp>
      <p:sp>
        <p:nvSpPr>
          <p:cNvPr id="4" name="TextBox 3"/>
          <p:cNvSpPr txBox="1"/>
          <p:nvPr/>
        </p:nvSpPr>
        <p:spPr>
          <a:xfrm>
            <a:off x="4782311" y="1051560"/>
            <a:ext cx="3794760" cy="310896"/>
          </a:xfrm>
          <a:prstGeom prst="rect">
            <a:avLst/>
          </a:prstGeom>
          <a:noFill/>
        </p:spPr>
        <p:txBody>
          <a:bodyPr wrap="square" lIns="36576" tIns="18288" rIns="36576" bIns="18288" anchor="ctr">
            <a:spAutoFit/>
          </a:bodyPr>
          <a:lstStyle/>
          <a:p>
            <a:pPr algn="ctr">
              <a:spcBef>
                <a:spcPts val="0"/>
              </a:spcBef>
              <a:spcAft>
                <a:spcPts val="0"/>
              </a:spcAft>
            </a:pPr>
            <a:r>
              <a:rPr sz="1800" b="1">
                <a:solidFill>
                  <a:srgbClr val="F7941D"/>
                </a:solidFill>
                <a:latin typeface="Arial"/>
              </a:rPr>
              <a:t>HARVARD</a:t>
            </a:r>
          </a:p>
        </p:txBody>
      </p:sp>
      <p:cxnSp>
        <p:nvCxnSpPr>
          <p:cNvPr id="5" name="Connector 4"/>
          <p:cNvCxnSpPr/>
          <p:nvPr/>
        </p:nvCxnSpPr>
        <p:spPr>
          <a:xfrm>
            <a:off x="4507991" y="1115568"/>
            <a:ext cx="0" cy="3337560"/>
          </a:xfrm>
          <a:prstGeom prst="line">
            <a:avLst/>
          </a:prstGeom>
          <a:ln w="15240">
            <a:solidFill>
              <a:srgbClr val="D2D2D2"/>
            </a:solidFill>
            <a:prstDash val="dash"/>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94359" y="1664208"/>
            <a:ext cx="1234440" cy="777240"/>
          </a:xfrm>
          <a:prstGeom prst="roundRect">
            <a:avLst/>
          </a:prstGeom>
          <a:solidFill>
            <a:srgbClr val="FFFFFF"/>
          </a:solidFill>
          <a:ln w="15240">
            <a:solidFill>
              <a:srgbClr val="4F81BD"/>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a:solidFill>
                  <a:srgbClr val="232323"/>
                </a:solidFill>
                <a:latin typeface="Arial"/>
              </a:rPr>
              <a:t>CPU</a:t>
            </a:r>
          </a:p>
        </p:txBody>
      </p:sp>
      <p:sp>
        <p:nvSpPr>
          <p:cNvPr id="7" name="Rounded Rectangle 6"/>
          <p:cNvSpPr/>
          <p:nvPr/>
        </p:nvSpPr>
        <p:spPr>
          <a:xfrm>
            <a:off x="2752343" y="1527048"/>
            <a:ext cx="1417320" cy="1051560"/>
          </a:xfrm>
          <a:prstGeom prst="roundRect">
            <a:avLst/>
          </a:prstGeom>
          <a:solidFill>
            <a:srgbClr val="F2F2F2"/>
          </a:solidFill>
          <a:ln w="15240">
            <a:solidFill>
              <a:srgbClr val="D2D2D2"/>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dirty="0">
                <a:solidFill>
                  <a:srgbClr val="232323"/>
                </a:solidFill>
                <a:latin typeface="Arial"/>
              </a:rPr>
              <a:t>SHARED
MEMORY</a:t>
            </a:r>
          </a:p>
        </p:txBody>
      </p:sp>
      <p:cxnSp>
        <p:nvCxnSpPr>
          <p:cNvPr id="8" name="Connector 7"/>
          <p:cNvCxnSpPr/>
          <p:nvPr/>
        </p:nvCxnSpPr>
        <p:spPr>
          <a:xfrm>
            <a:off x="1856231" y="2057400"/>
            <a:ext cx="859536" cy="0"/>
          </a:xfrm>
          <a:prstGeom prst="line">
            <a:avLst/>
          </a:prstGeom>
          <a:ln w="25400">
            <a:solidFill>
              <a:srgbClr val="4F81B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856231" y="1600200"/>
            <a:ext cx="868680" cy="310896"/>
          </a:xfrm>
          <a:prstGeom prst="rect">
            <a:avLst/>
          </a:prstGeom>
          <a:noFill/>
        </p:spPr>
        <p:txBody>
          <a:bodyPr wrap="square" lIns="36576" tIns="18288" rIns="36576" bIns="18288" anchor="ctr">
            <a:spAutoFit/>
          </a:bodyPr>
          <a:lstStyle/>
          <a:p>
            <a:pPr algn="ctr">
              <a:spcBef>
                <a:spcPts val="0"/>
              </a:spcBef>
              <a:spcAft>
                <a:spcPts val="0"/>
              </a:spcAft>
            </a:pPr>
            <a:r>
              <a:rPr sz="1300" b="0">
                <a:solidFill>
                  <a:srgbClr val="5A5A5A"/>
                </a:solidFill>
                <a:latin typeface="Arial"/>
              </a:rPr>
              <a:t>one bus</a:t>
            </a:r>
          </a:p>
        </p:txBody>
      </p:sp>
      <p:sp>
        <p:nvSpPr>
          <p:cNvPr id="10" name="TextBox 9"/>
          <p:cNvSpPr txBox="1"/>
          <p:nvPr/>
        </p:nvSpPr>
        <p:spPr>
          <a:xfrm>
            <a:off x="2843783" y="2606040"/>
            <a:ext cx="1234440" cy="457200"/>
          </a:xfrm>
          <a:prstGeom prst="rect">
            <a:avLst/>
          </a:prstGeom>
          <a:noFill/>
        </p:spPr>
        <p:txBody>
          <a:bodyPr wrap="square" lIns="36576" tIns="18288" rIns="36576" bIns="18288" anchor="ctr">
            <a:spAutoFit/>
          </a:bodyPr>
          <a:lstStyle/>
          <a:p>
            <a:pPr algn="ctr">
              <a:spcBef>
                <a:spcPts val="0"/>
              </a:spcBef>
              <a:spcAft>
                <a:spcPts val="0"/>
              </a:spcAft>
            </a:pPr>
            <a:r>
              <a:rPr sz="1300" b="0">
                <a:solidFill>
                  <a:srgbClr val="5A5A5A"/>
                </a:solidFill>
                <a:latin typeface="Arial"/>
              </a:rPr>
              <a:t>instructions + data</a:t>
            </a:r>
          </a:p>
        </p:txBody>
      </p:sp>
      <p:sp>
        <p:nvSpPr>
          <p:cNvPr id="11" name="Rounded Rectangle 10"/>
          <p:cNvSpPr/>
          <p:nvPr/>
        </p:nvSpPr>
        <p:spPr>
          <a:xfrm>
            <a:off x="4873751" y="1664208"/>
            <a:ext cx="1234440" cy="777240"/>
          </a:xfrm>
          <a:prstGeom prst="roundRect">
            <a:avLst/>
          </a:prstGeom>
          <a:solidFill>
            <a:srgbClr val="FFFFFF"/>
          </a:solidFill>
          <a:ln w="15240">
            <a:solidFill>
              <a:srgbClr val="4F81BD"/>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800" b="1">
                <a:solidFill>
                  <a:srgbClr val="232323"/>
                </a:solidFill>
                <a:latin typeface="Arial"/>
              </a:rPr>
              <a:t>CPU</a:t>
            </a:r>
          </a:p>
        </p:txBody>
      </p:sp>
      <p:sp>
        <p:nvSpPr>
          <p:cNvPr id="12" name="Rounded Rectangle 11"/>
          <p:cNvSpPr/>
          <p:nvPr/>
        </p:nvSpPr>
        <p:spPr>
          <a:xfrm>
            <a:off x="7086599" y="1325880"/>
            <a:ext cx="1417320" cy="658368"/>
          </a:xfrm>
          <a:prstGeom prst="roundRect">
            <a:avLst/>
          </a:prstGeom>
          <a:solidFill>
            <a:srgbClr val="F2F2F2"/>
          </a:solidFill>
          <a:ln w="15240">
            <a:solidFill>
              <a:srgbClr val="D2D2D2"/>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232323"/>
                </a:solidFill>
                <a:latin typeface="Arial"/>
              </a:rPr>
              <a:t>PROGRAM
MEMORY</a:t>
            </a:r>
          </a:p>
        </p:txBody>
      </p:sp>
      <p:sp>
        <p:nvSpPr>
          <p:cNvPr id="13" name="Rounded Rectangle 12"/>
          <p:cNvSpPr/>
          <p:nvPr/>
        </p:nvSpPr>
        <p:spPr>
          <a:xfrm>
            <a:off x="7086599" y="2221992"/>
            <a:ext cx="1417320" cy="658368"/>
          </a:xfrm>
          <a:prstGeom prst="roundRect">
            <a:avLst/>
          </a:prstGeom>
          <a:solidFill>
            <a:srgbClr val="F2F2F2"/>
          </a:solidFill>
          <a:ln w="15240">
            <a:solidFill>
              <a:srgbClr val="D2D2D2"/>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232323"/>
                </a:solidFill>
                <a:latin typeface="Arial"/>
              </a:rPr>
              <a:t>DATA
MEMORY</a:t>
            </a:r>
          </a:p>
        </p:txBody>
      </p:sp>
      <p:cxnSp>
        <p:nvCxnSpPr>
          <p:cNvPr id="14" name="Connector 13"/>
          <p:cNvCxnSpPr/>
          <p:nvPr/>
        </p:nvCxnSpPr>
        <p:spPr>
          <a:xfrm flipV="1">
            <a:off x="6135623" y="1655064"/>
            <a:ext cx="914400" cy="164592"/>
          </a:xfrm>
          <a:prstGeom prst="line">
            <a:avLst/>
          </a:prstGeom>
          <a:ln w="2540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135623" y="2240280"/>
            <a:ext cx="914400" cy="310896"/>
          </a:xfrm>
          <a:prstGeom prst="line">
            <a:avLst/>
          </a:prstGeom>
          <a:ln w="25400">
            <a:solidFill>
              <a:srgbClr val="4F81B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72199" y="1453896"/>
            <a:ext cx="777240" cy="292608"/>
          </a:xfrm>
          <a:prstGeom prst="rect">
            <a:avLst/>
          </a:prstGeom>
          <a:noFill/>
        </p:spPr>
        <p:txBody>
          <a:bodyPr wrap="square" lIns="36576" tIns="18288" rIns="36576" bIns="18288" anchor="ctr">
            <a:spAutoFit/>
          </a:bodyPr>
          <a:lstStyle/>
          <a:p>
            <a:pPr algn="ctr">
              <a:spcBef>
                <a:spcPts val="0"/>
              </a:spcBef>
              <a:spcAft>
                <a:spcPts val="0"/>
              </a:spcAft>
            </a:pPr>
            <a:r>
              <a:rPr sz="1200" b="0">
                <a:solidFill>
                  <a:srgbClr val="5A5A5A"/>
                </a:solidFill>
                <a:latin typeface="Arial"/>
              </a:rPr>
              <a:t>bus 1</a:t>
            </a:r>
          </a:p>
        </p:txBody>
      </p:sp>
      <p:sp>
        <p:nvSpPr>
          <p:cNvPr id="17" name="TextBox 16"/>
          <p:cNvSpPr txBox="1"/>
          <p:nvPr/>
        </p:nvSpPr>
        <p:spPr>
          <a:xfrm>
            <a:off x="6172199" y="2459736"/>
            <a:ext cx="777240" cy="292608"/>
          </a:xfrm>
          <a:prstGeom prst="rect">
            <a:avLst/>
          </a:prstGeom>
          <a:noFill/>
        </p:spPr>
        <p:txBody>
          <a:bodyPr wrap="square" lIns="36576" tIns="18288" rIns="36576" bIns="18288" anchor="ctr">
            <a:spAutoFit/>
          </a:bodyPr>
          <a:lstStyle/>
          <a:p>
            <a:pPr algn="ctr">
              <a:spcBef>
                <a:spcPts val="0"/>
              </a:spcBef>
              <a:spcAft>
                <a:spcPts val="0"/>
              </a:spcAft>
            </a:pPr>
            <a:r>
              <a:rPr sz="1200" b="0">
                <a:solidFill>
                  <a:srgbClr val="5A5A5A"/>
                </a:solidFill>
                <a:latin typeface="Arial"/>
              </a:rPr>
              <a:t>bus 2</a:t>
            </a:r>
          </a:p>
        </p:txBody>
      </p:sp>
      <p:sp>
        <p:nvSpPr>
          <p:cNvPr id="18" name="TextBox 17"/>
          <p:cNvSpPr txBox="1"/>
          <p:nvPr/>
        </p:nvSpPr>
        <p:spPr>
          <a:xfrm>
            <a:off x="502919" y="3127248"/>
            <a:ext cx="3749039" cy="1078992"/>
          </a:xfrm>
          <a:prstGeom prst="rect">
            <a:avLst/>
          </a:prstGeom>
          <a:noFill/>
        </p:spPr>
        <p:txBody>
          <a:bodyPr wrap="square" lIns="54864" tIns="18288" rIns="27432" bIns="18288">
            <a:spAutoFit/>
          </a:bodyPr>
          <a:lstStyle/>
          <a:p>
            <a:pPr>
              <a:spcAft>
                <a:spcPts val="700"/>
              </a:spcAft>
              <a:defRPr sz="1600">
                <a:solidFill>
                  <a:srgbClr val="232323"/>
                </a:solidFill>
                <a:latin typeface="Arial"/>
              </a:defRPr>
            </a:pPr>
            <a:r>
              <a:rPr dirty="0"/>
              <a:t>Instructions and data use the same memory path.</a:t>
            </a:r>
          </a:p>
          <a:p>
            <a:pPr>
              <a:spcAft>
                <a:spcPts val="700"/>
              </a:spcAft>
              <a:defRPr sz="1600">
                <a:solidFill>
                  <a:srgbClr val="232323"/>
                </a:solidFill>
                <a:latin typeface="Arial"/>
              </a:defRPr>
            </a:pPr>
            <a:r>
              <a:rPr dirty="0"/>
              <a:t>The CPU accesses one item at a time through the shared bus.</a:t>
            </a:r>
          </a:p>
        </p:txBody>
      </p:sp>
      <p:sp>
        <p:nvSpPr>
          <p:cNvPr id="19" name="TextBox 18"/>
          <p:cNvSpPr txBox="1"/>
          <p:nvPr/>
        </p:nvSpPr>
        <p:spPr>
          <a:xfrm>
            <a:off x="4764023" y="3127248"/>
            <a:ext cx="3749039" cy="1078992"/>
          </a:xfrm>
          <a:prstGeom prst="rect">
            <a:avLst/>
          </a:prstGeom>
          <a:noFill/>
        </p:spPr>
        <p:txBody>
          <a:bodyPr wrap="square" lIns="54864" tIns="18288" rIns="27432" bIns="18288">
            <a:spAutoFit/>
          </a:bodyPr>
          <a:lstStyle/>
          <a:p>
            <a:pPr>
              <a:spcAft>
                <a:spcPts val="700"/>
              </a:spcAft>
              <a:defRPr sz="1600">
                <a:solidFill>
                  <a:srgbClr val="232323"/>
                </a:solidFill>
                <a:latin typeface="Arial"/>
              </a:defRPr>
            </a:pPr>
            <a:r>
              <a:t>Instructions and data travel on separate memory paths.</a:t>
            </a:r>
          </a:p>
          <a:p>
            <a:pPr>
              <a:spcAft>
                <a:spcPts val="700"/>
              </a:spcAft>
              <a:defRPr sz="1600">
                <a:solidFill>
                  <a:srgbClr val="232323"/>
                </a:solidFill>
                <a:latin typeface="Arial"/>
              </a:defRPr>
            </a:pPr>
            <a:r>
              <a:t>The CPU can access both paths independently.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lvl="0">
              <a:spcBef>
                <a:spcPct val="20000"/>
              </a:spcBef>
              <a:defRPr/>
            </a:pPr>
            <a:r>
              <a:rPr lang="en-US" sz="2400" b="0" cap="none" dirty="0">
                <a:solidFill>
                  <a:schemeClr val="tx1">
                    <a:lumMod val="95000"/>
                    <a:lumOff val="5000"/>
                  </a:schemeClr>
                </a:solidFill>
                <a:latin typeface="Arial" charset="0"/>
                <a:ea typeface="+mn-ea"/>
                <a:cs typeface="Arial" charset="0"/>
              </a:rPr>
              <a:t>Instruction Set Architecture</a:t>
            </a:r>
            <a:endParaRPr lang="en-US" sz="4400" dirty="0">
              <a:solidFill>
                <a:schemeClr val="tx1">
                  <a:lumMod val="95000"/>
                  <a:lumOff val="5000"/>
                </a:schemeClr>
              </a:solidFill>
            </a:endParaRPr>
          </a:p>
        </p:txBody>
      </p:sp>
      <p:sp>
        <p:nvSpPr>
          <p:cNvPr id="6" name="Title 1"/>
          <p:cNvSpPr>
            <a:spLocks noGrp="1"/>
          </p:cNvSpPr>
          <p:nvPr>
            <p:ph type="body" idx="1"/>
          </p:nvPr>
        </p:nvSpPr>
        <p:spPr/>
        <p:txBody>
          <a:bodyPr/>
          <a:lstStyle/>
          <a:p>
            <a:pPr>
              <a:defRPr/>
            </a:pPr>
            <a:r>
              <a:rPr lang="en-GB" dirty="0">
                <a:latin typeface="Arial" charset="0"/>
                <a:cs typeface="Arial" charset="0"/>
              </a:rPr>
              <a:t>Section 4</a:t>
            </a:r>
            <a:endParaRPr lang="vi-VN" dirty="0">
              <a:latin typeface="Arial" charset="0"/>
              <a:cs typeface="Arial" charset="0"/>
            </a:endParaRPr>
          </a:p>
        </p:txBody>
      </p:sp>
      <p:sp>
        <p:nvSpPr>
          <p:cNvPr id="3" name="Date Placeholder 2"/>
          <p:cNvSpPr>
            <a:spLocks noGrp="1"/>
          </p:cNvSpPr>
          <p:nvPr>
            <p:ph type="dt" sz="half" idx="10"/>
          </p:nvPr>
        </p:nvSpPr>
        <p:spPr/>
        <p:txBody>
          <a:bodyPr/>
          <a:lstStyle/>
          <a:p>
            <a:fld id="{5311EF71-FC9A-4939-859D-AA6007B9A73D}" type="datetime1">
              <a:rPr lang="en-US" smtClean="0"/>
              <a:t>8/25/2026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27</a:t>
            </a:fld>
            <a:endParaRPr lang="en-US"/>
          </a:p>
        </p:txBody>
      </p:sp>
    </p:spTree>
    <p:extLst>
      <p:ext uri="{BB962C8B-B14F-4D97-AF65-F5344CB8AC3E}">
        <p14:creationId xmlns:p14="http://schemas.microsoft.com/office/powerpoint/2010/main" val="457045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i="1" dirty="0"/>
              <a:t>Overview</a:t>
            </a:r>
            <a:endParaRPr lang="en-US" sz="24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28</a:t>
            </a:fld>
            <a:endParaRPr lang="en-US"/>
          </a:p>
        </p:txBody>
      </p:sp>
      <p:sp>
        <p:nvSpPr>
          <p:cNvPr id="8" name="Title 1">
            <a:extLst>
              <a:ext uri="{FF2B5EF4-FFF2-40B4-BE49-F238E27FC236}">
                <a16:creationId xmlns:a16="http://schemas.microsoft.com/office/drawing/2014/main" id="{DDCCB254-2B83-47B5-A14E-1EEC6F347692}"/>
              </a:ext>
            </a:extLst>
          </p:cNvPr>
          <p:cNvSpPr>
            <a:spLocks noGrp="1"/>
          </p:cNvSpPr>
          <p:nvPr>
            <p:ph idx="1"/>
          </p:nvPr>
        </p:nvSpPr>
        <p:spPr>
          <a:xfrm>
            <a:off x="278605" y="850106"/>
            <a:ext cx="8622507" cy="3744517"/>
          </a:xfrm>
        </p:spPr>
        <p:txBody>
          <a:bodyPr>
            <a:normAutofit/>
          </a:bodyPr>
          <a:lstStyle/>
          <a:p>
            <a:pPr algn="just"/>
            <a:r>
              <a:rPr lang="en-US" altLang="en-US" dirty="0"/>
              <a:t>In computer science, an instruction set architecture (ISA) is an abstract model of a computer. </a:t>
            </a:r>
          </a:p>
          <a:p>
            <a:pPr algn="just"/>
            <a:r>
              <a:rPr lang="en-US" dirty="0"/>
              <a:t>The Instruction Set Architecture (ISA) is the part of the processor that is visible to the programmer or compiler writer. The ISA serves as the boundary between software and hardware.</a:t>
            </a:r>
          </a:p>
        </p:txBody>
      </p:sp>
    </p:spTree>
    <p:extLst>
      <p:ext uri="{BB962C8B-B14F-4D97-AF65-F5344CB8AC3E}">
        <p14:creationId xmlns:p14="http://schemas.microsoft.com/office/powerpoint/2010/main" val="2369700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606" y="0"/>
            <a:ext cx="6885519" cy="644057"/>
          </a:xfrm>
        </p:spPr>
        <p:txBody>
          <a:bodyPr anchor="ctr">
            <a:normAutofit/>
          </a:bodyPr>
          <a:lstStyle/>
          <a:p>
            <a:r>
              <a:rPr lang="en-US" altLang="en-US" sz="2400" i="1" dirty="0"/>
              <a:t>Overview</a:t>
            </a:r>
            <a:endParaRPr lang="en-US" sz="2400" dirty="0"/>
          </a:p>
        </p:txBody>
      </p:sp>
      <p:sp>
        <p:nvSpPr>
          <p:cNvPr id="3" name="Date Placeholder 2"/>
          <p:cNvSpPr>
            <a:spLocks noGrp="1"/>
          </p:cNvSpPr>
          <p:nvPr>
            <p:ph type="dt" sz="half" idx="10"/>
          </p:nvPr>
        </p:nvSpPr>
        <p:spPr>
          <a:xfrm>
            <a:off x="278605" y="4767263"/>
            <a:ext cx="1367315" cy="273844"/>
          </a:xfrm>
        </p:spPr>
        <p:txBody>
          <a:bodyPr anchor="ctr">
            <a:normAutofit/>
          </a:bodyPr>
          <a:lstStyle/>
          <a:p>
            <a:pPr>
              <a:lnSpc>
                <a:spcPct val="90000"/>
              </a:lnSpc>
              <a:spcAft>
                <a:spcPts val="600"/>
              </a:spcAft>
            </a:pPr>
            <a:fld id="{2879C26C-EA9B-46F9-9E85-988B19AAD8EA}" type="datetime1">
              <a:rPr lang="en-US" smtClean="0"/>
              <a:pPr>
                <a:lnSpc>
                  <a:spcPct val="90000"/>
                </a:lnSpc>
                <a:spcAft>
                  <a:spcPts val="600"/>
                </a:spcAft>
              </a:pPr>
              <a:t>8/25/2026</a:t>
            </a:fld>
            <a:endParaRPr lang="en-US"/>
          </a:p>
        </p:txBody>
      </p:sp>
      <p:sp>
        <p:nvSpPr>
          <p:cNvPr id="4" name="Footer Placeholder 3"/>
          <p:cNvSpPr>
            <a:spLocks noGrp="1"/>
          </p:cNvSpPr>
          <p:nvPr>
            <p:ph type="ftr" sz="quarter" idx="11"/>
          </p:nvPr>
        </p:nvSpPr>
        <p:spPr>
          <a:xfrm>
            <a:off x="1764506" y="4767263"/>
            <a:ext cx="6372225" cy="273844"/>
          </a:xfrm>
        </p:spPr>
        <p:txBody>
          <a:bodyPr anchor="ctr">
            <a:normAutofit/>
          </a:bodyPr>
          <a:lstStyle/>
          <a:p>
            <a:pPr>
              <a:lnSpc>
                <a:spcPct val="90000"/>
              </a:lnSpc>
              <a:spcAft>
                <a:spcPts val="600"/>
              </a:spcAft>
            </a:pPr>
            <a:r>
              <a:rPr lang="en-US"/>
              <a:t>09e-BM/DT/FSOFT - ©FPT SOFTWARE – Fresher Academy - Internal Use</a:t>
            </a:r>
          </a:p>
        </p:txBody>
      </p:sp>
      <p:sp>
        <p:nvSpPr>
          <p:cNvPr id="5" name="Slide Number Placeholder 4"/>
          <p:cNvSpPr>
            <a:spLocks noGrp="1"/>
          </p:cNvSpPr>
          <p:nvPr>
            <p:ph type="sldNum" sz="quarter" idx="12"/>
          </p:nvPr>
        </p:nvSpPr>
        <p:spPr>
          <a:xfrm>
            <a:off x="8229600" y="4767263"/>
            <a:ext cx="671512" cy="273844"/>
          </a:xfrm>
        </p:spPr>
        <p:txBody>
          <a:bodyPr anchor="ctr">
            <a:normAutofit/>
          </a:bodyPr>
          <a:lstStyle/>
          <a:p>
            <a:pPr>
              <a:lnSpc>
                <a:spcPct val="90000"/>
              </a:lnSpc>
              <a:spcAft>
                <a:spcPts val="600"/>
              </a:spcAft>
            </a:pPr>
            <a:fld id="{E3B08AF7-4237-6949-8335-F63F47C2C8CC}" type="slidenum">
              <a:rPr lang="en-US" smtClean="0"/>
              <a:pPr>
                <a:lnSpc>
                  <a:spcPct val="90000"/>
                </a:lnSpc>
                <a:spcAft>
                  <a:spcPts val="600"/>
                </a:spcAft>
              </a:pPr>
              <a:t>29</a:t>
            </a:fld>
            <a:endParaRPr lang="en-US"/>
          </a:p>
        </p:txBody>
      </p:sp>
      <p:sp>
        <p:nvSpPr>
          <p:cNvPr id="12" name="Content Placeholder 5">
            <a:extLst>
              <a:ext uri="{FF2B5EF4-FFF2-40B4-BE49-F238E27FC236}">
                <a16:creationId xmlns:a16="http://schemas.microsoft.com/office/drawing/2014/main" id="{DBC0AEE4-013E-4556-AD13-5CDFD1ABEFE5}"/>
              </a:ext>
            </a:extLst>
          </p:cNvPr>
          <p:cNvSpPr>
            <a:spLocks noGrp="1"/>
          </p:cNvSpPr>
          <p:nvPr>
            <p:ph sz="half" idx="1"/>
          </p:nvPr>
        </p:nvSpPr>
        <p:spPr>
          <a:xfrm>
            <a:off x="278606" y="900113"/>
            <a:ext cx="4217194" cy="2221706"/>
          </a:xfrm>
        </p:spPr>
        <p:txBody>
          <a:bodyPr>
            <a:normAutofit fontScale="77500" lnSpcReduction="20000"/>
          </a:bodyPr>
          <a:lstStyle/>
          <a:p>
            <a:r>
              <a:rPr lang="en-US" dirty="0"/>
              <a:t>The 3 most common types of ISAs are:</a:t>
            </a:r>
          </a:p>
          <a:p>
            <a:endParaRPr lang="en-US" dirty="0"/>
          </a:p>
          <a:p>
            <a:pPr lvl="1"/>
            <a:r>
              <a:rPr lang="en-US" b="1" dirty="0"/>
              <a:t>Stack</a:t>
            </a:r>
            <a:r>
              <a:rPr lang="en-US" dirty="0"/>
              <a:t> - The operands are implicitly on top of the stack.</a:t>
            </a:r>
          </a:p>
          <a:p>
            <a:pPr lvl="1"/>
            <a:r>
              <a:rPr lang="en-US" b="1" dirty="0"/>
              <a:t>Accumulator</a:t>
            </a:r>
            <a:r>
              <a:rPr lang="en-US" dirty="0"/>
              <a:t> - One operand is implicitly the accumulator.</a:t>
            </a:r>
          </a:p>
          <a:p>
            <a:pPr lvl="1"/>
            <a:r>
              <a:rPr lang="en-US" b="1" dirty="0"/>
              <a:t>General Purpose Register (GPR) </a:t>
            </a:r>
            <a:r>
              <a:rPr lang="en-US" dirty="0"/>
              <a:t>- All operands are </a:t>
            </a:r>
            <a:r>
              <a:rPr lang="en-US" dirty="0" err="1"/>
              <a:t>explicitely</a:t>
            </a:r>
            <a:r>
              <a:rPr lang="en-US" dirty="0"/>
              <a:t> mentioned, they are either registers or memory locations.</a:t>
            </a:r>
          </a:p>
        </p:txBody>
      </p:sp>
      <p:pic>
        <p:nvPicPr>
          <p:cNvPr id="7" name="Content Placeholder 6" descr="Diagram&#10;&#10;Description automatically generated">
            <a:extLst>
              <a:ext uri="{FF2B5EF4-FFF2-40B4-BE49-F238E27FC236}">
                <a16:creationId xmlns:a16="http://schemas.microsoft.com/office/drawing/2014/main" id="{4BF02D4D-ED2D-4AE2-B82E-C39F3050ED23}"/>
              </a:ext>
            </a:extLst>
          </p:cNvPr>
          <p:cNvPicPr>
            <a:picLocks noGrp="1" noChangeAspect="1"/>
          </p:cNvPicPr>
          <p:nvPr>
            <p:ph sz="half" idx="2"/>
          </p:nvPr>
        </p:nvPicPr>
        <p:blipFill>
          <a:blip r:embed="rId3"/>
          <a:stretch>
            <a:fillRect/>
          </a:stretch>
        </p:blipFill>
        <p:spPr>
          <a:xfrm>
            <a:off x="4648200" y="1383661"/>
            <a:ext cx="4252912" cy="1254609"/>
          </a:xfrm>
          <a:noFill/>
        </p:spPr>
      </p:pic>
      <p:graphicFrame>
        <p:nvGraphicFramePr>
          <p:cNvPr id="18" name="Table 18">
            <a:extLst>
              <a:ext uri="{FF2B5EF4-FFF2-40B4-BE49-F238E27FC236}">
                <a16:creationId xmlns:a16="http://schemas.microsoft.com/office/drawing/2014/main" id="{6A137805-2B4D-4785-A4DF-D11FD571D79B}"/>
              </a:ext>
            </a:extLst>
          </p:cNvPr>
          <p:cNvGraphicFramePr>
            <a:graphicFrameLocks noGrp="1"/>
          </p:cNvGraphicFramePr>
          <p:nvPr>
            <p:ph sz="quarter" idx="13"/>
            <p:extLst>
              <p:ext uri="{D42A27DB-BD31-4B8C-83A1-F6EECF244321}">
                <p14:modId xmlns:p14="http://schemas.microsoft.com/office/powerpoint/2010/main" val="4034040875"/>
              </p:ext>
            </p:extLst>
          </p:nvPr>
        </p:nvGraphicFramePr>
        <p:xfrm>
          <a:off x="336550" y="2815452"/>
          <a:ext cx="8623299" cy="1854200"/>
        </p:xfrm>
        <a:graphic>
          <a:graphicData uri="http://schemas.openxmlformats.org/drawingml/2006/table">
            <a:tbl>
              <a:tblPr firstRow="1" bandRow="1">
                <a:tableStyleId>{2D5ABB26-0587-4C30-8999-92F81FD0307C}</a:tableStyleId>
              </a:tblPr>
              <a:tblGrid>
                <a:gridCol w="2874433">
                  <a:extLst>
                    <a:ext uri="{9D8B030D-6E8A-4147-A177-3AD203B41FA5}">
                      <a16:colId xmlns:a16="http://schemas.microsoft.com/office/drawing/2014/main" val="793147997"/>
                    </a:ext>
                  </a:extLst>
                </a:gridCol>
                <a:gridCol w="2874433">
                  <a:extLst>
                    <a:ext uri="{9D8B030D-6E8A-4147-A177-3AD203B41FA5}">
                      <a16:colId xmlns:a16="http://schemas.microsoft.com/office/drawing/2014/main" val="540660334"/>
                    </a:ext>
                  </a:extLst>
                </a:gridCol>
                <a:gridCol w="2874433">
                  <a:extLst>
                    <a:ext uri="{9D8B030D-6E8A-4147-A177-3AD203B41FA5}">
                      <a16:colId xmlns:a16="http://schemas.microsoft.com/office/drawing/2014/main" val="1979890409"/>
                    </a:ext>
                  </a:extLst>
                </a:gridCol>
              </a:tblGrid>
              <a:tr h="370840">
                <a:tc>
                  <a:txBody>
                    <a:bodyPr/>
                    <a:lstStyle/>
                    <a:p>
                      <a:pPr algn="ctr"/>
                      <a:r>
                        <a:rPr lang="en-US" b="1" dirty="0"/>
                        <a:t>Stack</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Accumulator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GPR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3317836"/>
                  </a:ext>
                </a:extLst>
              </a:tr>
              <a:tr h="370840">
                <a:tc>
                  <a:txBody>
                    <a:bodyPr/>
                    <a:lstStyle/>
                    <a:p>
                      <a:pPr algn="l"/>
                      <a:r>
                        <a:rPr lang="en-US" dirty="0"/>
                        <a:t>PUSH x</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LOAD x</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LOAD R1,x</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6748807"/>
                  </a:ext>
                </a:extLst>
              </a:tr>
              <a:tr h="370840">
                <a:tc>
                  <a:txBody>
                    <a:bodyPr/>
                    <a:lstStyle/>
                    <a:p>
                      <a:pPr algn="l"/>
                      <a:r>
                        <a:rPr lang="en-US" dirty="0"/>
                        <a:t>PUSH b</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ADD b</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ADD R1,b</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152748"/>
                  </a:ext>
                </a:extLst>
              </a:tr>
              <a:tr h="370840">
                <a:tc>
                  <a:txBody>
                    <a:bodyPr/>
                    <a:lstStyle/>
                    <a:p>
                      <a:pPr algn="l"/>
                      <a:r>
                        <a:rPr lang="en-US" dirty="0"/>
                        <a:t>ADD</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STORE y</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t>STORE R1,y</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3285863"/>
                  </a:ext>
                </a:extLst>
              </a:tr>
              <a:tr h="370840">
                <a:tc>
                  <a:txBody>
                    <a:bodyPr/>
                    <a:lstStyle/>
                    <a:p>
                      <a:pPr algn="l"/>
                      <a:r>
                        <a:rPr lang="en-US" dirty="0"/>
                        <a:t>POP y</a:t>
                      </a:r>
                    </a:p>
                  </a:txBody>
                  <a:tcPr marL="22860" marR="22860" marT="22860" marB="22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4986403"/>
                  </a:ext>
                </a:extLst>
              </a:tr>
            </a:tbl>
          </a:graphicData>
        </a:graphic>
      </p:graphicFrame>
    </p:spTree>
    <p:extLst>
      <p:ext uri="{BB962C8B-B14F-4D97-AF65-F5344CB8AC3E}">
        <p14:creationId xmlns:p14="http://schemas.microsoft.com/office/powerpoint/2010/main" val="315811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i="1" dirty="0"/>
              <a:t>Classification of ISAs</a:t>
            </a:r>
            <a:endParaRPr lang="en-US" sz="2400"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fld id="{2879C26C-EA9B-46F9-9E85-988B19AAD8EA}" type="datetime1">
              <a:rPr lang="en-US" smtClean="0"/>
              <a:t>8/25/2026</a:t>
            </a:fld>
            <a:endParaRPr lang="en-US"/>
          </a:p>
        </p:txBody>
      </p:sp>
      <p:sp>
        <p:nvSpPr>
          <p:cNvPr id="4"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30</a:t>
            </a:fld>
            <a:endParaRPr lang="en-US"/>
          </a:p>
        </p:txBody>
      </p:sp>
      <p:sp>
        <p:nvSpPr>
          <p:cNvPr id="7" name="Content Placeholder 1">
            <a:extLst>
              <a:ext uri="{FF2B5EF4-FFF2-40B4-BE49-F238E27FC236}">
                <a16:creationId xmlns:a16="http://schemas.microsoft.com/office/drawing/2014/main" id="{9CA3564A-C2A6-4118-B0AB-13BA052673FC}"/>
              </a:ext>
            </a:extLst>
          </p:cNvPr>
          <p:cNvSpPr txBox="1">
            <a:spLocks/>
          </p:cNvSpPr>
          <p:nvPr/>
        </p:nvSpPr>
        <p:spPr>
          <a:xfrm>
            <a:off x="457200" y="827904"/>
            <a:ext cx="4114800" cy="3939359"/>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Wingdings" panose="05000000000000000000" pitchFamily="2" charset="2"/>
              <a:buChar char="ü"/>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altLang="en-US" b="1" dirty="0"/>
              <a:t>CISC</a:t>
            </a:r>
            <a:endParaRPr lang="en-US" altLang="en-US" sz="2800" b="1" dirty="0"/>
          </a:p>
          <a:p>
            <a:r>
              <a:rPr lang="en-US" altLang="en-US" dirty="0"/>
              <a:t>Fewer instructions to execute a given task than RISC</a:t>
            </a:r>
          </a:p>
          <a:p>
            <a:r>
              <a:rPr lang="en-US" altLang="en-US" dirty="0"/>
              <a:t>Programs for CISC take less storage space than programs for RISC</a:t>
            </a:r>
          </a:p>
          <a:p>
            <a:r>
              <a:rPr lang="en-US" altLang="en-US" dirty="0"/>
              <a:t>Arithmetic or other instructions may read their operand from memory and could write the result in memory</a:t>
            </a:r>
          </a:p>
          <a:p>
            <a:endParaRPr lang="en-US" dirty="0"/>
          </a:p>
        </p:txBody>
      </p:sp>
      <p:sp>
        <p:nvSpPr>
          <p:cNvPr id="9" name="Content Placeholder 1">
            <a:extLst>
              <a:ext uri="{FF2B5EF4-FFF2-40B4-BE49-F238E27FC236}">
                <a16:creationId xmlns:a16="http://schemas.microsoft.com/office/drawing/2014/main" id="{CE26B5E5-C981-4F78-AE04-3E9161DF989E}"/>
              </a:ext>
            </a:extLst>
          </p:cNvPr>
          <p:cNvSpPr txBox="1">
            <a:spLocks/>
          </p:cNvSpPr>
          <p:nvPr/>
        </p:nvSpPr>
        <p:spPr>
          <a:xfrm>
            <a:off x="4713745" y="832358"/>
            <a:ext cx="4114800" cy="393490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en-US" sz="2400" b="1" dirty="0"/>
              <a:t>RISC</a:t>
            </a:r>
          </a:p>
          <a:p>
            <a:pPr>
              <a:buFont typeface="Wingdings" panose="05000000000000000000" pitchFamily="2" charset="2"/>
              <a:buChar char="§"/>
            </a:pPr>
            <a:r>
              <a:rPr lang="en-US" altLang="en-US" sz="2200" dirty="0"/>
              <a:t>Simpler instructions, faster execution speeds per instruction</a:t>
            </a:r>
          </a:p>
          <a:p>
            <a:pPr>
              <a:buFont typeface="Wingdings" panose="05000000000000000000" pitchFamily="2" charset="2"/>
              <a:buChar char="§"/>
            </a:pPr>
            <a:r>
              <a:rPr lang="en-US" altLang="en-US" sz="2200" dirty="0"/>
              <a:t>Cheaper to implement</a:t>
            </a:r>
          </a:p>
          <a:p>
            <a:pPr>
              <a:buFont typeface="Wingdings" panose="05000000000000000000" pitchFamily="2" charset="2"/>
              <a:buChar char="§"/>
            </a:pPr>
            <a:r>
              <a:rPr lang="en-US" altLang="en-US" sz="2200" dirty="0"/>
              <a:t>Load/Store architecture – only load and store are used to access the external memory </a:t>
            </a:r>
          </a:p>
          <a:p>
            <a:endParaRPr lang="en-US" dirty="0"/>
          </a:p>
        </p:txBody>
      </p:sp>
    </p:spTree>
    <p:extLst>
      <p:ext uri="{BB962C8B-B14F-4D97-AF65-F5344CB8AC3E}">
        <p14:creationId xmlns:p14="http://schemas.microsoft.com/office/powerpoint/2010/main" val="78689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Lesson Summary</a:t>
            </a:r>
            <a:endParaRPr lang="en-US" sz="2400" dirty="0">
              <a:latin typeface="Arial" panose="020B0604020202020204" pitchFamily="34" charset="0"/>
              <a:cs typeface="Arial" panose="020B0604020202020204" pitchFamily="34" charset="0"/>
            </a:endParaRPr>
          </a:p>
        </p:txBody>
      </p:sp>
      <p:sp>
        <p:nvSpPr>
          <p:cNvPr id="6" name="Title 1"/>
          <p:cNvSpPr>
            <a:spLocks noGrp="1"/>
          </p:cNvSpPr>
          <p:nvPr>
            <p:ph idx="1"/>
          </p:nvPr>
        </p:nvSpPr>
        <p:spPr/>
        <p:txBody>
          <a:bodyPr>
            <a:normAutofit fontScale="92500" lnSpcReduction="10000"/>
          </a:bodyPr>
          <a:lstStyle/>
          <a:p>
            <a:pPr algn="just"/>
            <a:r>
              <a:rPr lang="en-US" altLang="en-US" i="1" dirty="0"/>
              <a:t>An embedded system is a product that has one or more computers embedded within it.</a:t>
            </a:r>
          </a:p>
          <a:p>
            <a:pPr algn="just"/>
            <a:endParaRPr lang="en-US" altLang="en-US" i="1" dirty="0"/>
          </a:p>
          <a:p>
            <a:pPr algn="just"/>
            <a:r>
              <a:rPr lang="en-US" altLang="en-US" i="1" dirty="0"/>
              <a:t>The embedded computer is usually a microcontroller: a microprocessor adapted for embedded control applications.</a:t>
            </a:r>
          </a:p>
          <a:p>
            <a:pPr algn="just"/>
            <a:endParaRPr lang="en-US" altLang="en-US" i="1" dirty="0"/>
          </a:p>
          <a:p>
            <a:pPr algn="just"/>
            <a:r>
              <a:rPr lang="en-US" altLang="en-US" i="1" dirty="0"/>
              <a:t>There are two kinds of microprocessor architectures: Harvard &amp; Von Neumann </a:t>
            </a:r>
          </a:p>
          <a:p>
            <a:pPr algn="just"/>
            <a:endParaRPr lang="en-US" altLang="en-US" i="1" dirty="0"/>
          </a:p>
          <a:p>
            <a:pPr algn="just"/>
            <a:r>
              <a:rPr lang="en-US" altLang="en-US" i="1" dirty="0"/>
              <a:t>The ISA serves as the boundary between software and hardware</a:t>
            </a:r>
          </a:p>
        </p:txBody>
      </p:sp>
      <p:sp>
        <p:nvSpPr>
          <p:cNvPr id="3" name="Date Placeholder 2"/>
          <p:cNvSpPr>
            <a:spLocks noGrp="1"/>
          </p:cNvSpPr>
          <p:nvPr>
            <p:ph type="dt" sz="half" idx="10"/>
          </p:nvPr>
        </p:nvSpPr>
        <p:spPr/>
        <p:txBody>
          <a:bodyPr/>
          <a:lstStyle/>
          <a:p>
            <a:fld id="{1CBC62ED-C7B4-41BF-990C-3909E43156E6}" type="datetime1">
              <a:rPr lang="en-US" smtClean="0"/>
              <a:t>8/25/2026</a:t>
            </a:fld>
            <a:endParaRPr lang="en-US"/>
          </a:p>
        </p:txBody>
      </p:sp>
      <p:sp>
        <p:nvSpPr>
          <p:cNvPr id="7"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31</a:t>
            </a:fld>
            <a:endParaRPr lang="en-US"/>
          </a:p>
        </p:txBody>
      </p:sp>
    </p:spTree>
    <p:extLst>
      <p:ext uri="{BB962C8B-B14F-4D97-AF65-F5344CB8AC3E}">
        <p14:creationId xmlns:p14="http://schemas.microsoft.com/office/powerpoint/2010/main" val="39000169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6600" dirty="0">
                <a:solidFill>
                  <a:schemeClr val="accent6">
                    <a:lumMod val="75000"/>
                  </a:schemeClr>
                </a:solidFill>
                <a:cs typeface="Arial"/>
              </a:rPr>
              <a:t>Thank you</a:t>
            </a:r>
          </a:p>
        </p:txBody>
      </p:sp>
      <p:sp>
        <p:nvSpPr>
          <p:cNvPr id="4" name="Subtitle 3"/>
          <p:cNvSpPr>
            <a:spLocks noGrp="1"/>
          </p:cNvSpPr>
          <p:nvPr>
            <p:ph type="subTitle" idx="1"/>
          </p:nvPr>
        </p:nvSpPr>
        <p:spPr/>
        <p:txBody>
          <a:bodyPr/>
          <a:lstStyle/>
          <a:p>
            <a:endParaRPr lang="en-US"/>
          </a:p>
        </p:txBody>
      </p:sp>
      <p:sp>
        <p:nvSpPr>
          <p:cNvPr id="3" name="Date Placeholder 2"/>
          <p:cNvSpPr>
            <a:spLocks noGrp="1"/>
          </p:cNvSpPr>
          <p:nvPr>
            <p:ph type="dt" sz="half" idx="10"/>
          </p:nvPr>
        </p:nvSpPr>
        <p:spPr/>
        <p:txBody>
          <a:bodyPr/>
          <a:lstStyle/>
          <a:p>
            <a:fld id="{A6E310CF-D8EB-4339-A038-1E0E0D4A410F}" type="datetime1">
              <a:rPr lang="en-US" smtClean="0"/>
              <a:t>8/25/2026</a:t>
            </a:fld>
            <a:endParaRPr lang="en-US"/>
          </a:p>
        </p:txBody>
      </p:sp>
      <p:sp>
        <p:nvSpPr>
          <p:cNvPr id="6" name="Footer Placeholder 3"/>
          <p:cNvSpPr>
            <a:spLocks noGrp="1"/>
          </p:cNvSpPr>
          <p:nvPr>
            <p:ph type="ftr" sz="quarter" idx="11"/>
          </p:nvPr>
        </p:nvSpPr>
        <p:spPr/>
        <p:txBody>
          <a:bodyPr/>
          <a:lstStyle/>
          <a:p>
            <a:r>
              <a:rPr lang="en-US"/>
              <a:t>09e-BM/DT/FSOFT - ©FPT SOFTWARE – Fresher Academy - Internal Use</a:t>
            </a:r>
            <a:endParaRPr lang="en-US" dirty="0"/>
          </a:p>
        </p:txBody>
      </p:sp>
      <p:sp>
        <p:nvSpPr>
          <p:cNvPr id="5" name="Slide Number Placeholder 4"/>
          <p:cNvSpPr>
            <a:spLocks noGrp="1"/>
          </p:cNvSpPr>
          <p:nvPr>
            <p:ph type="sldNum" sz="quarter" idx="12"/>
          </p:nvPr>
        </p:nvSpPr>
        <p:spPr/>
        <p:txBody>
          <a:bodyPr/>
          <a:lstStyle/>
          <a:p>
            <a:fld id="{E3B08AF7-4237-6949-8335-F63F47C2C8CC}" type="slidenum">
              <a:rPr lang="en-US" smtClean="0"/>
              <a:t>32</a:t>
            </a:fld>
            <a:endParaRPr lang="en-US" dirty="0"/>
          </a:p>
        </p:txBody>
      </p:sp>
    </p:spTree>
    <p:extLst>
      <p:ext uri="{BB962C8B-B14F-4D97-AF65-F5344CB8AC3E}">
        <p14:creationId xmlns:p14="http://schemas.microsoft.com/office/powerpoint/2010/main" val="3906525621"/>
      </p:ext>
    </p:extLst>
  </p:cSld>
  <p:clrMapOvr>
    <a:masterClrMapping/>
  </p:clrMapOvr>
</p:sld>
</file>

<file path=ppt/theme/theme1.xml><?xml version="1.0" encoding="utf-8"?>
<a:theme xmlns:a="http://schemas.openxmlformats.org/drawingml/2006/main" name="Template_Internal_Cour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D0E3C0644D30A47B7553174789F2086" ma:contentTypeVersion="12" ma:contentTypeDescription="Create a new document." ma:contentTypeScope="" ma:versionID="e9690466216033ae3cb1a371bbcd7ff4">
  <xsd:schema xmlns:xsd="http://www.w3.org/2001/XMLSchema" xmlns:xs="http://www.w3.org/2001/XMLSchema" xmlns:p="http://schemas.microsoft.com/office/2006/metadata/properties" xmlns:ns3="fbeeca5f-b98a-47ac-acdc-cb0c690cd06b" xmlns:ns4="f9df24d8-8c62-4f60-b8e3-66b7bd45152e" targetNamespace="http://schemas.microsoft.com/office/2006/metadata/properties" ma:root="true" ma:fieldsID="2fba7e56455423793922b8bcbab41249" ns3:_="" ns4:_="">
    <xsd:import namespace="fbeeca5f-b98a-47ac-acdc-cb0c690cd06b"/>
    <xsd:import namespace="f9df24d8-8c62-4f60-b8e3-66b7bd45152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eeca5f-b98a-47ac-acdc-cb0c690cd0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df24d8-8c62-4f60-b8e3-66b7bd45152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4530AC-0EF4-4B39-A81F-916E1389888C}">
  <ds:schemaRefs>
    <ds:schemaRef ds:uri="http://www.w3.org/XML/1998/namespace"/>
    <ds:schemaRef ds:uri="http://purl.org/dc/dcmitype/"/>
    <ds:schemaRef ds:uri="f9df24d8-8c62-4f60-b8e3-66b7bd45152e"/>
    <ds:schemaRef ds:uri="http://purl.org/dc/terms/"/>
    <ds:schemaRef ds:uri="http://purl.org/dc/elements/1.1/"/>
    <ds:schemaRef ds:uri="http://schemas.microsoft.com/office/2006/metadata/properties"/>
    <ds:schemaRef ds:uri="fbeeca5f-b98a-47ac-acdc-cb0c690cd06b"/>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18E398F8-701E-428D-9494-1832B10FEB6A}">
  <ds:schemaRefs>
    <ds:schemaRef ds:uri="http://schemas.microsoft.com/sharepoint/v3/contenttype/forms"/>
  </ds:schemaRefs>
</ds:datastoreItem>
</file>

<file path=customXml/itemProps3.xml><?xml version="1.0" encoding="utf-8"?>
<ds:datastoreItem xmlns:ds="http://schemas.openxmlformats.org/officeDocument/2006/customXml" ds:itemID="{C9E3391F-9359-4321-BB4A-F18B82C9A3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eeca5f-b98a-47ac-acdc-cb0c690cd06b"/>
    <ds:schemaRef ds:uri="f9df24d8-8c62-4f60-b8e3-66b7bd4515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b512a4e-bb54-4328-ad34-d43205aaa1ec}" enabled="1" method="Standard" siteId="{f01e930a-b52e-42b1-b70f-a8882b5d043b}" removed="0"/>
</clbl:labelList>
</file>

<file path=docProps/app.xml><?xml version="1.0" encoding="utf-8"?>
<Properties xmlns="http://schemas.openxmlformats.org/officeDocument/2006/extended-properties" xmlns:vt="http://schemas.openxmlformats.org/officeDocument/2006/docPropsVTypes">
  <Template>Template_Internal_Course</Template>
  <TotalTime>1003</TotalTime>
  <Words>3934</Words>
  <Application>Microsoft Office PowerPoint</Application>
  <PresentationFormat>On-screen Show (16:9)</PresentationFormat>
  <Paragraphs>430</Paragraphs>
  <Slides>32</Slides>
  <Notes>27</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Template_Internal_Course</vt:lpstr>
      <vt:lpstr>Embedded System Getting Started</vt:lpstr>
      <vt:lpstr>Lesson Objectives</vt:lpstr>
      <vt:lpstr>Agenda</vt:lpstr>
      <vt:lpstr>Embedded System Introduction</vt:lpstr>
      <vt:lpstr>1.1. Introduction</vt:lpstr>
      <vt:lpstr>1.2. What is embedded system?</vt:lpstr>
      <vt:lpstr>1.3. History of Embedded system</vt:lpstr>
      <vt:lpstr>1.4. Characteristics of Embedded Systems</vt:lpstr>
      <vt:lpstr>1.5. Types of Embedded System</vt:lpstr>
      <vt:lpstr>Applications of Embedded Systems</vt:lpstr>
      <vt:lpstr>Microcontroller &amp; Microprocessor</vt:lpstr>
      <vt:lpstr>Microcontroller &amp; Microprocessor</vt:lpstr>
      <vt:lpstr>Definition</vt:lpstr>
      <vt:lpstr>Types</vt:lpstr>
      <vt:lpstr>Types</vt:lpstr>
      <vt:lpstr>History: Processor Evolution</vt:lpstr>
      <vt:lpstr>Structure</vt:lpstr>
      <vt:lpstr>Structure</vt:lpstr>
      <vt:lpstr>Features</vt:lpstr>
      <vt:lpstr>Features</vt:lpstr>
      <vt:lpstr>Applications</vt:lpstr>
      <vt:lpstr>Applications</vt:lpstr>
      <vt:lpstr>Key between Microcontroller and Microprocessor</vt:lpstr>
      <vt:lpstr>Von Neumann and Harvard Architecture</vt:lpstr>
      <vt:lpstr>Von Neumann and Harvard Architecture</vt:lpstr>
      <vt:lpstr>Von Neumann and Harvard Architecture</vt:lpstr>
      <vt:lpstr>Instruction Set Architecture</vt:lpstr>
      <vt:lpstr>Overview</vt:lpstr>
      <vt:lpstr>Overview</vt:lpstr>
      <vt:lpstr>Classification of ISAs</vt:lpstr>
      <vt:lpstr>Lesson 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 Tuan Linh (FHO.FWA)</dc:creator>
  <cp:lastModifiedBy>Hung Phan Quoc</cp:lastModifiedBy>
  <cp:revision>80</cp:revision>
  <dcterms:created xsi:type="dcterms:W3CDTF">2015-08-31T01:44:46Z</dcterms:created>
  <dcterms:modified xsi:type="dcterms:W3CDTF">2026-08-26T03:43:17Z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0x010100AD0E3C0644D30A47B7553174789F2086</vt:lpwstr>
  </property>
</Properties>
</file>