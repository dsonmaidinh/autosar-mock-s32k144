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05" r:id="rId5"/>
    <p:sldId id="2140753673" r:id="rId6"/>
    <p:sldId id="2140753671" r:id="rId7"/>
    <p:sldId id="2140753872" r:id="rId8"/>
    <p:sldId id="2140753890" r:id="rId9"/>
    <p:sldId id="2140753892" r:id="rId10"/>
    <p:sldId id="2140753891" r:id="rId11"/>
    <p:sldId id="2140753880" r:id="rId12"/>
    <p:sldId id="2140753883" r:id="rId13"/>
    <p:sldId id="2140753886" r:id="rId14"/>
    <p:sldId id="2140753887" r:id="rId15"/>
    <p:sldId id="2140753888" r:id="rId16"/>
    <p:sldId id="2140753889" r:id="rId17"/>
    <p:sldId id="28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BC12F91-C5C4-5145-8FDB-611B9A0854BE}">
          <p14:sldIdLst>
            <p14:sldId id="305"/>
            <p14:sldId id="2140753673"/>
            <p14:sldId id="2140753671"/>
            <p14:sldId id="2140753872"/>
            <p14:sldId id="2140753890"/>
            <p14:sldId id="2140753892"/>
            <p14:sldId id="2140753891"/>
            <p14:sldId id="2140753880"/>
            <p14:sldId id="2140753883"/>
            <p14:sldId id="2140753886"/>
            <p14:sldId id="2140753887"/>
            <p14:sldId id="2140753888"/>
            <p14:sldId id="2140753889"/>
            <p14:sldId id="28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7121"/>
    <a:srgbClr val="B5B5B5"/>
    <a:srgbClr val="19226D"/>
    <a:srgbClr val="33B2C1"/>
    <a:srgbClr val="50B848"/>
    <a:srgbClr val="034EA2"/>
    <a:srgbClr val="F2F2F2"/>
    <a:srgbClr val="3EA9C1"/>
    <a:srgbClr val="33B2C0"/>
    <a:srgbClr val="E4E5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2A8E6F-D0B8-6F7F-40BA-351211ABF6E9}" v="6" dt="2026-09-08T01:32:54.2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at Nguyen Thanh" userId="S::phatnt78@fpt.com::db7fcd39-d929-4339-abf1-0c92626794eb" providerId="AD" clId="Web-{472A8E6F-D0B8-6F7F-40BA-351211ABF6E9}"/>
    <pc:docChg chg="modSld">
      <pc:chgData name="Phat Nguyen Thanh" userId="S::phatnt78@fpt.com::db7fcd39-d929-4339-abf1-0c92626794eb" providerId="AD" clId="Web-{472A8E6F-D0B8-6F7F-40BA-351211ABF6E9}" dt="2026-09-08T01:32:54.204" v="5" actId="1076"/>
      <pc:docMkLst>
        <pc:docMk/>
      </pc:docMkLst>
      <pc:sldChg chg="modSp">
        <pc:chgData name="Phat Nguyen Thanh" userId="S::phatnt78@fpt.com::db7fcd39-d929-4339-abf1-0c92626794eb" providerId="AD" clId="Web-{472A8E6F-D0B8-6F7F-40BA-351211ABF6E9}" dt="2026-09-08T01:32:54.204" v="5" actId="1076"/>
        <pc:sldMkLst>
          <pc:docMk/>
          <pc:sldMk cId="1872699617" sldId="2140753889"/>
        </pc:sldMkLst>
        <pc:picChg chg="mod">
          <ac:chgData name="Phat Nguyen Thanh" userId="S::phatnt78@fpt.com::db7fcd39-d929-4339-abf1-0c92626794eb" providerId="AD" clId="Web-{472A8E6F-D0B8-6F7F-40BA-351211ABF6E9}" dt="2026-09-08T01:32:54.204" v="5" actId="1076"/>
          <ac:picMkLst>
            <pc:docMk/>
            <pc:sldMk cId="1872699617" sldId="2140753889"/>
            <ac:picMk id="5" creationId="{861F85D2-C64F-43EE-BE95-481980F885D7}"/>
          </ac:picMkLst>
        </pc:picChg>
      </pc:sldChg>
    </pc:docChg>
  </pc:docChgLst>
  <pc:docChgLst>
    <pc:chgData name="Long Le Hai" userId="S::longlh103@fpt.com::48b2e3f7-1b5b-4796-9bb7-015db314f14f" providerId="AD" clId="Web-{D528E7E8-3999-2830-3FF9-F344AD1764EC}"/>
    <pc:docChg chg="modSld">
      <pc:chgData name="Long Le Hai" userId="S::longlh103@fpt.com::48b2e3f7-1b5b-4796-9bb7-015db314f14f" providerId="AD" clId="Web-{D528E7E8-3999-2830-3FF9-F344AD1764EC}" dt="2026-08-25T09:54:28.899" v="3" actId="1076"/>
      <pc:docMkLst>
        <pc:docMk/>
      </pc:docMkLst>
      <pc:sldChg chg="modSp">
        <pc:chgData name="Long Le Hai" userId="S::longlh103@fpt.com::48b2e3f7-1b5b-4796-9bb7-015db314f14f" providerId="AD" clId="Web-{D528E7E8-3999-2830-3FF9-F344AD1764EC}" dt="2026-08-25T09:54:28.899" v="3" actId="1076"/>
        <pc:sldMkLst>
          <pc:docMk/>
          <pc:sldMk cId="2283228106" sldId="2140753872"/>
        </pc:sldMkLst>
        <pc:picChg chg="mod">
          <ac:chgData name="Long Le Hai" userId="S::longlh103@fpt.com::48b2e3f7-1b5b-4796-9bb7-015db314f14f" providerId="AD" clId="Web-{D528E7E8-3999-2830-3FF9-F344AD1764EC}" dt="2026-08-25T09:54:28.899" v="3" actId="1076"/>
          <ac:picMkLst>
            <pc:docMk/>
            <pc:sldMk cId="2283228106" sldId="2140753872"/>
            <ac:picMk id="7170" creationId="{DB8A06EE-B8E7-442A-A1F8-34FEB9AC67B5}"/>
          </ac:picMkLst>
        </pc:picChg>
      </pc:sldChg>
    </pc:docChg>
  </pc:docChgLst>
  <pc:docChgLst>
    <pc:chgData name="Trieu Ho Tu Minh" userId="S::trieuhtm@fpt.com::a6ae1ad2-64ab-42cb-9763-0b8bbbb14017" providerId="AD" clId="Web-{7B175C9D-9EFD-281B-97C8-1B602D6A4973}"/>
    <pc:docChg chg="modSld">
      <pc:chgData name="Trieu Ho Tu Minh" userId="S::trieuhtm@fpt.com::a6ae1ad2-64ab-42cb-9763-0b8bbbb14017" providerId="AD" clId="Web-{7B175C9D-9EFD-281B-97C8-1B602D6A4973}" dt="2026-08-26T08:54:15.104" v="1" actId="1076"/>
      <pc:docMkLst>
        <pc:docMk/>
      </pc:docMkLst>
      <pc:sldChg chg="modSp">
        <pc:chgData name="Trieu Ho Tu Minh" userId="S::trieuhtm@fpt.com::a6ae1ad2-64ab-42cb-9763-0b8bbbb14017" providerId="AD" clId="Web-{7B175C9D-9EFD-281B-97C8-1B602D6A4973}" dt="2026-08-26T08:54:15.104" v="1" actId="1076"/>
        <pc:sldMkLst>
          <pc:docMk/>
          <pc:sldMk cId="2239306036" sldId="2140753890"/>
        </pc:sldMkLst>
        <pc:picChg chg="mod">
          <ac:chgData name="Trieu Ho Tu Minh" userId="S::trieuhtm@fpt.com::a6ae1ad2-64ab-42cb-9763-0b8bbbb14017" providerId="AD" clId="Web-{7B175C9D-9EFD-281B-97C8-1B602D6A4973}" dt="2026-08-26T08:54:15.104" v="1" actId="1076"/>
          <ac:picMkLst>
            <pc:docMk/>
            <pc:sldMk cId="2239306036" sldId="2140753890"/>
            <ac:picMk id="6" creationId="{1BA2DDD3-B438-45AD-8F4A-E4048B6EDE6B}"/>
          </ac:picMkLst>
        </pc:picChg>
      </pc:sldChg>
    </pc:docChg>
  </pc:docChgLst>
  <pc:docChgLst>
    <pc:chgData name="Kien Ho Gia" userId="S::kienhg@fpt.com::5c095885-f972-41df-96f3-2c4737d58d9e" providerId="AD" clId="Web-{F8683973-B8AF-A638-90EB-BBB049A8BB4B}"/>
    <pc:docChg chg="modSld">
      <pc:chgData name="Kien Ho Gia" userId="S::kienhg@fpt.com::5c095885-f972-41df-96f3-2c4737d58d9e" providerId="AD" clId="Web-{F8683973-B8AF-A638-90EB-BBB049A8BB4B}" dt="2026-08-25T09:54:44.155" v="3" actId="1076"/>
      <pc:docMkLst>
        <pc:docMk/>
      </pc:docMkLst>
      <pc:sldChg chg="modSp">
        <pc:chgData name="Kien Ho Gia" userId="S::kienhg@fpt.com::5c095885-f972-41df-96f3-2c4737d58d9e" providerId="AD" clId="Web-{F8683973-B8AF-A638-90EB-BBB049A8BB4B}" dt="2026-08-25T09:54:44.155" v="3" actId="1076"/>
        <pc:sldMkLst>
          <pc:docMk/>
          <pc:sldMk cId="2283228106" sldId="2140753872"/>
        </pc:sldMkLst>
        <pc:picChg chg="mod">
          <ac:chgData name="Kien Ho Gia" userId="S::kienhg@fpt.com::5c095885-f972-41df-96f3-2c4737d58d9e" providerId="AD" clId="Web-{F8683973-B8AF-A638-90EB-BBB049A8BB4B}" dt="2026-08-25T09:54:44.155" v="3" actId="1076"/>
          <ac:picMkLst>
            <pc:docMk/>
            <pc:sldMk cId="2283228106" sldId="2140753872"/>
            <ac:picMk id="7170" creationId="{DB8A06EE-B8E7-442A-A1F8-34FEB9AC67B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45524A-D9F4-7545-AB95-5226F9D348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AF79B1-55A0-5A4C-8442-40DC6CEBD8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05CAF-285F-1248-96A4-68300F7F9840}" type="datetimeFigureOut">
              <a:rPr lang="en-VN" smtClean="0"/>
              <a:t>09/07/2026</a:t>
            </a:fld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E336C1-B440-0443-8FF8-F82E4A5B0D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4F16BD-3B62-C946-A536-E43A745C7A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C45307-BBFD-0045-B4A6-B73E368179D6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571309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212EB2-7195-4DCC-A544-62F8933C210E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6B53C0-79AE-4DBD-9505-8B7D1F13E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991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6B53C0-79AE-4DBD-9505-8B7D1F13E08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068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922DA9-E8C1-7A40-9EE6-89A4AED337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965200"/>
          </a:xfrm>
          <a:prstGeom prst="rect">
            <a:avLst/>
          </a:prstGeom>
        </p:spPr>
      </p:pic>
      <p:sp>
        <p:nvSpPr>
          <p:cNvPr id="3" name="Title 3">
            <a:extLst>
              <a:ext uri="{FF2B5EF4-FFF2-40B4-BE49-F238E27FC236}">
                <a16:creationId xmlns:a16="http://schemas.microsoft.com/office/drawing/2014/main" id="{A68080BE-7587-6144-8ECC-8515B3AB12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780" y="190527"/>
            <a:ext cx="10515600" cy="711081"/>
          </a:xfrm>
        </p:spPr>
        <p:txBody>
          <a:bodyPr>
            <a:normAutofit/>
          </a:bodyPr>
          <a:lstStyle>
            <a:lvl1pPr algn="l">
              <a:defRPr sz="2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0C19840-32F7-DE46-B2BC-767228E15B33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EC24A74-A217-A244-8E5E-725CBA69F673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FB2B6BA-9839-4346-8C17-5FEBDC196FD8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560BE9-4881-E640-B746-48E2960FB1D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DA3FBC9-F771-A94D-8F55-34A40C7DFEB7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4304818-7278-3045-AD37-3EACA5B19337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15681373-A4D2-854A-A772-7DF263D2A29C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B5CC1C9-B1AF-DE46-B64D-05E162F783E3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535CBA73-2EF9-6C43-93B2-AD209F359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5033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612335-2155-F144-ACF9-10F9E55DD2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9652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2958987-FE12-6A45-AB06-D3F0A4B0B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780" y="190527"/>
            <a:ext cx="10515600" cy="711081"/>
          </a:xfrm>
        </p:spPr>
        <p:txBody>
          <a:bodyPr>
            <a:normAutofit/>
          </a:bodyPr>
          <a:lstStyle>
            <a:lvl1pPr algn="l">
              <a:defRPr sz="2800">
                <a:solidFill>
                  <a:srgbClr val="19226D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67324A7-459A-EC4A-96C9-632E9AB197B2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88ECB69-26E2-0242-8339-71783BE7D842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9BDF857-1D12-854A-9A20-B19E33C36FE5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F6517F5-CBA0-D641-9E92-7FDFE839EFEB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1F79581-5D79-4E47-A23D-2897202FF386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FCA70723-60A1-8B4C-8C3F-FC53EA379972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9D44BE42-DB45-BD41-9A16-5FF7BB95D082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A50D04F-B7A3-A543-B2F0-FF35C1B16E1F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EB6FA0AC-3B13-B046-940B-897CAC42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1061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29EB11F-D043-7441-AA75-519D965E19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63B9A03-E856-134D-8A06-24CFAC6C851F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1CD68F0-B45C-5941-AA2B-577A84F07969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ABAFDF-0A8B-6944-8936-304BE90EA2CB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3797118-B6B6-1F4E-BEDC-5AA4E1DA6790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43ADEE7-0AA6-0944-A43F-34C0D4923E1E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7FD1791-6CF5-4542-A218-017F64FBA02C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81DFE14-2BAA-3742-A711-56BE59348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559F2F4-37E4-7A45-8ECB-451B5E4152D9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493B48-3DA7-E947-AEEC-81EB55D64B80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49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lank">
    <p:bg>
      <p:bgPr>
        <a:gradFill>
          <a:gsLst>
            <a:gs pos="0">
              <a:srgbClr val="50B848"/>
            </a:gs>
            <a:gs pos="37000">
              <a:srgbClr val="356D5B"/>
            </a:gs>
            <a:gs pos="100000">
              <a:srgbClr val="19226D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852D304-8DB3-CF44-A52F-E79EA93F6731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A2A6B6E-39E3-4E41-9202-479D05FB06BB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086C675-CEB7-C441-A3D7-3279FFE56275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B7E4B97-6890-E146-927A-8C5BF4E79AA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A7DB3E0-73EE-714B-9C0E-76E2C9A411F4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9C1F5A4-D68F-AC43-B7E3-3C475A72C661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7D5CD0C2-5822-1944-BC57-FD19E766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95442A-32A5-D34D-84ED-EB9840F371BF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36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ED8A6C4-8D48-A741-8E70-35BC8A7DF24D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F7E00B9-D6C8-2C45-B19B-C85C8186A241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AE58C11-7699-7D48-BC93-F583C9E5E40D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AA8190-FCEC-DF44-9F5A-10095FB162E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68B8A4F-3496-5B43-8E20-569DE91627CB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C307A14-4347-714F-9635-2188B14053F6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7F839E2-1874-E14B-B9AE-C8EDD5809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45219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bg>
      <p:bgPr>
        <a:gradFill>
          <a:gsLst>
            <a:gs pos="0">
              <a:srgbClr val="3EA9C1"/>
            </a:gs>
            <a:gs pos="100000">
              <a:srgbClr val="034EA2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D3AAA28-FEA8-F249-8C46-A1D9B8007B13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E337708-4B47-6A4D-A778-1A9A1C2998A5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84CFB43-A9C1-9E4A-99E5-F2E03F726208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7D9DA35-3C5D-C940-ACA0-E14928613982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4A8F42C-1C2B-DC4D-8DCE-BE6E4CCFEFCE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C7876C1-57B3-8949-B0D9-E5AD7654E256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B36B756-1EFD-8542-A4AC-B957DB008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F021668-ABFC-DF4D-AD1B-E4EBE1BE3048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E955BCA-127F-1747-9BB8-7DB78C582DF5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23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bg>
      <p:bgPr>
        <a:solidFill>
          <a:srgbClr val="F37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05DAED6-FABE-0348-A0EC-10445981CC05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02DDD32-343F-244B-AE10-ECD5984E08C5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58CDBB3-514A-EA4D-A65A-923A52654281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6C3288D-3C42-C444-A377-A39683C4DFCD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515EF48-46AB-EB40-AEC8-384AB0AB635D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F8D4DE-5470-E547-BDF8-909AF456C069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0B423D82-B217-F24D-9A4B-51E3223C7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F9B4AE42-994A-3445-A045-ECB259BE3B96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0470A95-B716-5F46-9278-41BECDD385DC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153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32EEAE7-A53A-8540-823B-1A5B586202B8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A9E292F-D15B-3440-BFF3-EED8802880FB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A3519CF-8166-9E42-8146-B6397D55AFAA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A8C4D0A-95C4-5E49-A977-8A1BC8922F1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968C13-89E8-4D45-9D89-7098A62AE4AC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A1EF8AC-6BF2-5543-8AA6-186E6A781219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7005A36C-3143-D84B-84B4-F891BB150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AAF25899-1F00-A841-8F4B-2A9601DD1325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451E643-497F-0546-B045-5080C05B28C4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24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831E717-6F65-B14B-A854-F3079D6FA43D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BFF991D-922B-BD4C-822C-9BF7D5E9CA2F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E288FF5-FB11-2D4C-9263-0722A01A70F3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E27A1BA-8FA6-5042-AF5E-3DC09C5DBC3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0E9A48A-826B-DD48-B0AC-5902E8C234FA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3065AE7-E2E1-4247-A38D-6FD592E308B4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F50E99BC-F599-F045-9C5F-F182A291F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1187FFA-5693-384A-B7D7-421716AFCC1B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1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gradFill>
          <a:gsLst>
            <a:gs pos="0">
              <a:srgbClr val="F37121"/>
            </a:gs>
            <a:gs pos="100000">
              <a:srgbClr val="F37121">
                <a:lumMod val="78000"/>
              </a:srgb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01194" y="0"/>
            <a:ext cx="11316023" cy="68580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ABBE93A-BCEF-DC40-9E10-EF9437C573D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6EA27E-8CE7-7946-BA7D-2A5B7CD3DD6B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BD2B0A-DA75-6E46-ADD4-01709DEDDC31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7CB5EF6-A2BE-874C-81F7-B7C0975210AD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E7E0664-2B84-BB41-8518-00B11B020BF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A0B64C-94BF-3047-96A4-214219A5E29A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0EDB5F8-0B01-B14A-B747-9970DE970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031423"/>
            <a:ext cx="4590229" cy="2983912"/>
          </a:xfrm>
        </p:spPr>
        <p:txBody>
          <a:bodyPr>
            <a:normAutofit/>
          </a:bodyPr>
          <a:lstStyle>
            <a:lvl1pPr algn="r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D706DA2-622A-694F-9E32-399A0341F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0F276C8-BAF3-6D41-BC38-159A0A3363B1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33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gradFill>
          <a:gsLst>
            <a:gs pos="0">
              <a:srgbClr val="19226D"/>
            </a:gs>
            <a:gs pos="100000">
              <a:srgbClr val="034EA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1573" y="188969"/>
            <a:ext cx="10692406" cy="6480061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BD5A0CA-896F-5040-8DAF-88D8CB5F47D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5307F0D-20CE-2C43-9111-680FF872B31E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752C12-EA75-1D42-8090-9CAAABA2BE1B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481A09-20D9-0344-BC0D-5862ED52879F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019DD4-7619-5A43-909F-46685D0828B6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BEE4AE0-435F-A246-BC97-254FF6FD2FC8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267313A-9ABD-E743-8449-A133A5994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0460" y="1904022"/>
            <a:ext cx="4590229" cy="2983912"/>
          </a:xfrm>
        </p:spPr>
        <p:txBody>
          <a:bodyPr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8CE7A170-D609-0442-B622-507B0955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7BA9CE5-C61D-5146-AE5D-E98FF770E4C1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491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bg>
      <p:bgPr>
        <a:gradFill>
          <a:gsLst>
            <a:gs pos="0">
              <a:srgbClr val="034EA2"/>
            </a:gs>
            <a:gs pos="100000">
              <a:srgbClr val="19226D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50496" y="0"/>
            <a:ext cx="5741504" cy="6911249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735559F-6A4D-3D46-A124-8E92E72916D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0546CB8-8956-FB42-8301-C979C61BC709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BB3BF3F-B4C0-DB48-BEAB-AE030ED5561C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6F7DEE-ADF4-014B-BB30-738AF781602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DB4BA4-4144-DB47-B55F-5E26F8713151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F5A60B6-D16E-414C-B473-98F4A577397A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40785EB-CF37-DC42-BD82-99A0EF8D0A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5771" y="1904022"/>
            <a:ext cx="4590229" cy="2983912"/>
          </a:xfrm>
        </p:spPr>
        <p:txBody>
          <a:bodyPr>
            <a:normAutofit/>
          </a:bodyPr>
          <a:lstStyle>
            <a:lvl1pPr algn="l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C18A648-65E2-694F-B913-185E31E5D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513BF2B-FCE2-CD4F-AF32-06ABF067538A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74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304BD9A-B871-1444-AF72-D9F26AA0F3F4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5D4035C-5E60-4744-9AD4-D74676CB465F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2C916E2-A7AD-AF49-9466-F4FAECDFD731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0AD99B-A276-D948-B3DF-84B40E7E8737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341C1B2-9D59-054F-B23A-DA8D36145C81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D489F30-14C2-B04B-B0FB-D1722710AF0A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A53FB58-8D65-2B4C-8037-E43514F04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263" y="2014074"/>
            <a:ext cx="4590229" cy="2983912"/>
          </a:xfrm>
        </p:spPr>
        <p:txBody>
          <a:bodyPr>
            <a:normAutofit/>
          </a:bodyPr>
          <a:lstStyle>
            <a:lvl1pPr algn="r">
              <a:defRPr sz="4800">
                <a:solidFill>
                  <a:schemeClr val="bg1"/>
                </a:solidFill>
                <a:latin typeface="BR Omega VN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9D2DF389-EA04-DA47-B7AC-DF1D0EE61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0A25BB1-4BFF-7848-B386-C9BDC3C39487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49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BDD32B8-E926-4C49-B42B-C549BB93DC7D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F1F3743-0878-5146-BB9E-B85F244ACC2C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B3B3AAB-8D9A-A24B-8B0B-555B2C69C9A8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7D0A365-3B17-584B-BCE1-2FC31F56CCF3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686EC9-4414-7C4A-99D5-16E7A9E088F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A106ED-CBBE-7F4F-AA8D-4B863E6EC6A2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9E12862F-7974-D540-9F98-6540B214E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26D76CD-2C74-1A43-A528-6A27E584E903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383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105BD56-A8E0-E444-BE9C-22203E4DCF3E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B9A621C-3FEA-F44A-9FB8-4BFCEB404982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588913-168E-054F-8189-51B637B7757E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CE238BA-B121-984B-ACE5-3CC621D43F30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49F2E8-A40E-7245-A2A9-037C4416B88E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307555D-F79C-E344-874C-925FC8A7E3EF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6D752961-38D0-8244-BF6A-A7591FA4D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83E1E6-DB8F-8F46-B7A2-A20D6BC8F3FB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374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0268F06-6D8C-A942-978A-EBE9B5D7AB2A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2B717D-08C7-2744-8CC5-2D559DBD2EE8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913A8CF-7152-2446-A66F-E48E95479DDA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9AD5876-3601-7D4A-BDA6-59B2077E8C39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37CB65-F8A1-5740-9AB3-6E953026B9C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966305-24F7-5C41-91AB-9BCD192C42F9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DC1B114B-679E-1447-80FB-878BAB868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951DA9-663C-6944-AE1B-BB407FF15AE8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2516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B57E445-7F46-3543-BAB1-C913D79DDE0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49EF23F-BFCA-B147-B2F2-0A9C687DEB0A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B66F4A-3476-8C49-9F5A-C4B16631D55D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043553-159C-6742-861C-15FF86F2922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9051973-9FBF-4248-B549-ED04EC20C11A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DF2C659-F3B4-A140-8E46-CF309A825938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40A1F0A9-C1BC-0846-9F7F-9E4C5F9B712C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04C3B871-8E80-D147-AC5A-CA278654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B9C7E04-5600-C04F-BCF0-677B4EA95FAC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075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88BD8ED-C1DC-034B-B158-4BE8F9B0D943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05ACCF9-E8B6-454A-8880-A457C84DBC22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31AE5EC-1955-4647-9D1B-3D5929493AFC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DBF357B-0703-BE4E-BEB2-AC1116A42054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870F2C9-B61D-CA4F-B3E0-B4C6EA86933F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50435E5-74F1-AD49-91CE-B5DDAF93F835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FC3BC43-DD90-C240-B379-14C16F453717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1F68626-6D9B-3B4D-919B-1757045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0A3B17A-5D0F-3D41-94A2-21C3023AA403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977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7928F62-9533-614D-A666-9C368BE226A0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BB1EB6C-932C-2545-A0C5-6146B631E221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C05784-72DA-684A-A79B-6FC3CA9A3246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8295BF-3345-EC4A-87A5-C9346CAD738D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A86D31D-77A7-3B42-83A0-B4960390D889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A268FF6-5451-D940-A9E3-A11A5F7E7487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1A0F73E1-56D3-5A45-8C32-3246C3CBE991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D54FD55-DFC2-954C-A607-134D7A550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4F9A92B-FCF3-EC44-A6E3-BA6C1880C422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28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A23207F-7F2B-6847-B1E2-6F312566FA50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863A1F-56A7-4D4F-B1F1-56A6D63FE859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5EFEFDF-1FED-D24B-89C1-F137C46A7294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58113C5-FBC8-2C4C-9C32-170C7AF3F218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DD20727-BEC2-CA46-B768-7270590A7D3A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D33F4F9-294B-9741-AEBE-A56B07736D0D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CF7DA214-0924-C644-B46E-C091356CB1E0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BD65B28E-882F-5049-8082-3AE8D7E89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1D17853-9707-8E4D-B4BC-8AEEE936309A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8730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21E8B7C2-3D08-FF46-B7DA-29A7DBF99B4B}"/>
              </a:ext>
            </a:extLst>
          </p:cNvPr>
          <p:cNvSpPr txBox="1">
            <a:spLocks/>
          </p:cNvSpPr>
          <p:nvPr userDrawn="1"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2A039A0-752F-7941-8751-951E4D70FAA7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5B5B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C696A51-B607-EE4C-8EAC-CE410EB96DCA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A463106-A149-F344-846F-5D3C8F895CC1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84646FD-4AD2-8041-BDCD-4F15C1700F66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72A27DA-A29D-3041-82EB-6DFEAECC6047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53EC4D3-CFE3-514B-8366-113FF44C7EA0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F1E85CD-0F2F-214E-AAC3-0B54746A33E7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49B45AF-3F2C-4441-95F0-A57FE30F372F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7870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C1829F5-E813-014A-91B6-5905122BF5F5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5B5B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F4F47E8-0B22-164A-AB89-8F5F3D94E8BB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9B48888-9927-9A4F-84EF-F90B8506DA09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148A6B1-2B11-6C45-B698-942094BEF1E0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F7BD98C-B630-7449-80C8-AC2BE47A0D5D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84635BA-1B80-6D46-B414-05762970E34C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C80CBD7-5AB0-704E-BD0C-E2E30F8D2D55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675AF1C-0978-B844-AD06-43F283D92D7B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0086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3FACD85-5ABA-6F4C-AA07-79596C5F2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rgbClr val="B5B5B5"/>
                </a:solidFill>
              </a:defRPr>
            </a:lvl1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28D8A48-E873-274D-857F-CFACA1912FF0}"/>
              </a:ext>
            </a:extLst>
          </p:cNvPr>
          <p:cNvSpPr/>
          <p:nvPr userDrawn="1"/>
        </p:nvSpPr>
        <p:spPr>
          <a:xfrm>
            <a:off x="-426720" y="5893631"/>
            <a:ext cx="266700" cy="685815"/>
          </a:xfrm>
          <a:prstGeom prst="roundRect">
            <a:avLst>
              <a:gd name="adj" fmla="val 8511"/>
            </a:avLst>
          </a:prstGeom>
          <a:solidFill>
            <a:srgbClr val="B5B5B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BD30A3-D37D-6D43-ACC6-8A47514F77A8}"/>
              </a:ext>
            </a:extLst>
          </p:cNvPr>
          <p:cNvSpPr/>
          <p:nvPr userDrawn="1"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0413027-E9CE-0C45-9072-EAB54161DC44}"/>
              </a:ext>
            </a:extLst>
          </p:cNvPr>
          <p:cNvSpPr/>
          <p:nvPr userDrawn="1"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0C31FD4-5BAA-5B4E-822A-2DE44572797F}"/>
              </a:ext>
            </a:extLst>
          </p:cNvPr>
          <p:cNvSpPr/>
          <p:nvPr userDrawn="1"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00FF8BE-D6A2-4A44-A4E9-177DD4D6D843}"/>
              </a:ext>
            </a:extLst>
          </p:cNvPr>
          <p:cNvSpPr/>
          <p:nvPr userDrawn="1"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7587291-AFEE-3741-81A4-DF55898929D5}"/>
              </a:ext>
            </a:extLst>
          </p:cNvPr>
          <p:cNvSpPr/>
          <p:nvPr userDrawn="1"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28B5558-D069-9145-9A74-C141791432BC}"/>
              </a:ext>
            </a:extLst>
          </p:cNvPr>
          <p:cNvSpPr/>
          <p:nvPr userDrawn="1"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037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241DDB1-5601-BE4B-9512-CBC8913FF5DC}"/>
              </a:ext>
            </a:extLst>
          </p:cNvPr>
          <p:cNvSpPr txBox="1">
            <a:spLocks/>
          </p:cNvSpPr>
          <p:nvPr userDrawn="1"/>
        </p:nvSpPr>
        <p:spPr>
          <a:xfrm>
            <a:off x="11311875" y="6415503"/>
            <a:ext cx="596198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B5B5B5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012F146-47F9-A646-B182-8CC39B8AD32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3990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3927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FPT SOFTWARE – SLIDE MASTER</a:t>
            </a:r>
          </a:p>
        </p:txBody>
      </p:sp>
    </p:spTree>
    <p:extLst>
      <p:ext uri="{BB962C8B-B14F-4D97-AF65-F5344CB8AC3E}">
        <p14:creationId xmlns:p14="http://schemas.microsoft.com/office/powerpoint/2010/main" val="2455494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63" r:id="rId3"/>
    <p:sldLayoutId id="2147483662" r:id="rId4"/>
    <p:sldLayoutId id="2147483667" r:id="rId5"/>
    <p:sldLayoutId id="2147483659" r:id="rId6"/>
    <p:sldLayoutId id="2147483660" r:id="rId7"/>
    <p:sldLayoutId id="2147483652" r:id="rId8"/>
    <p:sldLayoutId id="2147483665" r:id="rId9"/>
    <p:sldLayoutId id="2147483658" r:id="rId10"/>
    <p:sldLayoutId id="2147483657" r:id="rId11"/>
    <p:sldLayoutId id="2147483664" r:id="rId12"/>
    <p:sldLayoutId id="2147483666" r:id="rId13"/>
    <p:sldLayoutId id="2147483661" r:id="rId14"/>
    <p:sldLayoutId id="2147483656" r:id="rId15"/>
    <p:sldLayoutId id="2147483651" r:id="rId16"/>
    <p:sldLayoutId id="2147483655" r:id="rId17"/>
    <p:sldLayoutId id="2147483649" r:id="rId18"/>
    <p:sldLayoutId id="2147483668" r:id="rId19"/>
    <p:sldLayoutId id="2147483669" r:id="rId20"/>
    <p:sldLayoutId id="2147483671" r:id="rId21"/>
    <p:sldLayoutId id="2147483688" r:id="rId22"/>
    <p:sldLayoutId id="2147483687" r:id="rId23"/>
    <p:sldLayoutId id="2147483689" r:id="rId24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BR Omega V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hyperlink" Target="mailto:NghiaNV16@fpt.com" TargetMode="External"/><Relationship Id="rId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A36371D-70FE-6D4E-A499-682B6D97529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BC0877-AE0C-CD49-8CC8-08B15A284ECF}"/>
              </a:ext>
            </a:extLst>
          </p:cNvPr>
          <p:cNvSpPr txBox="1"/>
          <p:nvPr/>
        </p:nvSpPr>
        <p:spPr>
          <a:xfrm>
            <a:off x="652402" y="2591876"/>
            <a:ext cx="110773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-100" normalizeH="0" baseline="0" noProof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Embedded System</a:t>
            </a:r>
            <a:r>
              <a:rPr kumimoji="0" lang="en-US" sz="7200" b="1" i="0" u="none" strike="noStrike" kern="1200" cap="none" spc="-100" normalizeH="0" noProof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 Introduction</a:t>
            </a:r>
            <a:endParaRPr kumimoji="0" lang="en-US" sz="7200" b="1" i="0" u="none" strike="noStrike" kern="1200" cap="none" spc="-100" normalizeH="0" baseline="0" noProof="0">
              <a:ln>
                <a:noFill/>
              </a:ln>
              <a:solidFill>
                <a:srgbClr val="33B2C1"/>
              </a:solidFill>
              <a:effectLst/>
              <a:uLnTx/>
              <a:uFillTx/>
              <a:latin typeface="BR Omega VN" pitchFamily="2" charset="77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E3798F-1801-8D47-AFE4-268C325D2879}"/>
              </a:ext>
            </a:extLst>
          </p:cNvPr>
          <p:cNvSpPr txBox="1"/>
          <p:nvPr/>
        </p:nvSpPr>
        <p:spPr>
          <a:xfrm>
            <a:off x="714046" y="3677007"/>
            <a:ext cx="6022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Author. NghiaNV16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698B22-C46F-4B4C-9C9C-8A895C284951}"/>
              </a:ext>
            </a:extLst>
          </p:cNvPr>
          <p:cNvGrpSpPr/>
          <p:nvPr/>
        </p:nvGrpSpPr>
        <p:grpSpPr>
          <a:xfrm>
            <a:off x="652402" y="5861752"/>
            <a:ext cx="2609076" cy="482600"/>
            <a:chOff x="5181600" y="3683000"/>
            <a:chExt cx="2609076" cy="482600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4F2C8F40-082F-2A4A-ABAE-A6ECF09B9FD7}"/>
                </a:ext>
              </a:extLst>
            </p:cNvPr>
            <p:cNvSpPr/>
            <p:nvPr/>
          </p:nvSpPr>
          <p:spPr>
            <a:xfrm>
              <a:off x="5181600" y="3683000"/>
              <a:ext cx="2169900" cy="482600"/>
            </a:xfrm>
            <a:prstGeom prst="roundRect">
              <a:avLst>
                <a:gd name="adj" fmla="val 50000"/>
              </a:avLst>
            </a:prstGeom>
            <a:solidFill>
              <a:srgbClr val="01DDEC">
                <a:alpha val="20000"/>
              </a:srgbClr>
            </a:solidFill>
            <a:ln>
              <a:solidFill>
                <a:srgbClr val="01DD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A60010-1FC5-0E4C-8CDE-2BFFCABD6DCE}"/>
                </a:ext>
              </a:extLst>
            </p:cNvPr>
            <p:cNvSpPr txBox="1"/>
            <p:nvPr/>
          </p:nvSpPr>
          <p:spPr>
            <a:xfrm>
              <a:off x="5337747" y="3764985"/>
              <a:ext cx="2452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cs typeface="Segoe UI" panose="020B0502040204020203" pitchFamily="34" charset="0"/>
                </a:rPr>
                <a:t>Aug 31 2023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834EA63-D92C-1C4B-894A-274F3D4C097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580483" y="1705577"/>
            <a:ext cx="2160712" cy="824238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D6A50D4-1895-CD4F-A67E-1B600BC6B833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609FAA3-2415-6144-862D-EAE8FFAEBD17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6421286-04AC-FC48-9D67-F26A7DE941EE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3F38E44-5D3E-994F-B8BC-F94A02DB877D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4B51C6E-16E1-D04E-B309-0EFDBB75B632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D4680-8F6B-5A41-841B-AAEA6AA43669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B7B4C5-9A08-4E48-AEDA-791A0BE33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4122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96276 1.11022E-16 L 1.04167E-6 1.11022E-1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1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463386-0B75-CC46-AAFD-693470F2816B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C95BAD-1051-D14A-A2ED-67EE951937C7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DA5FEF-EAF7-7645-B0BE-475CDFB8EFB1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87C41C3-37CF-D048-AE7D-FFF9DCC8F03C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F4A51A-9780-A043-9191-080CE4D0878B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83E1FE3-E4C8-2241-9200-CEC360C515C4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D1BAEC-2F35-9E4E-822B-46FF5EB8B540}"/>
              </a:ext>
            </a:extLst>
          </p:cNvPr>
          <p:cNvSpPr/>
          <p:nvPr/>
        </p:nvSpPr>
        <p:spPr>
          <a:xfrm>
            <a:off x="0" y="0"/>
            <a:ext cx="5211271" cy="68737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B0FE60-B900-8743-81EA-8590FF02BE15}"/>
              </a:ext>
            </a:extLst>
          </p:cNvPr>
          <p:cNvSpPr txBox="1"/>
          <p:nvPr/>
        </p:nvSpPr>
        <p:spPr>
          <a:xfrm>
            <a:off x="504604" y="2834910"/>
            <a:ext cx="36801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u="none" strike="noStrike" kern="1200" cap="none" spc="0" normalizeH="0" baseline="0" noProof="0">
                <a:ln>
                  <a:noFill/>
                </a:ln>
                <a:solidFill>
                  <a:srgbClr val="19226D"/>
                </a:solidFill>
                <a:effectLst/>
                <a:uLnTx/>
                <a:uFillTx/>
                <a:latin typeface="BR Omega VN" pitchFamily="2" charset="77"/>
              </a:rPr>
              <a:t>CONTENT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10700B9-396B-F94A-B785-85220A672262}"/>
              </a:ext>
            </a:extLst>
          </p:cNvPr>
          <p:cNvGrpSpPr/>
          <p:nvPr/>
        </p:nvGrpSpPr>
        <p:grpSpPr>
          <a:xfrm>
            <a:off x="4819141" y="2834910"/>
            <a:ext cx="6106924" cy="773713"/>
            <a:chOff x="5829424" y="1893693"/>
            <a:chExt cx="7956148" cy="100800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E5A0757-B179-2346-B244-C95262501B00}"/>
                </a:ext>
              </a:extLst>
            </p:cNvPr>
            <p:cNvGrpSpPr/>
            <p:nvPr/>
          </p:nvGrpSpPr>
          <p:grpSpPr>
            <a:xfrm>
              <a:off x="5829424" y="1893693"/>
              <a:ext cx="1008000" cy="1008000"/>
              <a:chOff x="5829424" y="1893693"/>
              <a:chExt cx="1008000" cy="1008000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A7B77D34-59AC-564E-A016-CE9A807742A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829424" y="1893693"/>
                <a:ext cx="1008000" cy="1008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776B1E6D-3CEF-F74B-8F34-20975835D89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901424" y="1965318"/>
                <a:ext cx="864000" cy="864000"/>
              </a:xfrm>
              <a:prstGeom prst="ellipse">
                <a:avLst/>
              </a:prstGeom>
              <a:solidFill>
                <a:srgbClr val="1F386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1" u="none" strike="noStrike" kern="1200" cap="none" spc="0" normalizeH="0" baseline="0" noProof="0">
                  <a:ln>
                    <a:noFill/>
                  </a:ln>
                  <a:solidFill>
                    <a:srgbClr val="19226D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2A3045B-ABCF-A74A-8F1D-28DE093DD565}"/>
                  </a:ext>
                </a:extLst>
              </p:cNvPr>
              <p:cNvSpPr txBox="1"/>
              <p:nvPr/>
            </p:nvSpPr>
            <p:spPr>
              <a:xfrm>
                <a:off x="6191447" y="2083863"/>
                <a:ext cx="283954" cy="681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1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rPr>
                  <a:t>2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9A13FCF-3514-E041-B741-76142C83DFE8}"/>
                </a:ext>
              </a:extLst>
            </p:cNvPr>
            <p:cNvSpPr txBox="1"/>
            <p:nvPr/>
          </p:nvSpPr>
          <p:spPr>
            <a:xfrm>
              <a:off x="7164405" y="2191583"/>
              <a:ext cx="6621167" cy="5212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defRPr/>
              </a:pPr>
              <a:r>
                <a:rPr lang="en-US" sz="2000" b="1">
                  <a:solidFill>
                    <a:prstClr val="white"/>
                  </a:solidFill>
                  <a:latin typeface="BR Omega VN" pitchFamily="2" charset="77"/>
                </a:rPr>
                <a:t>Micro-Controller vs Micro-Processor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7DBD324-A163-B74F-BB58-97AA6EB6043A}"/>
              </a:ext>
            </a:extLst>
          </p:cNvPr>
          <p:cNvGrpSpPr/>
          <p:nvPr/>
        </p:nvGrpSpPr>
        <p:grpSpPr>
          <a:xfrm>
            <a:off x="4819141" y="1747255"/>
            <a:ext cx="6117171" cy="773713"/>
            <a:chOff x="5807760" y="1383135"/>
            <a:chExt cx="7969499" cy="100800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17A860F-6F27-6A40-9312-4CA83B52FACB}"/>
                </a:ext>
              </a:extLst>
            </p:cNvPr>
            <p:cNvGrpSpPr/>
            <p:nvPr/>
          </p:nvGrpSpPr>
          <p:grpSpPr>
            <a:xfrm>
              <a:off x="5807760" y="1383135"/>
              <a:ext cx="7969499" cy="1008000"/>
              <a:chOff x="5829424" y="806038"/>
              <a:chExt cx="7969499" cy="1008000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C00C3D81-B155-1F4C-9F57-9C3137E8DFF0}"/>
                  </a:ext>
                </a:extLst>
              </p:cNvPr>
              <p:cNvGrpSpPr/>
              <p:nvPr/>
            </p:nvGrpSpPr>
            <p:grpSpPr>
              <a:xfrm>
                <a:off x="5829424" y="806038"/>
                <a:ext cx="1008000" cy="1008000"/>
                <a:chOff x="5829424" y="806038"/>
                <a:chExt cx="1008000" cy="1008000"/>
              </a:xfrm>
            </p:grpSpPr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36EBEB63-E6F2-4844-A53F-5519696E6B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5829424" y="806038"/>
                  <a:ext cx="1008000" cy="1008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endParaRPr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ABF585F2-A81A-D047-87D6-A253AC2C404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flipH="1">
                  <a:off x="5901424" y="878038"/>
                  <a:ext cx="864000" cy="864000"/>
                </a:xfrm>
                <a:prstGeom prst="ellipse">
                  <a:avLst/>
                </a:prstGeom>
                <a:solidFill>
                  <a:srgbClr val="1F386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400" b="1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 Omega VN" pitchFamily="2" charset="77"/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E8DC90B5-EABF-D44D-9BEE-9288DC367A89}"/>
                    </a:ext>
                  </a:extLst>
                </p:cNvPr>
                <p:cNvSpPr txBox="1"/>
                <p:nvPr/>
              </p:nvSpPr>
              <p:spPr>
                <a:xfrm>
                  <a:off x="6191447" y="986583"/>
                  <a:ext cx="283954" cy="6816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1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BR Omega VN" pitchFamily="2" charset="77"/>
                    </a:rPr>
                    <a:t>1</a:t>
                  </a:r>
                </a:p>
              </p:txBody>
            </p: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BFBCB3D-4734-2147-855F-1B385859FBD1}"/>
                  </a:ext>
                </a:extLst>
              </p:cNvPr>
              <p:cNvSpPr txBox="1"/>
              <p:nvPr/>
            </p:nvSpPr>
            <p:spPr>
              <a:xfrm>
                <a:off x="7164405" y="1063526"/>
                <a:ext cx="6634518" cy="5212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defRPr/>
                </a:pPr>
                <a:r>
                  <a:rPr lang="en-US" sz="2000" b="1">
                    <a:solidFill>
                      <a:prstClr val="white"/>
                    </a:solidFill>
                    <a:latin typeface="BR Omega VN" pitchFamily="2" charset="77"/>
                  </a:rPr>
                  <a:t>Embedded System Introduction</a:t>
                </a:r>
                <a:endParaRPr kumimoji="0" lang="en-US" sz="20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endParaRPr>
              </a:p>
            </p:txBody>
          </p:sp>
        </p:grp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7C0BE3AF-872D-B846-B36F-818286404C2C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5879760" y="1453572"/>
              <a:ext cx="864000" cy="864000"/>
            </a:xfrm>
            <a:prstGeom prst="ellipse">
              <a:avLst/>
            </a:prstGeom>
            <a:solidFill>
              <a:srgbClr val="33B2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267FCB2-FAB3-784B-A12C-6930CB633274}"/>
                </a:ext>
              </a:extLst>
            </p:cNvPr>
            <p:cNvSpPr txBox="1"/>
            <p:nvPr/>
          </p:nvSpPr>
          <p:spPr>
            <a:xfrm>
              <a:off x="6169784" y="1565892"/>
              <a:ext cx="283955" cy="681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R Omega VN" pitchFamily="2" charset="77"/>
                </a:rPr>
                <a:t>1</a:t>
              </a:r>
            </a:p>
          </p:txBody>
        </p: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599A4222-0553-F846-B653-EB8CF4BFDE4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10143700" y="308144"/>
            <a:ext cx="1822517" cy="695228"/>
          </a:xfrm>
          <a:prstGeom prst="rect">
            <a:avLst/>
          </a:prstGeom>
        </p:spPr>
      </p:pic>
      <p:sp>
        <p:nvSpPr>
          <p:cNvPr id="49" name="Footer Placeholder 2">
            <a:extLst>
              <a:ext uri="{FF2B5EF4-FFF2-40B4-BE49-F238E27FC236}">
                <a16:creationId xmlns:a16="http://schemas.microsoft.com/office/drawing/2014/main" id="{EE37BB88-21D1-EF4A-ADFD-7B9A3DB67557}"/>
              </a:ext>
            </a:extLst>
          </p:cNvPr>
          <p:cNvSpPr txBox="1">
            <a:spLocks/>
          </p:cNvSpPr>
          <p:nvPr/>
        </p:nvSpPr>
        <p:spPr>
          <a:xfrm>
            <a:off x="525780" y="6415503"/>
            <a:ext cx="4114800" cy="25196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chemeClr val="accent6">
                    <a:lumMod val="60000"/>
                    <a:lumOff val="40000"/>
                  </a:schemeClr>
                </a:solidFill>
              </a:rPr>
              <a:t>© Copyright FPT Software – Level of Confidentiality </a:t>
            </a:r>
            <a:endParaRPr lang="x-none" sz="105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134327-492D-7D4C-926E-EC498D594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2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4061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985586-0B32-6E41-8B9A-4AB9C15135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BC0877-AE0C-CD49-8CC8-08B15A284ECF}"/>
              </a:ext>
            </a:extLst>
          </p:cNvPr>
          <p:cNvSpPr txBox="1"/>
          <p:nvPr/>
        </p:nvSpPr>
        <p:spPr>
          <a:xfrm>
            <a:off x="755990" y="5015709"/>
            <a:ext cx="11077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4800" b="1" u="none" strike="noStrike" kern="1200" cap="none" spc="-100" normalizeH="0" baseline="0" noProof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01. </a:t>
            </a:r>
            <a:r>
              <a:rPr lang="en-US" sz="4800" b="1" spc="-100">
                <a:solidFill>
                  <a:srgbClr val="FFFFFF"/>
                </a:solidFill>
                <a:latin typeface="BR Omega VN" pitchFamily="2" charset="77"/>
                <a:cs typeface="Arial" panose="020B0604020202020204" pitchFamily="34" charset="0"/>
              </a:rPr>
              <a:t>Embedded System 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9E349-25C3-1A46-AE4F-E0A4386410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621580" y="4004415"/>
            <a:ext cx="2160712" cy="82423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3F436C3-2D7E-3041-8D47-B0532422070A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F4407E3-3E6B-5A47-B389-511C74BB1A06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178CDE7-05D8-8744-8038-80AF282A4A77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AB7FD58-2046-E544-8F06-EB3780AD0E39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5B6CAA-AB44-C24F-81BA-CF8CFFB6AC6F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293BB38-F63D-754F-88AF-1C953B612D17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5EFAD-6583-8342-9ACE-C70DCD1F1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6104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3 1.85185E-6 L 3.95833E-6 1.85185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9BE6-30D5-4C38-859D-227237E5E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Embedded System 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1789A-4E05-4237-BA03-C9305693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4</a:t>
            </a:fld>
            <a:endParaRPr lang="x-non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F33C6A-8BE4-4C55-BEF9-5543593B17EA}"/>
              </a:ext>
            </a:extLst>
          </p:cNvPr>
          <p:cNvSpPr txBox="1"/>
          <p:nvPr/>
        </p:nvSpPr>
        <p:spPr>
          <a:xfrm>
            <a:off x="525781" y="1259633"/>
            <a:ext cx="621418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An embedded system is a </a:t>
            </a:r>
            <a:r>
              <a:rPr lang="en-US" sz="2200" b="1"/>
              <a:t>computer system </a:t>
            </a:r>
            <a:r>
              <a:rPr lang="en-US" sz="2200"/>
              <a:t>a combination of a computer processor, computer memory, and input/output peripheral devices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that has a dedicated function within a larger mechanical or electronic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It is embedded as part of a complete device often including electrical or electronic hardware and mechanical parts</a:t>
            </a:r>
            <a:endParaRPr lang="en-US" sz="2200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D11959-F103-4E0C-B6C3-700417B3A7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80"/>
          <a:stretch/>
        </p:blipFill>
        <p:spPr>
          <a:xfrm>
            <a:off x="6786894" y="1259633"/>
            <a:ext cx="4879325" cy="5245163"/>
          </a:xfrm>
          <a:prstGeom prst="rect">
            <a:avLst/>
          </a:prstGeom>
          <a:ln>
            <a:solidFill>
              <a:schemeClr val="accent5"/>
            </a:solidFill>
          </a:ln>
        </p:spPr>
      </p:pic>
      <p:pic>
        <p:nvPicPr>
          <p:cNvPr id="7170" name="Picture 2" descr="Basics of Embedded C Program : Introduction, Structure and Example">
            <a:extLst>
              <a:ext uri="{FF2B5EF4-FFF2-40B4-BE49-F238E27FC236}">
                <a16:creationId xmlns:a16="http://schemas.microsoft.com/office/drawing/2014/main" id="{DB8A06EE-B8E7-442A-A1F8-34FEB9AC67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748"/>
          <a:stretch/>
        </p:blipFill>
        <p:spPr bwMode="auto">
          <a:xfrm>
            <a:off x="926349" y="4416142"/>
            <a:ext cx="4039722" cy="2130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228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68495-49E7-44AF-A34A-529200DCA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Embedded System Application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024DFA-0F5A-4212-81FC-27DE2A94E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5</a:t>
            </a:fld>
            <a:endParaRPr lang="x-non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7DEA02-3E73-4874-84FB-D8E0A50FBDA6}"/>
              </a:ext>
            </a:extLst>
          </p:cNvPr>
          <p:cNvSpPr txBox="1"/>
          <p:nvPr/>
        </p:nvSpPr>
        <p:spPr>
          <a:xfrm>
            <a:off x="525780" y="1119917"/>
            <a:ext cx="822579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General Computing</a:t>
            </a:r>
            <a:br>
              <a:rPr lang="en-US" sz="2400"/>
            </a:br>
            <a:r>
              <a:rPr lang="en-US" sz="2400" i="1"/>
              <a:t>Video games, set-top boxes, wearable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Control System</a:t>
            </a:r>
            <a:br>
              <a:rPr lang="en-US" sz="2400"/>
            </a:br>
            <a:r>
              <a:rPr lang="en-US" sz="2400" i="1"/>
              <a:t>Vehicle engine, nuclear power, fight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Signal Processing</a:t>
            </a:r>
            <a:br>
              <a:rPr lang="en-US" sz="2400"/>
            </a:br>
            <a:r>
              <a:rPr lang="en-US" sz="2400" i="1"/>
              <a:t>Radar, Sonar, video compression.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Communication &amp; Network</a:t>
            </a:r>
            <a:br>
              <a:rPr lang="en-US" sz="2400"/>
            </a:br>
            <a:r>
              <a:rPr lang="en-US" sz="2400" i="1"/>
              <a:t>Telephone system, router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8D2315-3456-411A-A8D3-1325B0FED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1570" y="990600"/>
            <a:ext cx="2914650" cy="5867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A2DDD3-B438-45AD-8F4A-E4048B6ED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75" y="4208634"/>
            <a:ext cx="8401050" cy="264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30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05D9D-DC1B-440D-927A-4A7DEB438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Embedded System Application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242DE7-A8EB-4585-AD71-8E8F0DFB2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6</a:t>
            </a:fld>
            <a:endParaRPr lang="x-none"/>
          </a:p>
        </p:txBody>
      </p:sp>
      <p:pic>
        <p:nvPicPr>
          <p:cNvPr id="5122" name="Picture 2" descr="Embedded System || Introduction || Lesson-1">
            <a:extLst>
              <a:ext uri="{FF2B5EF4-FFF2-40B4-BE49-F238E27FC236}">
                <a16:creationId xmlns:a16="http://schemas.microsoft.com/office/drawing/2014/main" id="{64A59CCF-0E7F-462A-9FBD-4802C5C35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717" y="1143416"/>
            <a:ext cx="6555726" cy="527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1811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F3099-D70A-49E0-9372-9376DC330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Embedded System Features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617771-435C-4199-9405-6E8C495D3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7</a:t>
            </a:fld>
            <a:endParaRPr lang="x-non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C105D9-CF82-4A66-80E5-0A4D55542C9F}"/>
              </a:ext>
            </a:extLst>
          </p:cNvPr>
          <p:cNvSpPr/>
          <p:nvPr/>
        </p:nvSpPr>
        <p:spPr>
          <a:xfrm>
            <a:off x="802005" y="1241763"/>
            <a:ext cx="1082802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Embedded system is designed to perform some specific tasks.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The program written for embedded system is called “firm-ware”, and usually stored in persistence memory (rom/flash)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The firm-ware can run with limited hardware resourced.</a:t>
            </a:r>
          </a:p>
        </p:txBody>
      </p:sp>
      <p:pic>
        <p:nvPicPr>
          <p:cNvPr id="6146" name="Picture 2" descr="Embedded System - Characteristics, Types, Advantages &amp; Disadvantages">
            <a:extLst>
              <a:ext uri="{FF2B5EF4-FFF2-40B4-BE49-F238E27FC236}">
                <a16:creationId xmlns:a16="http://schemas.microsoft.com/office/drawing/2014/main" id="{01FD9225-A28D-4702-A972-68EFEE297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257" y="2688313"/>
            <a:ext cx="5922645" cy="3831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7676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4985586-0B32-6E41-8B9A-4AB9C151350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6BC0877-AE0C-CD49-8CC8-08B15A284ECF}"/>
              </a:ext>
            </a:extLst>
          </p:cNvPr>
          <p:cNvSpPr txBox="1"/>
          <p:nvPr/>
        </p:nvSpPr>
        <p:spPr>
          <a:xfrm>
            <a:off x="755990" y="5015709"/>
            <a:ext cx="11077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4800" b="1" u="none" strike="noStrike" kern="1200" cap="none" spc="-100" normalizeH="0" baseline="0" noProof="0">
                <a:ln>
                  <a:noFill/>
                </a:ln>
                <a:solidFill>
                  <a:srgbClr val="33B2C1"/>
                </a:solidFill>
                <a:effectLst/>
                <a:uLnTx/>
                <a:uFillTx/>
                <a:latin typeface="BR Omega VN" pitchFamily="2" charset="77"/>
                <a:cs typeface="Arial" panose="020B0604020202020204" pitchFamily="34" charset="0"/>
              </a:rPr>
              <a:t>02. </a:t>
            </a:r>
            <a:r>
              <a:rPr lang="en-US" sz="4800" b="1" spc="-100">
                <a:solidFill>
                  <a:schemeClr val="bg1"/>
                </a:solidFill>
                <a:latin typeface="BR Omega VN" pitchFamily="2" charset="77"/>
                <a:cs typeface="Arial" panose="020B0604020202020204" pitchFamily="34" charset="0"/>
              </a:rPr>
              <a:t>Micro-Controller vs Micro-Processor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9E349-25C3-1A46-AE4F-E0A4386410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621580" y="4004415"/>
            <a:ext cx="2160712" cy="82423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3F436C3-2D7E-3041-8D47-B0532422070A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F4407E3-3E6B-5A47-B389-511C74BB1A06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178CDE7-05D8-8744-8038-80AF282A4A77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AB7FD58-2046-E544-8F06-EB3780AD0E39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5B6CAA-AB44-C24F-81BA-CF8CFFB6AC6F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293BB38-F63D-754F-88AF-1C953B612D17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5EFAD-6583-8342-9ACE-C70DCD1F1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8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2161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492 1.11111E-6 L -2.29167E-6 1.11111E-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75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9BE6-30D5-4C38-859D-227237E5E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Micro-Processor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1789A-4E05-4237-BA03-C9305693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9</a:t>
            </a:fld>
            <a:endParaRPr lang="x-none"/>
          </a:p>
        </p:txBody>
      </p:sp>
      <p:pic>
        <p:nvPicPr>
          <p:cNvPr id="1026" name="Picture 2" descr="https://media.geeksforgeeks.org/wp-content/uploads/3333-3.png">
            <a:extLst>
              <a:ext uri="{FF2B5EF4-FFF2-40B4-BE49-F238E27FC236}">
                <a16:creationId xmlns:a16="http://schemas.microsoft.com/office/drawing/2014/main" id="{7788AA97-890E-455F-87CA-711E431A1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932" y="1962966"/>
            <a:ext cx="8228135" cy="4452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BBB033-C9D1-4693-9293-DBD635A2E8FF}"/>
              </a:ext>
            </a:extLst>
          </p:cNvPr>
          <p:cNvSpPr txBox="1"/>
          <p:nvPr/>
        </p:nvSpPr>
        <p:spPr>
          <a:xfrm>
            <a:off x="525780" y="1362269"/>
            <a:ext cx="11382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 </a:t>
            </a:r>
            <a:r>
              <a:rPr lang="en-US" b="1"/>
              <a:t>microprocessor</a:t>
            </a:r>
            <a:r>
              <a:rPr lang="en-US"/>
              <a:t> is a computer processor where the data processing logic and control is included on a single integrated circuit (IC)</a:t>
            </a:r>
          </a:p>
        </p:txBody>
      </p:sp>
    </p:spTree>
    <p:extLst>
      <p:ext uri="{BB962C8B-B14F-4D97-AF65-F5344CB8AC3E}">
        <p14:creationId xmlns:p14="http://schemas.microsoft.com/office/powerpoint/2010/main" val="491353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9BE6-30D5-4C38-859D-227237E5E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does Micro-Processor perform a program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1789A-4E05-4237-BA03-C9305693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10</a:t>
            </a:fld>
            <a:endParaRPr lang="x-non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BBB033-C9D1-4693-9293-DBD635A2E8FF}"/>
              </a:ext>
            </a:extLst>
          </p:cNvPr>
          <p:cNvSpPr txBox="1"/>
          <p:nvPr/>
        </p:nvSpPr>
        <p:spPr>
          <a:xfrm>
            <a:off x="525780" y="1362269"/>
            <a:ext cx="11382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For Example</a:t>
            </a:r>
            <a:r>
              <a:rPr lang="en-US"/>
              <a:t>. A C Program to increase a local variable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B18FE-E1C7-4C1C-A37A-BBF5555BE7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062" y="2200275"/>
            <a:ext cx="4333875" cy="2457450"/>
          </a:xfrm>
          <a:prstGeom prst="rect">
            <a:avLst/>
          </a:prstGeom>
          <a:ln>
            <a:solidFill>
              <a:schemeClr val="accent5"/>
            </a:solidFill>
          </a:ln>
        </p:spPr>
      </p:pic>
    </p:spTree>
    <p:extLst>
      <p:ext uri="{BB962C8B-B14F-4D97-AF65-F5344CB8AC3E}">
        <p14:creationId xmlns:p14="http://schemas.microsoft.com/office/powerpoint/2010/main" val="2938034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9BE6-30D5-4C38-859D-227237E5E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does Micro-Processor perform a program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1789A-4E05-4237-BA03-C9305693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11</a:t>
            </a:fld>
            <a:endParaRPr lang="x-none"/>
          </a:p>
        </p:txBody>
      </p:sp>
      <p:pic>
        <p:nvPicPr>
          <p:cNvPr id="6" name="Picture 2" descr="https://media.geeksforgeeks.org/wp-content/uploads/3333-3.png">
            <a:extLst>
              <a:ext uri="{FF2B5EF4-FFF2-40B4-BE49-F238E27FC236}">
                <a16:creationId xmlns:a16="http://schemas.microsoft.com/office/drawing/2014/main" id="{F739619A-BC3C-4F31-99A2-15F037294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" y="1417335"/>
            <a:ext cx="7812616" cy="4227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D52DBA9-344D-4B90-9A09-76C35261E9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21840"/>
              </p:ext>
            </p:extLst>
          </p:nvPr>
        </p:nvGraphicFramePr>
        <p:xfrm>
          <a:off x="8985380" y="1417335"/>
          <a:ext cx="2922693" cy="4962354"/>
        </p:xfrm>
        <a:graphic>
          <a:graphicData uri="http://schemas.openxmlformats.org/drawingml/2006/table">
            <a:tbl>
              <a:tblPr bandRow="1">
                <a:tableStyleId>{21E4AEA4-8DFA-4A89-87EB-49C32662AFE0}</a:tableStyleId>
              </a:tblPr>
              <a:tblGrid>
                <a:gridCol w="2922693">
                  <a:extLst>
                    <a:ext uri="{9D8B030D-6E8A-4147-A177-3AD203B41FA5}">
                      <a16:colId xmlns:a16="http://schemas.microsoft.com/office/drawing/2014/main" val="2236932380"/>
                    </a:ext>
                  </a:extLst>
                </a:gridCol>
              </a:tblGrid>
              <a:tr h="449835">
                <a:tc>
                  <a:txBody>
                    <a:bodyPr/>
                    <a:lstStyle/>
                    <a:p>
                      <a:pPr algn="ctr"/>
                      <a:endParaRPr lang="en-US" sz="22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9957209"/>
                  </a:ext>
                </a:extLst>
              </a:tr>
              <a:tr h="440838">
                <a:tc>
                  <a:txBody>
                    <a:bodyPr/>
                    <a:lstStyle/>
                    <a:p>
                      <a:pPr algn="ctr"/>
                      <a:r>
                        <a:rPr lang="en-US" sz="2200" b="1"/>
                        <a:t>a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96601520"/>
                  </a:ext>
                </a:extLst>
              </a:tr>
              <a:tr h="440838">
                <a:tc>
                  <a:txBody>
                    <a:bodyPr/>
                    <a:lstStyle/>
                    <a:p>
                      <a:pPr algn="ctr"/>
                      <a:endParaRPr lang="en-US" sz="22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960620"/>
                  </a:ext>
                </a:extLst>
              </a:tr>
              <a:tr h="431840">
                <a:tc>
                  <a:txBody>
                    <a:bodyPr/>
                    <a:lstStyle/>
                    <a:p>
                      <a:pPr algn="ctr"/>
                      <a:endParaRPr lang="en-US" sz="22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3239129"/>
                  </a:ext>
                </a:extLst>
              </a:tr>
              <a:tr h="431840">
                <a:tc>
                  <a:txBody>
                    <a:bodyPr/>
                    <a:lstStyle/>
                    <a:p>
                      <a:pPr algn="ctr"/>
                      <a:endParaRPr lang="en-US" sz="22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59060074"/>
                  </a:ext>
                </a:extLst>
              </a:tr>
              <a:tr h="476825">
                <a:tc>
                  <a:txBody>
                    <a:bodyPr/>
                    <a:lstStyle/>
                    <a:p>
                      <a:pPr algn="ctr"/>
                      <a:endParaRPr lang="en-US" sz="22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0204897"/>
                  </a:ext>
                </a:extLst>
              </a:tr>
              <a:tr h="467828">
                <a:tc>
                  <a:txBody>
                    <a:bodyPr/>
                    <a:lstStyle/>
                    <a:p>
                      <a:pPr algn="ctr"/>
                      <a:endParaRPr lang="en-US" sz="22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0027281"/>
                  </a:ext>
                </a:extLst>
              </a:tr>
              <a:tr h="413847">
                <a:tc>
                  <a:txBody>
                    <a:bodyPr/>
                    <a:lstStyle/>
                    <a:p>
                      <a:pPr algn="ctr"/>
                      <a:endParaRPr lang="en-US" sz="22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4470161"/>
                  </a:ext>
                </a:extLst>
              </a:tr>
              <a:tr h="449834">
                <a:tc>
                  <a:txBody>
                    <a:bodyPr/>
                    <a:lstStyle/>
                    <a:p>
                      <a:pPr algn="ctr"/>
                      <a:r>
                        <a:rPr lang="en-US" sz="2200" b="1"/>
                        <a:t>Instruction</a:t>
                      </a:r>
                      <a:br>
                        <a:rPr lang="en-US" sz="2200" b="1"/>
                      </a:br>
                      <a:r>
                        <a:rPr lang="en-US" sz="2200" b="1"/>
                        <a:t>(Text Code)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5283699"/>
                  </a:ext>
                </a:extLst>
              </a:tr>
              <a:tr h="633790">
                <a:tc>
                  <a:txBody>
                    <a:bodyPr/>
                    <a:lstStyle/>
                    <a:p>
                      <a:pPr algn="ctr"/>
                      <a:endParaRPr lang="en-US" sz="2200" b="1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44060800"/>
                  </a:ext>
                </a:extLst>
              </a:tr>
            </a:tbl>
          </a:graphicData>
        </a:graphic>
      </p:graphicFrame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5BC0E98-9AAF-463F-AFE7-E11E7EAF7DB7}"/>
              </a:ext>
            </a:extLst>
          </p:cNvPr>
          <p:cNvCxnSpPr/>
          <p:nvPr/>
        </p:nvCxnSpPr>
        <p:spPr>
          <a:xfrm rot="10800000" flipV="1">
            <a:off x="5990254" y="5393093"/>
            <a:ext cx="2995127" cy="83975"/>
          </a:xfrm>
          <a:prstGeom prst="bentConnector3">
            <a:avLst>
              <a:gd name="adj1" fmla="val 50623"/>
            </a:avLst>
          </a:prstGeom>
          <a:ln w="38100"/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53AEFA5-BF7F-496E-B65A-4E881B37C6D7}"/>
              </a:ext>
            </a:extLst>
          </p:cNvPr>
          <p:cNvCxnSpPr/>
          <p:nvPr/>
        </p:nvCxnSpPr>
        <p:spPr>
          <a:xfrm>
            <a:off x="2472612" y="5645020"/>
            <a:ext cx="6512768" cy="734669"/>
          </a:xfrm>
          <a:prstGeom prst="bentConnector3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B4EDBED-CE05-479E-BCCC-BB4054D1E974}"/>
              </a:ext>
            </a:extLst>
          </p:cNvPr>
          <p:cNvCxnSpPr>
            <a:cxnSpLocks/>
          </p:cNvCxnSpPr>
          <p:nvPr/>
        </p:nvCxnSpPr>
        <p:spPr>
          <a:xfrm>
            <a:off x="7063273" y="2211355"/>
            <a:ext cx="1922107" cy="180651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EDA137B-8152-4169-987B-83B7D64046DB}"/>
              </a:ext>
            </a:extLst>
          </p:cNvPr>
          <p:cNvSpPr/>
          <p:nvPr/>
        </p:nvSpPr>
        <p:spPr>
          <a:xfrm>
            <a:off x="5262465" y="2211355"/>
            <a:ext cx="1352939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419D66-408B-4862-81F5-E292ED04D01B}"/>
              </a:ext>
            </a:extLst>
          </p:cNvPr>
          <p:cNvSpPr/>
          <p:nvPr/>
        </p:nvSpPr>
        <p:spPr>
          <a:xfrm>
            <a:off x="5262464" y="2211355"/>
            <a:ext cx="1352939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20F97B0-19C1-4865-9E59-F521800F7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426" y="1892105"/>
            <a:ext cx="9906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33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9BE6-30D5-4C38-859D-227237E5E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Micro-Controller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1789A-4E05-4237-BA03-C93056937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12</a:t>
            </a:fld>
            <a:endParaRPr lang="x-none"/>
          </a:p>
        </p:txBody>
      </p:sp>
      <p:pic>
        <p:nvPicPr>
          <p:cNvPr id="2054" name="Picture 6" descr="What is a Microcontroller? A Look Inside a Microcontroller | Arrow.com |  Arrow.com">
            <a:extLst>
              <a:ext uri="{FF2B5EF4-FFF2-40B4-BE49-F238E27FC236}">
                <a16:creationId xmlns:a16="http://schemas.microsoft.com/office/drawing/2014/main" id="{8679B451-2504-483E-8E2A-DFBB860FD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" y="1299403"/>
            <a:ext cx="5921673" cy="4506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66D1B620-A4CD-4F73-B54F-5A2F8343A63E}"/>
              </a:ext>
            </a:extLst>
          </p:cNvPr>
          <p:cNvSpPr/>
          <p:nvPr/>
        </p:nvSpPr>
        <p:spPr>
          <a:xfrm>
            <a:off x="6621780" y="1244090"/>
            <a:ext cx="52862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</a:rPr>
              <a:t>A </a:t>
            </a:r>
            <a:r>
              <a:rPr lang="en-US" b="1">
                <a:latin typeface="Arial" panose="020B0604020202020204" pitchFamily="34" charset="0"/>
              </a:rPr>
              <a:t>microcontroller</a:t>
            </a:r>
            <a:r>
              <a:rPr lang="en-US">
                <a:latin typeface="Arial" panose="020B0604020202020204" pitchFamily="34" charset="0"/>
              </a:rPr>
              <a:t> (</a:t>
            </a:r>
            <a:r>
              <a:rPr lang="en-US" b="1">
                <a:latin typeface="Arial" panose="020B0604020202020204" pitchFamily="34" charset="0"/>
              </a:rPr>
              <a:t>MCU</a:t>
            </a:r>
            <a:r>
              <a:rPr lang="en-US">
                <a:latin typeface="Arial" panose="020B0604020202020204" pitchFamily="34" charset="0"/>
              </a:rPr>
              <a:t> for </a:t>
            </a:r>
            <a:r>
              <a:rPr lang="en-US" i="1">
                <a:latin typeface="Arial" panose="020B0604020202020204" pitchFamily="34" charset="0"/>
              </a:rPr>
              <a:t>microcontroller unit</a:t>
            </a:r>
            <a:r>
              <a:rPr lang="en-US">
                <a:latin typeface="Arial" panose="020B0604020202020204" pitchFamily="34" charset="0"/>
              </a:rPr>
              <a:t>, also </a:t>
            </a:r>
            <a:r>
              <a:rPr lang="en-US" b="1">
                <a:latin typeface="Arial" panose="020B0604020202020204" pitchFamily="34" charset="0"/>
              </a:rPr>
              <a:t>MC</a:t>
            </a:r>
            <a:r>
              <a:rPr lang="en-US">
                <a:latin typeface="Arial" panose="020B0604020202020204" pitchFamily="34" charset="0"/>
              </a:rPr>
              <a:t>, </a:t>
            </a:r>
            <a:r>
              <a:rPr lang="en-US" b="1">
                <a:latin typeface="Arial" panose="020B0604020202020204" pitchFamily="34" charset="0"/>
              </a:rPr>
              <a:t>UC</a:t>
            </a:r>
            <a:r>
              <a:rPr lang="en-US">
                <a:latin typeface="Arial" panose="020B0604020202020204" pitchFamily="34" charset="0"/>
              </a:rPr>
              <a:t>, or </a:t>
            </a:r>
            <a:r>
              <a:rPr lang="el-GR" b="1">
                <a:latin typeface="Arial" panose="020B0604020202020204" pitchFamily="34" charset="0"/>
              </a:rPr>
              <a:t>μ</a:t>
            </a:r>
            <a:r>
              <a:rPr lang="en-US" b="1">
                <a:latin typeface="Arial" panose="020B0604020202020204" pitchFamily="34" charset="0"/>
              </a:rPr>
              <a:t>C</a:t>
            </a:r>
            <a:r>
              <a:rPr lang="en-US">
                <a:latin typeface="Arial" panose="020B0604020202020204" pitchFamily="34" charset="0"/>
              </a:rPr>
              <a:t>) is a small computer on a single VLSI integrated circuit (IC) chip.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</a:rPr>
              <a:t>A microcontroller contains one or more CPUs (processor cores) along with memory and programmable input/output peripherals.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058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FC18F-34A3-42A1-BACE-D0A273DFD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Micro-Controller and Micro-Processor in S32K144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732D93-CEF4-4ACC-93FE-C3ACC2F8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13</a:t>
            </a:fld>
            <a:endParaRPr lang="x-non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BD9FCB-0AF0-44E9-A0B7-C70C4C396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669" y="1098704"/>
            <a:ext cx="7160662" cy="54427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1F85D2-C64F-43EE-BE95-481980F88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087" y="0"/>
            <a:ext cx="9033826" cy="686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99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145F29D-A42F-4744-89EF-9F22ADBE3257}"/>
              </a:ext>
            </a:extLst>
          </p:cNvPr>
          <p:cNvSpPr/>
          <p:nvPr/>
        </p:nvSpPr>
        <p:spPr>
          <a:xfrm>
            <a:off x="-426720" y="1118429"/>
            <a:ext cx="266700" cy="685815"/>
          </a:xfrm>
          <a:prstGeom prst="roundRect">
            <a:avLst>
              <a:gd name="adj" fmla="val 8511"/>
            </a:avLst>
          </a:prstGeom>
          <a:solidFill>
            <a:srgbClr val="03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74D0CAF-E251-1B45-90EE-516770F19E93}"/>
              </a:ext>
            </a:extLst>
          </p:cNvPr>
          <p:cNvSpPr/>
          <p:nvPr/>
        </p:nvSpPr>
        <p:spPr>
          <a:xfrm>
            <a:off x="-426720" y="1914296"/>
            <a:ext cx="266700" cy="685815"/>
          </a:xfrm>
          <a:prstGeom prst="roundRect">
            <a:avLst>
              <a:gd name="adj" fmla="val 8511"/>
            </a:avLst>
          </a:prstGeom>
          <a:solidFill>
            <a:srgbClr val="1922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0B60DC3-1B5C-514F-8555-4B7AEC2F08DD}"/>
              </a:ext>
            </a:extLst>
          </p:cNvPr>
          <p:cNvSpPr/>
          <p:nvPr/>
        </p:nvSpPr>
        <p:spPr>
          <a:xfrm>
            <a:off x="-426720" y="2710163"/>
            <a:ext cx="266700" cy="685815"/>
          </a:xfrm>
          <a:prstGeom prst="roundRect">
            <a:avLst>
              <a:gd name="adj" fmla="val 8511"/>
            </a:avLst>
          </a:prstGeom>
          <a:solidFill>
            <a:srgbClr val="33B2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57C38C0-D163-3D4F-9A2B-CC3726613ED8}"/>
              </a:ext>
            </a:extLst>
          </p:cNvPr>
          <p:cNvSpPr/>
          <p:nvPr/>
        </p:nvSpPr>
        <p:spPr>
          <a:xfrm>
            <a:off x="-426720" y="3506030"/>
            <a:ext cx="266700" cy="685815"/>
          </a:xfrm>
          <a:prstGeom prst="roundRect">
            <a:avLst>
              <a:gd name="adj" fmla="val 8511"/>
            </a:avLst>
          </a:prstGeom>
          <a:solidFill>
            <a:srgbClr val="50B8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51304F1-7CD1-9942-94FE-F5EBEA7B5A28}"/>
              </a:ext>
            </a:extLst>
          </p:cNvPr>
          <p:cNvSpPr/>
          <p:nvPr/>
        </p:nvSpPr>
        <p:spPr>
          <a:xfrm>
            <a:off x="-426720" y="4301897"/>
            <a:ext cx="266700" cy="685815"/>
          </a:xfrm>
          <a:prstGeom prst="roundRect">
            <a:avLst>
              <a:gd name="adj" fmla="val 8511"/>
            </a:avLst>
          </a:prstGeom>
          <a:solidFill>
            <a:srgbClr val="F371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BC89E39-F92F-4C48-9326-E0A54168FFC1}"/>
              </a:ext>
            </a:extLst>
          </p:cNvPr>
          <p:cNvSpPr/>
          <p:nvPr/>
        </p:nvSpPr>
        <p:spPr>
          <a:xfrm>
            <a:off x="-426720" y="5097764"/>
            <a:ext cx="266700" cy="685815"/>
          </a:xfrm>
          <a:prstGeom prst="roundRect">
            <a:avLst>
              <a:gd name="adj" fmla="val 8511"/>
            </a:avLst>
          </a:prstGeom>
          <a:solidFill>
            <a:srgbClr val="E4E5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A17C81-171E-6A4F-AC6A-269DCA9636E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90" t="29979" r="14237" b="30359"/>
          <a:stretch/>
        </p:blipFill>
        <p:spPr>
          <a:xfrm>
            <a:off x="954656" y="1047268"/>
            <a:ext cx="1822517" cy="6952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BF5E8C1-8DE8-0841-A4C2-E2F21DE55801}"/>
              </a:ext>
            </a:extLst>
          </p:cNvPr>
          <p:cNvSpPr txBox="1"/>
          <p:nvPr/>
        </p:nvSpPr>
        <p:spPr>
          <a:xfrm>
            <a:off x="1066799" y="2155031"/>
            <a:ext cx="3720861" cy="1438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b="1">
                <a:solidFill>
                  <a:srgbClr val="F37121"/>
                </a:solidFill>
              </a:rPr>
              <a:t>CONTACT US </a:t>
            </a:r>
            <a:endParaRPr lang="en-US" sz="1200">
              <a:solidFill>
                <a:srgbClr val="F37121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200">
                <a:solidFill>
                  <a:schemeClr val="bg1"/>
                </a:solidFill>
              </a:rPr>
              <a:t>FPT </a:t>
            </a:r>
            <a:r>
              <a:rPr lang="en-US" sz="1200" err="1">
                <a:solidFill>
                  <a:schemeClr val="bg1"/>
                </a:solidFill>
              </a:rPr>
              <a:t>Cau</a:t>
            </a:r>
            <a:r>
              <a:rPr lang="en-US" sz="1200">
                <a:solidFill>
                  <a:schemeClr val="bg1"/>
                </a:solidFill>
              </a:rPr>
              <a:t> </a:t>
            </a:r>
            <a:r>
              <a:rPr lang="en-US" sz="1200" err="1">
                <a:solidFill>
                  <a:schemeClr val="bg1"/>
                </a:solidFill>
              </a:rPr>
              <a:t>Giay</a:t>
            </a:r>
            <a:r>
              <a:rPr lang="en-US" sz="1200">
                <a:solidFill>
                  <a:schemeClr val="bg1"/>
                </a:solidFill>
              </a:rPr>
              <a:t> Building, Duy Tan Street, Dich </a:t>
            </a:r>
            <a:r>
              <a:rPr lang="en-US" sz="1200" err="1">
                <a:solidFill>
                  <a:schemeClr val="bg1"/>
                </a:solidFill>
              </a:rPr>
              <a:t>Vong</a:t>
            </a:r>
            <a:r>
              <a:rPr lang="en-US" sz="1200">
                <a:solidFill>
                  <a:schemeClr val="bg1"/>
                </a:solidFill>
              </a:rPr>
              <a:t> </a:t>
            </a:r>
            <a:r>
              <a:rPr lang="en-US" sz="1200" err="1">
                <a:solidFill>
                  <a:schemeClr val="bg1"/>
                </a:solidFill>
              </a:rPr>
              <a:t>Hau</a:t>
            </a:r>
            <a:r>
              <a:rPr lang="en-US" sz="1200">
                <a:solidFill>
                  <a:schemeClr val="bg1"/>
                </a:solidFill>
              </a:rPr>
              <a:t> Ward, </a:t>
            </a:r>
            <a:r>
              <a:rPr lang="en-US" sz="1200" err="1">
                <a:solidFill>
                  <a:schemeClr val="bg1"/>
                </a:solidFill>
              </a:rPr>
              <a:t>Cau</a:t>
            </a:r>
            <a:r>
              <a:rPr lang="en-US" sz="1200">
                <a:solidFill>
                  <a:schemeClr val="bg1"/>
                </a:solidFill>
              </a:rPr>
              <a:t> </a:t>
            </a:r>
            <a:r>
              <a:rPr lang="en-US" sz="1200" err="1">
                <a:solidFill>
                  <a:schemeClr val="bg1"/>
                </a:solidFill>
              </a:rPr>
              <a:t>Giay</a:t>
            </a:r>
            <a:r>
              <a:rPr lang="en-US" sz="1200">
                <a:solidFill>
                  <a:schemeClr val="bg1"/>
                </a:solidFill>
              </a:rPr>
              <a:t> District, Hanoi City, Vietnam</a:t>
            </a:r>
          </a:p>
          <a:p>
            <a:pPr>
              <a:lnSpc>
                <a:spcPct val="120000"/>
              </a:lnSpc>
            </a:pPr>
            <a:endParaRPr lang="en-US" sz="1200"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200" b="1">
                <a:solidFill>
                  <a:schemeClr val="bg1"/>
                </a:solidFill>
              </a:rPr>
              <a:t>Contact Person: Nghia Nguyen Van</a:t>
            </a:r>
          </a:p>
          <a:p>
            <a:pPr>
              <a:lnSpc>
                <a:spcPct val="120000"/>
              </a:lnSpc>
            </a:pPr>
            <a:r>
              <a:rPr lang="en-US" sz="1200">
                <a:solidFill>
                  <a:schemeClr val="bg1"/>
                </a:solidFill>
              </a:rPr>
              <a:t>Email: </a:t>
            </a:r>
            <a:r>
              <a:rPr lang="en-US" sz="1200">
                <a:solidFill>
                  <a:schemeClr val="bg1"/>
                </a:solidFill>
                <a:hlinkClick r:id="rId5"/>
              </a:rPr>
              <a:t>NghiaNV16@fpt.com</a:t>
            </a:r>
            <a:r>
              <a:rPr lang="en-US" sz="120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5467FC1-2BB7-6A4B-86EE-33A73BC3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2F146-47F9-A646-B182-8CC39B8AD32B}" type="slidenum">
              <a:rPr lang="x-none" smtClean="0"/>
              <a:pPr/>
              <a:t>14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71522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34EA2"/>
      </a:dk1>
      <a:lt1>
        <a:sysClr val="window" lastClr="FFFFFF"/>
      </a:lt1>
      <a:dk2>
        <a:srgbClr val="19226D"/>
      </a:dk2>
      <a:lt2>
        <a:srgbClr val="F37021"/>
      </a:lt2>
      <a:accent1>
        <a:srgbClr val="33B2C1"/>
      </a:accent1>
      <a:accent2>
        <a:srgbClr val="50B848"/>
      </a:accent2>
      <a:accent3>
        <a:srgbClr val="F2F2F2"/>
      </a:accent3>
      <a:accent4>
        <a:srgbClr val="BFBFBF"/>
      </a:accent4>
      <a:accent5>
        <a:srgbClr val="171616"/>
      </a:accent5>
      <a:accent6>
        <a:srgbClr val="AEABAB"/>
      </a:accent6>
      <a:hlink>
        <a:srgbClr val="F37021"/>
      </a:hlink>
      <a:folHlink>
        <a:srgbClr val="F37021"/>
      </a:folHlink>
    </a:clrScheme>
    <a:fontScheme name="FPT Software tempt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25EE49072A344680F2B9862B611BC1" ma:contentTypeVersion="9" ma:contentTypeDescription="Create a new document." ma:contentTypeScope="" ma:versionID="9633760dcb93fa793dce740ce6a54f13">
  <xsd:schema xmlns:xsd="http://www.w3.org/2001/XMLSchema" xmlns:xs="http://www.w3.org/2001/XMLSchema" xmlns:p="http://schemas.microsoft.com/office/2006/metadata/properties" xmlns:ns2="7b90e749-ba76-4bb9-a17c-cfd502b27dd4" xmlns:ns3="c714ef66-905e-4757-b7e1-03e6f91933c0" targetNamespace="http://schemas.microsoft.com/office/2006/metadata/properties" ma:root="true" ma:fieldsID="4920c6b844187d1147096e046bda8f12" ns2:_="" ns3:_="">
    <xsd:import namespace="7b90e749-ba76-4bb9-a17c-cfd502b27dd4"/>
    <xsd:import namespace="c714ef66-905e-4757-b7e1-03e6f91933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90e749-ba76-4bb9-a17c-cfd502b27dd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4ef66-905e-4757-b7e1-03e6f91933c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D54E1F-C64B-45F3-9CB8-B437866C81A1}">
  <ds:schemaRefs>
    <ds:schemaRef ds:uri="7b90e749-ba76-4bb9-a17c-cfd502b27dd4"/>
    <ds:schemaRef ds:uri="c714ef66-905e-4757-b7e1-03e6f91933c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37C9930-BD52-4B91-BB2D-F827F369E323}">
  <ds:schemaRefs>
    <ds:schemaRef ds:uri="7b90e749-ba76-4bb9-a17c-cfd502b27dd4"/>
    <ds:schemaRef ds:uri="c714ef66-905e-4757-b7e1-03e6f91933c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7715033-5804-4F57-8B68-F9A2B47F75F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Embedded System Introduction</vt:lpstr>
      <vt:lpstr>Embedded System Application</vt:lpstr>
      <vt:lpstr>Embedded System Application</vt:lpstr>
      <vt:lpstr>Embedded System Features</vt:lpstr>
      <vt:lpstr>PowerPoint Presentation</vt:lpstr>
      <vt:lpstr>Micro-Processor</vt:lpstr>
      <vt:lpstr>How does Micro-Processor perform a program</vt:lpstr>
      <vt:lpstr>How does Micro-Processor perform a program</vt:lpstr>
      <vt:lpstr>Micro-Controller</vt:lpstr>
      <vt:lpstr>Micro-Controller and Micro-Processor in S32K144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MSI</dc:creator>
  <cp:revision>3</cp:revision>
  <dcterms:created xsi:type="dcterms:W3CDTF">2021-11-26T03:15:35Z</dcterms:created>
  <dcterms:modified xsi:type="dcterms:W3CDTF">2026-09-08T01:32:54Z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0x0101003025EE49072A344680F2B9862B611BC1</vt:lpwstr>
  </property>
</Properties>
</file>